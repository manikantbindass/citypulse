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Selected-model test MAE</c:v>
                </c:pt>
              </c:strCache>
            </c:strRef>
          </c:tx>
          <c:spPr>
            <a:solidFill>
              <a:srgbClr val="67E8F9"/>
            </a:solidFill>
            <a:ln>
              <a:solidFill>
                <a:srgbClr val="67E8F9"/>
              </a:solidFill>
            </a:ln>
          </c:spPr>
          <c:cat>
            <c:strRef>
              <c:f>Sheet1!$A$2:$A$9</c:f>
              <c:strCache>
                <c:ptCount val="8"/>
                <c:pt idx="0">
                  <c:v>AMS/C/G</c:v>
                </c:pt>
                <c:pt idx="1">
                  <c:v>AMS/C/M</c:v>
                </c:pt>
                <c:pt idx="2">
                  <c:v>AMS/N/G</c:v>
                </c:pt>
                <c:pt idx="3">
                  <c:v>AMS/N/M</c:v>
                </c:pt>
                <c:pt idx="4">
                  <c:v>BLR/C/G</c:v>
                </c:pt>
                <c:pt idx="5">
                  <c:v>BLR/C/M</c:v>
                </c:pt>
                <c:pt idx="6">
                  <c:v>BLR/N/G</c:v>
                </c:pt>
                <c:pt idx="7">
                  <c:v>BLR/N/M</c:v>
                </c:pt>
              </c:strCache>
            </c:strRef>
          </c:cat>
          <c:val>
            <c:numRef>
              <c:f>Sheet1!$B$2:$B$9</c:f>
              <c:numCache>
                <c:formatCode>General</c:formatCode>
                <c:ptCount val="8"/>
                <c:pt idx="0">
                  <c:v>4.545566428487243</c:v>
                </c:pt>
                <c:pt idx="1">
                  <c:v>3.346054782434872</c:v>
                </c:pt>
                <c:pt idx="2">
                  <c:v>4.657688985176151</c:v>
                </c:pt>
                <c:pt idx="3">
                  <c:v>4.350763858296085</c:v>
                </c:pt>
                <c:pt idx="4">
                  <c:v>3.254728323994545</c:v>
                </c:pt>
                <c:pt idx="5">
                  <c:v>3.8419661985784153</c:v>
                </c:pt>
                <c:pt idx="6">
                  <c:v>3.7048969154251705</c:v>
                </c:pt>
                <c:pt idx="7">
                  <c:v>5.196467567567565</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400">
                <a:solidFill>
                  <a:srgbClr val="A6B4C9"/>
                </a:solidFill>
                <a:latin typeface="Arial"/>
              </a:defRPr>
            </a:pPr>
          </a:p>
        </c:txPr>
        <c:crossAx val="-2113994440"/>
        <c:crosses val="autoZero"/>
        <c:auto val="1"/>
        <c:lblAlgn val="ctr"/>
        <c:lblOffset val="100"/>
        <c:noMultiLvlLbl val="0"/>
      </c:catAx>
      <c:valAx>
        <c:axId val="-2113994440"/>
        <c:scaling/>
        <c:delete val="0"/>
        <c:axPos val="b"/>
        <c:majorGridlines>
          <c:spPr>
            <a:ln>
              <a:solidFill>
                <a:srgbClr val="30445E"/>
              </a:solidFill>
            </a:ln>
          </c:spPr>
        </c:majorGridlines>
        <c:majorTickMark val="out"/>
        <c:minorTickMark val="none"/>
        <c:tickLblPos val="nextTo"/>
        <c:txPr>
          <a:bodyPr/>
          <a:lstStyle/>
          <a:p>
            <a:pPr>
              <a:defRPr sz="1400">
                <a:solidFill>
                  <a:srgbClr val="A6B4C9"/>
                </a:solidFill>
                <a:latin typeface="Arial"/>
              </a:defRPr>
            </a:pPr>
          </a:p>
        </c:txPr>
        <c:crossAx val="-2068027336"/>
        <c:crosses val="autoZero"/>
      </c:valAx>
      <c:spPr>
        <a:solidFill>
          <a:srgbClr val="090D16"/>
        </a:solidFill>
        <a:ln>
          <a:noFill/>
        </a:ln>
      </c:spPr>
    </c:plotArea>
    <c:dispBlanksAs val="gap"/>
  </c:chart>
  <c:txPr>
    <a:bodyPr/>
    <a:lstStyle/>
    <a:p>
      <a:pPr>
        <a:defRPr sz="1400">
          <a:solidFill>
            <a:srgbClr val="A6B4C9"/>
          </a:solidFill>
          <a:latin typeface="Arial"/>
        </a:defRPr>
      </a:pPr>
      <a:endParaRPr lang="en-US"/>
    </a:p>
  </c:txPr>
  <c:externalData r:id="rId1">
    <c:autoUpdate val="0"/>
  </c:externalData>
  <c:spPr>
    <a:solidFill>
      <a:srgbClr val="090D16"/>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Forecast</c:v>
                </c:pt>
              </c:strCache>
            </c:strRef>
          </c:tx>
          <c:spPr>
            <a:solidFill>
              <a:srgbClr val="67E8F9"/>
            </a:solidFill>
            <a:ln>
              <a:solidFill>
                <a:srgbClr val="67E8F9"/>
              </a:solidFill>
            </a:ln>
          </c:spPr>
          <c:marker>
            <c:symbol val="none"/>
          </c:marker>
          <c:cat>
            <c:strRef>
              <c:f>Sheet1!$A$2:$A$8</c:f>
              <c:strCache>
                <c:ptCount val="7"/>
                <c:pt idx="0">
                  <c:v>07-29</c:v>
                </c:pt>
                <c:pt idx="1">
                  <c:v>07-30</c:v>
                </c:pt>
                <c:pt idx="2">
                  <c:v>07-31</c:v>
                </c:pt>
                <c:pt idx="3">
                  <c:v>08-01</c:v>
                </c:pt>
                <c:pt idx="4">
                  <c:v>08-02</c:v>
                </c:pt>
                <c:pt idx="5">
                  <c:v>08-03</c:v>
                </c:pt>
                <c:pt idx="6">
                  <c:v>08-04</c:v>
                </c:pt>
              </c:strCache>
            </c:strRef>
          </c:cat>
          <c:val>
            <c:numRef>
              <c:f>Sheet1!$B$2:$B$8</c:f>
              <c:numCache>
                <c:formatCode>General</c:formatCode>
                <c:ptCount val="7"/>
                <c:pt idx="0">
                  <c:v>107.5216</c:v>
                </c:pt>
                <c:pt idx="1">
                  <c:v>113.8426</c:v>
                </c:pt>
                <c:pt idx="2">
                  <c:v>114.4309</c:v>
                </c:pt>
                <c:pt idx="3">
                  <c:v>125.6791</c:v>
                </c:pt>
                <c:pt idx="4">
                  <c:v>132.4491</c:v>
                </c:pt>
                <c:pt idx="5">
                  <c:v>124.8249</c:v>
                </c:pt>
                <c:pt idx="6">
                  <c:v>107.3118</c:v>
                </c:pt>
              </c:numCache>
            </c:numRef>
          </c:val>
          <c:smooth val="0"/>
        </c:ser>
        <c:ser>
          <c:idx val="1"/>
          <c:order val="1"/>
          <c:tx>
            <c:strRef>
              <c:f>Sheet1!$C$1</c:f>
              <c:strCache>
                <c:ptCount val="1"/>
                <c:pt idx="0">
                  <c:v>Lower</c:v>
                </c:pt>
              </c:strCache>
            </c:strRef>
          </c:tx>
          <c:spPr>
            <a:solidFill>
              <a:srgbClr val="B7A5FF"/>
            </a:solidFill>
            <a:ln>
              <a:solidFill>
                <a:srgbClr val="B7A5FF"/>
              </a:solidFill>
            </a:ln>
          </c:spPr>
          <c:marker>
            <c:symbol val="none"/>
          </c:marker>
          <c:cat>
            <c:strRef>
              <c:f>Sheet1!$A$2:$A$8</c:f>
              <c:strCache>
                <c:ptCount val="7"/>
                <c:pt idx="0">
                  <c:v>07-29</c:v>
                </c:pt>
                <c:pt idx="1">
                  <c:v>07-30</c:v>
                </c:pt>
                <c:pt idx="2">
                  <c:v>07-31</c:v>
                </c:pt>
                <c:pt idx="3">
                  <c:v>08-01</c:v>
                </c:pt>
                <c:pt idx="4">
                  <c:v>08-02</c:v>
                </c:pt>
                <c:pt idx="5">
                  <c:v>08-03</c:v>
                </c:pt>
                <c:pt idx="6">
                  <c:v>08-04</c:v>
                </c:pt>
              </c:strCache>
            </c:strRef>
          </c:cat>
          <c:val>
            <c:numRef>
              <c:f>Sheet1!$C$2:$C$8</c:f>
              <c:numCache>
                <c:formatCode>General</c:formatCode>
                <c:ptCount val="7"/>
                <c:pt idx="0">
                  <c:v>97.8912</c:v>
                </c:pt>
                <c:pt idx="1">
                  <c:v>100.2232</c:v>
                </c:pt>
                <c:pt idx="2">
                  <c:v>97.7505</c:v>
                </c:pt>
                <c:pt idx="3">
                  <c:v>106.4183</c:v>
                </c:pt>
                <c:pt idx="4">
                  <c:v>110.9148</c:v>
                </c:pt>
                <c:pt idx="5">
                  <c:v>101.2353</c:v>
                </c:pt>
                <c:pt idx="6">
                  <c:v>81.8321</c:v>
                </c:pt>
              </c:numCache>
            </c:numRef>
          </c:val>
          <c:smooth val="0"/>
        </c:ser>
        <c:ser>
          <c:idx val="2"/>
          <c:order val="2"/>
          <c:tx>
            <c:strRef>
              <c:f>Sheet1!$D$1</c:f>
              <c:strCache>
                <c:ptCount val="1"/>
                <c:pt idx="0">
                  <c:v>Upper</c:v>
                </c:pt>
              </c:strCache>
            </c:strRef>
          </c:tx>
          <c:spPr>
            <a:solidFill>
              <a:srgbClr val="879BFF"/>
            </a:solidFill>
            <a:ln>
              <a:solidFill>
                <a:srgbClr val="879BFF"/>
              </a:solidFill>
            </a:ln>
          </c:spPr>
          <c:marker>
            <c:symbol val="none"/>
          </c:marker>
          <c:cat>
            <c:strRef>
              <c:f>Sheet1!$A$2:$A$8</c:f>
              <c:strCache>
                <c:ptCount val="7"/>
                <c:pt idx="0">
                  <c:v>07-29</c:v>
                </c:pt>
                <c:pt idx="1">
                  <c:v>07-30</c:v>
                </c:pt>
                <c:pt idx="2">
                  <c:v>07-31</c:v>
                </c:pt>
                <c:pt idx="3">
                  <c:v>08-01</c:v>
                </c:pt>
                <c:pt idx="4">
                  <c:v>08-02</c:v>
                </c:pt>
                <c:pt idx="5">
                  <c:v>08-03</c:v>
                </c:pt>
                <c:pt idx="6">
                  <c:v>08-04</c:v>
                </c:pt>
              </c:strCache>
            </c:strRef>
          </c:cat>
          <c:val>
            <c:numRef>
              <c:f>Sheet1!$D$2:$D$8</c:f>
              <c:numCache>
                <c:formatCode>General</c:formatCode>
                <c:ptCount val="7"/>
                <c:pt idx="0">
                  <c:v>117.1521</c:v>
                </c:pt>
                <c:pt idx="1">
                  <c:v>127.4621</c:v>
                </c:pt>
                <c:pt idx="2">
                  <c:v>131.1113</c:v>
                </c:pt>
                <c:pt idx="3">
                  <c:v>144.94</c:v>
                </c:pt>
                <c:pt idx="4">
                  <c:v>153.9834</c:v>
                </c:pt>
                <c:pt idx="5">
                  <c:v>148.4145</c:v>
                </c:pt>
                <c:pt idx="6">
                  <c:v>132.7915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400">
                <a:solidFill>
                  <a:srgbClr val="A6B4C9"/>
                </a:solidFill>
                <a:latin typeface="Arial"/>
              </a:defRPr>
            </a:pPr>
          </a:p>
        </c:txPr>
        <c:crossAx val="2140495176"/>
        <c:crosses val="autoZero"/>
        <c:auto val="1"/>
        <c:lblAlgn val="ctr"/>
        <c:lblOffset val="100"/>
        <c:noMultiLvlLbl val="0"/>
      </c:catAx>
      <c:valAx>
        <c:axId val="2140495176"/>
        <c:scaling/>
        <c:delete val="0"/>
        <c:axPos val="l"/>
        <c:majorGridlines>
          <c:spPr>
            <a:ln>
              <a:solidFill>
                <a:srgbClr val="30445E"/>
              </a:solidFill>
            </a:ln>
          </c:spPr>
        </c:majorGridlines>
        <c:majorTickMark val="out"/>
        <c:minorTickMark val="none"/>
        <c:tickLblPos val="nextTo"/>
        <c:txPr>
          <a:bodyPr/>
          <a:lstStyle/>
          <a:p>
            <a:pPr>
              <a:defRPr sz="1400">
                <a:solidFill>
                  <a:srgbClr val="A6B4C9"/>
                </a:solidFill>
                <a:latin typeface="Arial"/>
              </a:defRPr>
            </a:pPr>
          </a:p>
        </c:txPr>
        <c:crossAx val="2118791784"/>
        <c:crosses val="autoZero"/>
      </c:valAx>
      <c:spPr>
        <a:solidFill>
          <a:srgbClr val="090D16"/>
        </a:solidFill>
        <a:ln>
          <a:noFill/>
        </a:ln>
      </c:spPr>
    </c:plotArea>
    <c:legend>
      <c:legendPos val="b"/>
      <c:layout/>
      <c:overlay val="0"/>
      <c:txPr>
        <a:bodyPr/>
        <a:lstStyle/>
        <a:p>
          <a:pPr>
            <a:defRPr sz="1400">
              <a:latin typeface="Arial"/>
            </a:defRPr>
          </a:pPr>
        </a:p>
      </c:txPr>
    </c:legend>
    <c:plotVisOnly val="1"/>
    <c:dispBlanksAs val="gap"/>
    <c:showDLblsOverMax val="0"/>
  </c:chart>
  <c:txPr>
    <a:bodyPr/>
    <a:lstStyle/>
    <a:p>
      <a:pPr>
        <a:defRPr sz="1400">
          <a:solidFill>
            <a:srgbClr val="A6B4C9"/>
          </a:solidFill>
          <a:latin typeface="Arial"/>
        </a:defRPr>
      </a:pPr>
      <a:endParaRPr lang="en-US"/>
    </a:p>
  </c:txPr>
  <c:externalData r:id="rId1">
    <c:autoUpdate val="0"/>
  </c:externalData>
  <c:spPr>
    <a:solidFill>
      <a:srgbClr val="090D16"/>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Milliseconds</c:v>
                </c:pt>
              </c:strCache>
            </c:strRef>
          </c:tx>
          <c:spPr>
            <a:solidFill>
              <a:srgbClr val="67E8F9"/>
            </a:solidFill>
            <a:ln>
              <a:solidFill>
                <a:srgbClr val="67E8F9"/>
              </a:solidFill>
            </a:ln>
          </c:spPr>
          <c:cat>
            <c:strRef>
              <c:f>Sheet1!$A$2:$A$5</c:f>
              <c:strCache>
                <c:ptCount val="4"/>
                <c:pt idx="0">
                  <c:v>Average</c:v>
                </c:pt>
                <c:pt idx="1">
                  <c:v>Median</c:v>
                </c:pt>
                <c:pt idx="2">
                  <c:v>p95</c:v>
                </c:pt>
                <c:pt idx="3">
                  <c:v>Maximum</c:v>
                </c:pt>
              </c:strCache>
            </c:strRef>
          </c:cat>
          <c:val>
            <c:numRef>
              <c:f>Sheet1!$B$2:$B$5</c:f>
              <c:numCache>
                <c:formatCode>General</c:formatCode>
                <c:ptCount val="4"/>
                <c:pt idx="0">
                  <c:v>51.792666666666655</c:v>
                </c:pt>
                <c:pt idx="1">
                  <c:v>46.7382</c:v>
                </c:pt>
                <c:pt idx="2">
                  <c:v>74.6798</c:v>
                </c:pt>
                <c:pt idx="3">
                  <c:v>80.2124</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400">
                <a:solidFill>
                  <a:srgbClr val="A6B4C9"/>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30445E"/>
              </a:solidFill>
            </a:ln>
          </c:spPr>
        </c:majorGridlines>
        <c:majorTickMark val="out"/>
        <c:minorTickMark val="none"/>
        <c:tickLblPos val="nextTo"/>
        <c:txPr>
          <a:bodyPr/>
          <a:lstStyle/>
          <a:p>
            <a:pPr>
              <a:defRPr sz="1400">
                <a:solidFill>
                  <a:srgbClr val="A6B4C9"/>
                </a:solidFill>
                <a:latin typeface="Arial"/>
              </a:defRPr>
            </a:pPr>
          </a:p>
        </c:txPr>
        <c:crossAx val="-2068027336"/>
        <c:crosses val="autoZero"/>
      </c:valAx>
      <c:spPr>
        <a:solidFill>
          <a:srgbClr val="090D16"/>
        </a:solidFill>
        <a:ln>
          <a:noFill/>
        </a:ln>
      </c:spPr>
    </c:plotArea>
    <c:dispBlanksAs val="gap"/>
  </c:chart>
  <c:txPr>
    <a:bodyPr/>
    <a:lstStyle/>
    <a:p>
      <a:pPr>
        <a:defRPr sz="1400">
          <a:solidFill>
            <a:srgbClr val="A6B4C9"/>
          </a:solidFill>
          <a:latin typeface="Arial"/>
        </a:defRPr>
      </a:pPr>
      <a:endParaRPr lang="en-US"/>
    </a:p>
  </c:txPr>
  <c:externalData r:id="rId1">
    <c:autoUpdate val="0"/>
  </c:externalData>
  <c:spPr>
    <a:solidFill>
      <a:srgbClr val="090D16"/>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CityPulse as an engineering project for urban intelligence and blockchain analytics. The repository owner is the verified GitHub account manikantbindass. The project uses synthetic demonstrations and has no claimed municipal deployment or real-data partnership.</a:t>
            </a:r>
          </a:p>
          <a:p/>
          <a:p>
            <a:r>
              <a:t>Application snapshot: 2385ea7a3c6f9349c9c9ee67a56ace5f279fa992</a:t>
            </a:r>
          </a:p>
          <a:p>
            <a:r>
              <a:t>Evidence date: 2026-10-29</a:t>
            </a:r>
          </a:p>
          <a:p>
            <a:r>
              <a:t>Sources:</a:t>
            </a:r>
          </a:p>
          <a:p>
            <a:r>
              <a:t>README.md</a:t>
            </a:r>
          </a:p>
          <a:p>
            <a:r>
              <a:t>https://github.com/manikantbindass/CityPulse/blob/2385ea7a3c6f9349c9c9ee67a56ace5f279fa992/README.md</a:t>
            </a:r>
          </a:p>
          <a:p>
            <a:r>
              <a:t>docs/reports/source/report.json (companion editable source in this delivery)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integrated path is Next.js, Spring, PostGIS/Redis and FastAPI, with an operator-driven local blockchain demonstration. Explain that implemented code, demonstrated results and proposed operating targets are separate evidence levels. The companion report contains the full scope and source hashes.</a:t>
            </a:r>
          </a:p>
          <a:p/>
          <a:p>
            <a:r>
              <a:t>Application snapshot: 2385ea7a3c6f9349c9c9ee67a56ace5f279fa992</a:t>
            </a:r>
          </a:p>
          <a:p>
            <a:r>
              <a:t>Evidence date: 2026-10-29</a:t>
            </a:r>
          </a:p>
          <a:p>
            <a:r>
              <a:t>Sources:</a:t>
            </a:r>
          </a:p>
          <a:p>
            <a:r>
              <a:t>README.md</a:t>
            </a:r>
          </a:p>
          <a:p>
            <a:r>
              <a:t>https://github.com/manikantbindass/CityPulse/blob/2385ea7a3c6f9349c9c9ee67a56ace5f279fa992/README.md</a:t>
            </a:r>
          </a:p>
          <a:p>
            <a:r>
              <a:t>compose.yaml</a:t>
            </a:r>
          </a:p>
          <a:p>
            <a:r>
              <a:t>https://github.com/manikantbindass/CityPulse/blob/2385ea7a3c6f9349c9c9ee67a56ace5f279fa992/compose.yaml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an example of a supply flow and an inventory stock: they cannot be summed without a period assumption. A business location is not service capacity. These are modeling problems before they are algorithm problems. No real-city outcome improvement has been measured.</a:t>
            </a:r>
          </a:p>
          <a:p/>
          <a:p>
            <a:r>
              <a:t>Application snapshot: 2385ea7a3c6f9349c9c9ee67a56ace5f279fa992</a:t>
            </a:r>
          </a:p>
          <a:p>
            <a:r>
              <a:t>Evidence date: 2026-10-29</a:t>
            </a:r>
          </a:p>
          <a:p>
            <a:r>
              <a:t>Sources:</a:t>
            </a:r>
          </a:p>
          <a:p>
            <a:r>
              <a:t>docs/data-dictionary.md</a:t>
            </a:r>
          </a:p>
          <a:p>
            <a:r>
              <a:t>https://github.com/manikantbindass/CityPulse/blob/2385ea7a3c6f9349c9c9ee67a56ace5f279fa992/docs/data-dictionary.md</a:t>
            </a:r>
          </a:p>
          <a:p>
            <a:r>
              <a:t>services/api/src/main/java/io/citypulse/workspace/application/AnalyticsService.java</a:t>
            </a:r>
          </a:p>
          <a:p>
            <a:r>
              <a:t>https://github.com/manikantbindass/CityPulse/blob/2385ea7a3c6f9349c9c9ee67a56ace5f279fa992/services/api/src/main/java/io/citypulse/workspace/application/AnalyticsService.java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qualitative gap analysis of integration boundaries, not a survey claiming competing tools lack features. Spreadsheets, GIS, notebooks and ledgers remain valid. CityPulse adds explicit transition contracts and provenance around them.</a:t>
            </a:r>
          </a:p>
          <a:p/>
          <a:p>
            <a:r>
              <a:t>Application snapshot: 2385ea7a3c6f9349c9c9ee67a56ace5f279fa992</a:t>
            </a:r>
          </a:p>
          <a:p>
            <a:r>
              <a:t>Evidence date: 2026-10-29</a:t>
            </a:r>
          </a:p>
          <a:p>
            <a:r>
              <a:t>Sources:</a:t>
            </a:r>
          </a:p>
          <a:p>
            <a:r>
              <a:t>docs/reports/source/narrative.md (companion editable source in this delivery)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remains the decision owner. Observation, forecast and optimization are distinct objects. A hash establishes integrity, not truth. The solution diagram is editable and summarizes implemented capabilities without implying a queue worker or automatic resource dispatch.</a:t>
            </a:r>
          </a:p>
          <a:p/>
          <a:p>
            <a:r>
              <a:t>Application snapshot: 2385ea7a3c6f9349c9c9ee67a56ace5f279fa992</a:t>
            </a:r>
          </a:p>
          <a:p>
            <a:r>
              <a:t>Evidence date: 2026-10-29</a:t>
            </a:r>
          </a:p>
          <a:p>
            <a:r>
              <a:t>Sources:</a:t>
            </a:r>
          </a:p>
          <a:p>
            <a:r>
              <a:t>README.md</a:t>
            </a:r>
          </a:p>
          <a:p>
            <a:r>
              <a:t>https://github.com/manikantbindass/CityPulse/blob/2385ea7a3c6f9349c9c9ee67a56ace5f279fa992/README.md</a:t>
            </a:r>
          </a:p>
          <a:p>
            <a:r>
              <a:t>docs/decision-engine.md</a:t>
            </a:r>
          </a:p>
          <a:p>
            <a:r>
              <a:t>https://github.com/manikantbindass/CityPulse/blob/2385ea7a3c6f9349c9c9ee67a56ace5f279fa992/docs/decision-engine.md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Vision should be framed as a testable engineering objective. Field effectiveness, real source completeness and production SLOs require separate pilot evaluation. Avoid claims of guaranteed profit, autonomous city management or certified security.</a:t>
            </a:r>
          </a:p>
          <a:p/>
          <a:p>
            <a:r>
              <a:t>Application snapshot: 2385ea7a3c6f9349c9c9ee67a56ace5f279fa992</a:t>
            </a:r>
          </a:p>
          <a:p>
            <a:r>
              <a:t>Evidence date: 2026-10-29</a:t>
            </a:r>
          </a:p>
          <a:p>
            <a:r>
              <a:t>Sources:</a:t>
            </a:r>
          </a:p>
          <a:p>
            <a:r>
              <a:t>docs/PRD.md</a:t>
            </a:r>
          </a:p>
          <a:p>
            <a:r>
              <a:t>https://github.com/manikantbindass/CityPulse/blob/2385ea7a3c6f9349c9c9ee67a56ace5f279fa992/docs/PRD.md</a:t>
            </a:r>
          </a:p>
          <a:p>
            <a:r>
              <a:t>docs/reports/source/narrative.md (companion editable source in this delivery)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general business data is tenant-scoped, not individually owner-scoped. That is a deployment gate for mixed-owner tenants. Demo persona settings change navigation only; the server evaluates real membership and scopes on every protected request.</a:t>
            </a:r>
          </a:p>
          <a:p/>
          <a:p>
            <a:r>
              <a:t>Application snapshot: 2385ea7a3c6f9349c9c9ee67a56ace5f279fa992</a:t>
            </a:r>
          </a:p>
          <a:p>
            <a:r>
              <a:t>Evidence date: 2026-10-29</a:t>
            </a:r>
          </a:p>
          <a:p>
            <a:r>
              <a:t>Sources:</a:t>
            </a:r>
          </a:p>
          <a:p>
            <a:r>
              <a:t>docs/api/backend.md</a:t>
            </a:r>
          </a:p>
          <a:p>
            <a:r>
              <a:t>https://github.com/manikantbindass/CityPulse/blob/2385ea7a3c6f9349c9c9ee67a56ace5f279fa992/docs/api/backend.md</a:t>
            </a:r>
          </a:p>
          <a:p>
            <a:r>
              <a:t>docs/security/architecture.md</a:t>
            </a:r>
          </a:p>
          <a:p>
            <a:r>
              <a:t>https://github.com/manikantbindass/CityPulse/blob/2385ea7a3c6f9349c9c9ee67a56ace5f279fa992/docs/security/architecture.md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is modular. Admin/reporting folders do not imply separate deployed services. Licensed live connectors, durable queue consumers, Kubernetes and a public-chain deployment are future work. Each capability should be demonstrated at its actual evidence boundary.</a:t>
            </a:r>
          </a:p>
          <a:p/>
          <a:p>
            <a:r>
              <a:t>Application snapshot: 2385ea7a3c6f9349c9c9ee67a56ace5f279fa992</a:t>
            </a:r>
          </a:p>
          <a:p>
            <a:r>
              <a:t>Evidence date: 2026-10-29</a:t>
            </a:r>
          </a:p>
          <a:p>
            <a:r>
              <a:t>Sources:</a:t>
            </a:r>
          </a:p>
          <a:p>
            <a:r>
              <a:t>README.md</a:t>
            </a:r>
          </a:p>
          <a:p>
            <a:r>
              <a:t>https://github.com/manikantbindass/CityPulse/blob/2385ea7a3c6f9349c9c9ee67a56ace5f279fa992/README.md</a:t>
            </a:r>
          </a:p>
          <a:p>
            <a:r>
              <a:t>docs/decision-engine.md</a:t>
            </a:r>
          </a:p>
          <a:p>
            <a:r>
              <a:t>https://github.com/manikantbindass/CityPulse/blob/2385ea7a3c6f9349c9c9ee67a56ace5f279fa992/docs/decision-engine.md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Chromium capture from the running local app, not a design mockup. KPI values are sample data. Local Docker was unavailable; Linux CI supplies full-stack evidence. Do not point at a sample KPI as real city intelligence.</a:t>
            </a:r>
          </a:p>
          <a:p/>
          <a:p>
            <a:r>
              <a:t>Application snapshot: 2385ea7a3c6f9349c9c9ee67a56ace5f279fa992</a:t>
            </a:r>
          </a:p>
          <a:p>
            <a:r>
              <a:t>Evidence date: 2026-10-29</a:t>
            </a:r>
          </a:p>
          <a:p>
            <a:r>
              <a:t>Sources:</a:t>
            </a:r>
          </a:p>
          <a:p>
            <a:r>
              <a:t>docs/assets/readme-provenance.json</a:t>
            </a:r>
          </a:p>
          <a:p>
            <a:r>
              <a:t>https://github.com/manikantbindass/CityPulse/blob/2385ea7a3c6f9349c9c9ee67a56ace5f279fa992/docs/assets/readme-provenance.json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PostgreSQL/PostGIS is authoritative; Redis supports sessions, limits and caching. Solidity uses OpenZeppelin/Ethers and Hardhat. Compose precedes the unprovisioned AWS ECS path. A temporary Jackson-2 compatibility bridge remains a documented migration obligation.</a:t>
            </a:r>
          </a:p>
          <a:p/>
          <a:p>
            <a:r>
              <a:t>Application snapshot: 2385ea7a3c6f9349c9c9ee67a56ace5f279fa992</a:t>
            </a:r>
          </a:p>
          <a:p>
            <a:r>
              <a:t>Evidence date: 2026-10-29</a:t>
            </a:r>
          </a:p>
          <a:p>
            <a:r>
              <a:t>Sources:</a:t>
            </a:r>
          </a:p>
          <a:p>
            <a:r>
              <a:t>apps/web/package.json</a:t>
            </a:r>
          </a:p>
          <a:p>
            <a:r>
              <a:t>https://github.com/manikantbindass/CityPulse/blob/2385ea7a3c6f9349c9c9ee67a56ace5f279fa992/apps/web/package.json</a:t>
            </a:r>
          </a:p>
          <a:p>
            <a:r>
              <a:t>services/api/pom.xml</a:t>
            </a:r>
          </a:p>
          <a:p>
            <a:r>
              <a:t>https://github.com/manikantbindass/CityPulse/blob/2385ea7a3c6f9349c9c9ee67a56ace5f279fa992/services/api/pom.xml</a:t>
            </a:r>
          </a:p>
          <a:p>
            <a:r>
              <a:t>services/ai-engine/pyproject.toml</a:t>
            </a:r>
          </a:p>
          <a:p>
            <a:r>
              <a:t>https://github.com/manikantbindass/CityPulse/blob/2385ea7a3c6f9349c9c9ee67a56ace5f279fa992/services/ai-engine/pyproject.toml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match the report C4 container view. Use private service identity and server-derived tenant context. An explicitly enabled local synthetic adapter is a narrower exception, unsaved and unsuitable as proof of production authorization. No asynchronous worker is implied.</a:t>
            </a:r>
          </a:p>
          <a:p/>
          <a:p>
            <a:r>
              <a:t>Application snapshot: 2385ea7a3c6f9349c9c9ee67a56ace5f279fa992</a:t>
            </a:r>
          </a:p>
          <a:p>
            <a:r>
              <a:t>Evidence date: 2026-10-29</a:t>
            </a:r>
          </a:p>
          <a:p>
            <a:r>
              <a:t>Sources:</a:t>
            </a:r>
          </a:p>
          <a:p>
            <a:r>
              <a:t>docs/reports/source/diagrams.json (companion editable source in this delivery)</a:t>
            </a:r>
          </a:p>
          <a:p>
            <a:r>
              <a:t>compose.yaml</a:t>
            </a:r>
          </a:p>
          <a:p>
            <a:r>
              <a:t>https://github.com/manikantbindass/CityPulse/blob/2385ea7a3c6f9349c9c9ee67a56ace5f279fa992/compose.yaml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Issue #22 exposed shell-only theme inheritance and Sonner defaults. PR #23 moved theme to the document root, explicitly themed notifications, gated selection on hydration and corrected light success-toast contrast. Eighteen desktop/mobile tests include this regression. This screenshot is actual local UI.</a:t>
            </a:r>
          </a:p>
          <a:p/>
          <a:p>
            <a:r>
              <a:t>Application snapshot: 2385ea7a3c6f9349c9c9ee67a56ace5f279fa992</a:t>
            </a:r>
          </a:p>
          <a:p>
            <a:r>
              <a:t>Evidence date: 2026-10-29</a:t>
            </a:r>
          </a:p>
          <a:p>
            <a:r>
              <a:t>Sources:</a:t>
            </a:r>
          </a:p>
          <a:p>
            <a:r>
              <a:t>apps/web/components/providers.tsx</a:t>
            </a:r>
          </a:p>
          <a:p>
            <a:r>
              <a:t>https://github.com/manikantbindass/CityPulse/blob/2385ea7a3c6f9349c9c9ee67a56ace5f279fa992/apps/web/components/providers.tsx</a:t>
            </a:r>
          </a:p>
          <a:p>
            <a:r>
              <a:t>apps/web/e2e/theme.spec.ts</a:t>
            </a:r>
          </a:p>
          <a:p>
            <a:r>
              <a:t>https://github.com/manikantbindass/CityPulse/blob/2385ea7a3c6f9349c9c9ee67a56ace5f279fa992/apps/web/e2e/theme.spec.ts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imply every endpoint is individually owner-scoped. General operational data is tenant-scoped; conversations/scenarios narrow by subject ownership. JWT acceptance alone cannot expand database role permissions. Current enabled membership narrows signed scopes.</a:t>
            </a:r>
          </a:p>
          <a:p/>
          <a:p>
            <a:r>
              <a:t>Application snapshot: 2385ea7a3c6f9349c9c9ee67a56ace5f279fa992</a:t>
            </a:r>
          </a:p>
          <a:p>
            <a:r>
              <a:t>Evidence date: 2026-10-29</a:t>
            </a:r>
          </a:p>
          <a:p>
            <a:r>
              <a:t>Sources:</a:t>
            </a:r>
          </a:p>
          <a:p>
            <a:r>
              <a:t>services/api/src/main/java/io/citypulse/identity/MembershipFilter.java</a:t>
            </a:r>
          </a:p>
          <a:p>
            <a:r>
              <a:t>https://github.com/manikantbindass/CityPulse/blob/2385ea7a3c6f9349c9c9ee67a56ace5f279fa992/services/api/src/main/java/io/citypulse/identity/MembershipFilter.java</a:t>
            </a:r>
          </a:p>
          <a:p>
            <a:r>
              <a:t>docs/api/backend.md</a:t>
            </a:r>
          </a:p>
          <a:p>
            <a:r>
              <a:t>https://github.com/manikantbindass/CityPulse/blob/2385ea7a3c6f9349c9c9ee67a56ace5f279fa992/docs/api/backend.md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report appendix is definitive. tenant_city assigns shared city definitions rather than making every city directly tenant-owned. GiST supports spatial queries; tenant/time indexes support protected history. Parent-boundary edits need controlled revalidation.</a:t>
            </a:r>
          </a:p>
          <a:p/>
          <a:p>
            <a:r>
              <a:t>Application snapshot: 2385ea7a3c6f9349c9c9ee67a56ace5f279fa992</a:t>
            </a:r>
          </a:p>
          <a:p>
            <a:r>
              <a:t>Evidence date: 2026-10-29</a:t>
            </a:r>
          </a:p>
          <a:p>
            <a:r>
              <a:t>Sources:</a:t>
            </a:r>
          </a:p>
          <a:p>
            <a:r>
              <a:t>services/api/src/main/resources/db/migration/V1__canonical_geospatial_schema.sql</a:t>
            </a:r>
          </a:p>
          <a:p>
            <a:r>
              <a:t>https://github.com/manikantbindass/CityPulse/blob/2385ea7a3c6f9349c9c9ee67a56ace5f279fa992/services/api/src/main/resources/db/migration/V1__canonical_geospatial_schema.sql</a:t>
            </a:r>
          </a:p>
          <a:p>
            <a:r>
              <a:t>services/api/src/main/resources/db/migration/V2__tenant_operations.sql</a:t>
            </a:r>
          </a:p>
          <a:p>
            <a:r>
              <a:t>https://github.com/manikantbindass/CityPulse/blob/2385ea7a3c6f9349c9c9ee67a56ace5f279fa992/services/api/src/main/resources/db/migration/V2__tenant_operations.sql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size, headers, units, timestamps and geography are bounded. Quality is a rule-based diagnostic, not proof of source truth or model confidence. A local checkpoint is not evidence that all remote publication completed. Live provider access requires licensing and configuration.</a:t>
            </a:r>
          </a:p>
          <a:p/>
          <a:p>
            <a:r>
              <a:t>Application snapshot: 2385ea7a3c6f9349c9c9ee67a56ace5f279fa992</a:t>
            </a:r>
          </a:p>
          <a:p>
            <a:r>
              <a:t>Evidence date: 2026-10-29</a:t>
            </a:r>
          </a:p>
          <a:p>
            <a:r>
              <a:t>Sources:</a:t>
            </a:r>
          </a:p>
          <a:p>
            <a:r>
              <a:t>services/ingestion/citypulse_ingestion/pipeline.py</a:t>
            </a:r>
          </a:p>
          <a:p>
            <a:r>
              <a:t>https://github.com/manikantbindass/CityPulse/blob/2385ea7a3c6f9349c9c9ee67a56ace5f279fa992/services/ingestion/citypulse_ingestion/pipeline.py</a:t>
            </a:r>
          </a:p>
          <a:p>
            <a:r>
              <a:t>scripts/data_pipeline.py</a:t>
            </a:r>
          </a:p>
          <a:p>
            <a:r>
              <a:t>https://github.com/manikantbindass/CityPulse/blob/2385ea7a3c6f9349c9c9ee67a56ace5f279fa992/scripts/data_pipeline.py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synthetic city/district/category scopes contain 182 daily observations each. Train/validation/test is chronological 60/20/20. Validation MAE selects among seasonal-naive, moving average, Ridge and XGBoost. Rolling one-step performance is not recursive multi-horizon or unseen-city performance.</a:t>
            </a:r>
          </a:p>
          <a:p/>
          <a:p>
            <a:r>
              <a:t>Application snapshot: 2385ea7a3c6f9349c9c9ee67a56ace5f279fa992</a:t>
            </a:r>
          </a:p>
          <a:p>
            <a:r>
              <a:t>Evidence date: 2026-10-29</a:t>
            </a:r>
          </a:p>
          <a:p>
            <a:r>
              <a:t>Sources:</a:t>
            </a:r>
          </a:p>
          <a:p>
            <a:r>
              <a:t>services/ai-engine/citypulse_ai/modeling.py</a:t>
            </a:r>
          </a:p>
          <a:p>
            <a:r>
              <a:t>https://github.com/manikantbindass/CityPulse/blob/2385ea7a3c6f9349c9c9ee67a56ace5f279fa992/services/ai-engine/citypulse_ai/modeling.py</a:t>
            </a:r>
          </a:p>
          <a:p>
            <a:r>
              <a:t>docs/reports/model-evaluation.json</a:t>
            </a:r>
          </a:p>
          <a:p>
            <a:r>
              <a:t>https://github.com/manikantbindass/CityPulse/blob/2385ea7a3c6f9349c9c9ee67a56ace5f279fa992/docs/reports/model-evaluation.json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reads selected-model test MAE from committed evaluation JSON. Compare within synthetic segment. Validation-selected candidates are not always best on the test period. Empirical interval coverage varies materially; a 90th-percentile residual method is not guaranteed 90% future coverage. The report retains all candidate metrics.</a:t>
            </a:r>
          </a:p>
          <a:p/>
          <a:p>
            <a:r>
              <a:t>Application snapshot: 2385ea7a3c6f9349c9c9ee67a56ace5f279fa992</a:t>
            </a:r>
          </a:p>
          <a:p>
            <a:r>
              <a:t>Evidence date: 2026-10-29</a:t>
            </a:r>
          </a:p>
          <a:p>
            <a:r>
              <a:t>Sources:</a:t>
            </a:r>
          </a:p>
          <a:p>
            <a:r>
              <a:t>docs/reports/model-evaluation.json</a:t>
            </a:r>
          </a:p>
          <a:p>
            <a:r>
              <a:t>https://github.com/manikantbindass/CityPulse/blob/2385ea7a3c6f9349c9c9ee67a56ace5f279fa992/docs/reports/model-evaluation.json</a:t>
            </a:r>
          </a:p>
          <a:p>
            <a:r>
              <a:t>docs/model-card.md</a:t>
            </a:r>
          </a:p>
          <a:p>
            <a:r>
              <a:t>https://github.com/manikantbindass/CityPulse/blob/2385ea7a3c6f9349c9c9ee67a56ace5f279fa992/docs/model-card.md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is an actual local screenshot and remains labeled synthetic. The forecast chart is derived from an actual local FastAPI response saved with its input/provenance and no credentials. A forecast response is a demonstration, not measured future accuracy. Intervals and fallback status must be read from that response.</a:t>
            </a:r>
          </a:p>
          <a:p/>
          <a:p>
            <a:r>
              <a:t>Application snapshot: 2385ea7a3c6f9349c9c9ee67a56ace5f279fa992</a:t>
            </a:r>
          </a:p>
          <a:p>
            <a:r>
              <a:t>Evidence date: 2026-10-29</a:t>
            </a:r>
          </a:p>
          <a:p>
            <a:r>
              <a:t>Sources:</a:t>
            </a:r>
          </a:p>
          <a:p>
            <a:r>
              <a:t>docs/presentations/source/evidence/forecast-demo.json (companion editable source in this delivery)</a:t>
            </a:r>
          </a:p>
          <a:p>
            <a:r>
              <a:t>docs/model-card.md</a:t>
            </a:r>
          </a:p>
          <a:p>
            <a:r>
              <a:t>https://github.com/manikantbindass/CityPulse/blob/2385ea7a3c6f9349c9c9ee67a56ace5f279fa992/docs/model-card.md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screenshot follows an actual local SciPy calculation with synthetic data. Scores are indicators, not investment-success probabilities. A local result is unsaved; the Java path supports owned snapshots, saved/exported scenarios and reproduction. Cost minimization may validly allocate zero without a hard positive floor.</a:t>
            </a:r>
          </a:p>
          <a:p/>
          <a:p>
            <a:r>
              <a:t>Application snapshot: 2385ea7a3c6f9349c9c9ee67a56ace5f279fa992</a:t>
            </a:r>
          </a:p>
          <a:p>
            <a:r>
              <a:t>Evidence date: 2026-10-29</a:t>
            </a:r>
          </a:p>
          <a:p>
            <a:r>
              <a:t>Sources:</a:t>
            </a:r>
          </a:p>
          <a:p>
            <a:r>
              <a:t>docs/reports/decision-evaluation.json</a:t>
            </a:r>
          </a:p>
          <a:p>
            <a:r>
              <a:t>https://github.com/manikantbindass/CityPulse/blob/2385ea7a3c6f9349c9c9ee67a56ace5f279fa992/docs/reports/decision-evaluation.json</a:t>
            </a:r>
          </a:p>
          <a:p>
            <a:r>
              <a:t>services/ai-engine/citypulse_ai/decisions.py</a:t>
            </a:r>
          </a:p>
          <a:p>
            <a:r>
              <a:t>https://github.com/manikantbindass/CityPulse/blob/2385ea7a3c6f9349c9c9ee67a56ace5f279fa992/services/ai-engine/citypulse_ai/decisions.py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retrieved text nor provider output can choose arbitrary SQL or introduce free-form factual claims. Missing records remain absent. The default disabled provider makes no paid external request. Stored forecasts require tenant checks and are not silently attributed to an unrelated city UUID.</a:t>
            </a:r>
          </a:p>
          <a:p/>
          <a:p>
            <a:r>
              <a:t>Application snapshot: 2385ea7a3c6f9349c9c9ee67a56ace5f279fa992</a:t>
            </a:r>
          </a:p>
          <a:p>
            <a:r>
              <a:t>Evidence date: 2026-10-29</a:t>
            </a:r>
          </a:p>
          <a:p>
            <a:r>
              <a:t>Sources:</a:t>
            </a:r>
          </a:p>
          <a:p>
            <a:r>
              <a:t>services/api/src/main/java/io/citypulse/pulseai/PulseAiService.java</a:t>
            </a:r>
          </a:p>
          <a:p>
            <a:r>
              <a:t>https://github.com/manikantbindass/CityPulse/blob/2385ea7a3c6f9349c9c9ee67a56ace5f279fa992/services/api/src/main/java/io/citypulse/pulseai/PulseAiService.java</a:t>
            </a:r>
          </a:p>
          <a:p>
            <a:r>
              <a:t>services/ai-engine/citypulse_ai/pulseai.py</a:t>
            </a:r>
          </a:p>
          <a:p>
            <a:r>
              <a:t>https://github.com/manikantbindass/CityPulse/blob/2385ea7a3c6f9349c9c9ee67a56ace5f279fa992/services/ai-engine/citypulse_ai/pulseai.py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Blockchain is justified narrowly for selected attestations, not as the primary database or a guarantee of honest providers. References must exclude secrets and private personal data. Public immutability complicates deletion; local EVM behavior does not establish a deployed public system.</a:t>
            </a:r>
          </a:p>
          <a:p/>
          <a:p>
            <a:r>
              <a:t>Application snapshot: 2385ea7a3c6f9349c9c9ee67a56ace5f279fa992</a:t>
            </a:r>
          </a:p>
          <a:p>
            <a:r>
              <a:t>Evidence date: 2026-10-29</a:t>
            </a:r>
          </a:p>
          <a:p>
            <a:r>
              <a:t>Sources:</a:t>
            </a:r>
          </a:p>
          <a:p>
            <a:r>
              <a:t>docs/blockchain.md</a:t>
            </a:r>
          </a:p>
          <a:p>
            <a:r>
              <a:t>https://github.com/manikantbindass/CityPulse/blob/2385ea7a3c6f9349c9c9ee67a56ace5f279fa992/docs/blockchain.md</a:t>
            </a:r>
          </a:p>
          <a:p>
            <a:r>
              <a:t>blockchain/contracts/DatasetAttestationRegistry.sol</a:t>
            </a:r>
          </a:p>
          <a:p>
            <a:r>
              <a:t>https://github.com/manikantbindass/CityPulse/blob/2385ea7a3c6f9349c9c9ee67a56ace5f279fa992/blockchain/contracts/DatasetAttestationRegistry.sol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AuthorizedSourceRegistry, DatasetAttestationRegistry and VerificationRecord match report labels. IDs include chain/contract/submitter/event. The recorded local demo uses chain 31337 and 150,788 gas for one sample. This is not a public-network fee quote. Java separately distinguishes DIGEST_RECORDED from validated CHAIN_CONFIRMED.</a:t>
            </a:r>
          </a:p>
          <a:p/>
          <a:p>
            <a:r>
              <a:t>Application snapshot: 2385ea7a3c6f9349c9c9ee67a56ace5f279fa992</a:t>
            </a:r>
          </a:p>
          <a:p>
            <a:r>
              <a:t>Evidence date: 2026-10-29</a:t>
            </a:r>
          </a:p>
          <a:p>
            <a:r>
              <a:t>Sources:</a:t>
            </a:r>
          </a:p>
          <a:p>
            <a:r>
              <a:t>docs/reports/blockchain-local-demo.json</a:t>
            </a:r>
          </a:p>
          <a:p>
            <a:r>
              <a:t>https://github.com/manikantbindass/CityPulse/blob/2385ea7a3c6f9349c9c9ee67a56ace5f279fa992/docs/reports/blockchain-local-demo.json</a:t>
            </a:r>
          </a:p>
          <a:p>
            <a:r>
              <a:t>services/api/src/main/java/io/citypulse/workspace/application/ChainReceiptService.java</a:t>
            </a:r>
          </a:p>
          <a:p>
            <a:r>
              <a:t>https://github.com/manikantbindass/CityPulse/blob/2385ea7a3c6f9349c9c9ee67a56ace5f279fa992/services/api/src/main/java/io/citypulse/workspace/application/ChainReceiptService.java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CSRF is retained except for explicit bearer API requests; invalid credentials still fail authorization. Session tokens are not in browser storage. Nonce CSP, strict parsing, minimized logs, runtime DB grants and dependency scans provide layers. No penetration test, professional contract audit or certification is claimed.</a:t>
            </a:r>
          </a:p>
          <a:p/>
          <a:p>
            <a:r>
              <a:t>Application snapshot: 2385ea7a3c6f9349c9c9ee67a56ace5f279fa992</a:t>
            </a:r>
          </a:p>
          <a:p>
            <a:r>
              <a:t>Evidence date: 2026-10-29</a:t>
            </a:r>
          </a:p>
          <a:p>
            <a:r>
              <a:t>Sources:</a:t>
            </a:r>
          </a:p>
          <a:p>
            <a:r>
              <a:t>docs/security/architecture.md</a:t>
            </a:r>
          </a:p>
          <a:p>
            <a:r>
              <a:t>https://github.com/manikantbindass/CityPulse/blob/2385ea7a3c6f9349c9c9ee67a56ace5f279fa992/docs/security/architecture.md</a:t>
            </a:r>
          </a:p>
          <a:p>
            <a:r>
              <a:t>docs/security/threat-model.md</a:t>
            </a:r>
          </a:p>
          <a:p>
            <a:r>
              <a:t>https://github.com/manikantbindass/CityPulse/blob/2385ea7a3c6f9349c9c9ee67a56ace5f279fa992/docs/security/threat-model.md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Fargate workloads, HTTPS ALB, managed data, EFS and private S3 are code-level designs. Counts default to zero pending bootstrap, but data/network resources would still cost money after apply. Internal HTTP, broad NAT egress and writable ephemeral cloud roots are documented hardening gaps. SQS has no connected consumer.</a:t>
            </a:r>
          </a:p>
          <a:p/>
          <a:p>
            <a:r>
              <a:t>Application snapshot: 2385ea7a3c6f9349c9c9ee67a56ace5f279fa992</a:t>
            </a:r>
          </a:p>
          <a:p>
            <a:r>
              <a:t>Evidence date: 2026-10-29</a:t>
            </a:r>
          </a:p>
          <a:p>
            <a:r>
              <a:t>Sources:</a:t>
            </a:r>
          </a:p>
          <a:p>
            <a:r>
              <a:t>infrastructure/terraform/main.tf.json</a:t>
            </a:r>
          </a:p>
          <a:p>
            <a:r>
              <a:t>https://github.com/manikantbindass/CityPulse/blob/2385ea7a3c6f9349c9c9ee67a56ace5f279fa992/infrastructure/terraform/main.tf.json</a:t>
            </a:r>
          </a:p>
          <a:p>
            <a:r>
              <a:t>docs/operations/deployment.md</a:t>
            </a:r>
          </a:p>
          <a:p>
            <a:r>
              <a:t>https://github.com/manikantbindass/CityPulse/blob/2385ea7a3c6f9349c9c9ee67a56ace5f279fa992/docs/operations/deployment.md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four API tasks with ten connections each, budget up to forty runtime connections plus operational headroom. EFS is persistence, not concurrent SQLite safety. Durable job metadata/leases/outbox and queue consumers precede horizontal AI scaling. RPO/RTO are targets, not measured recovery guarantees.</a:t>
            </a:r>
          </a:p>
          <a:p/>
          <a:p>
            <a:r>
              <a:t>Application snapshot: 2385ea7a3c6f9349c9c9ee67a56ace5f279fa992</a:t>
            </a:r>
          </a:p>
          <a:p>
            <a:r>
              <a:t>Evidence date: 2026-10-29</a:t>
            </a:r>
          </a:p>
          <a:p>
            <a:r>
              <a:t>Sources:</a:t>
            </a:r>
          </a:p>
          <a:p>
            <a:r>
              <a:t>docs/operations/scaling.md</a:t>
            </a:r>
          </a:p>
          <a:p>
            <a:r>
              <a:t>https://github.com/manikantbindass/CityPulse/blob/2385ea7a3c6f9349c9c9ee67a56ace5f279fa992/docs/operations/scaling.md</a:t>
            </a:r>
          </a:p>
          <a:p>
            <a:r>
              <a:t>docs/operations/recovery.md</a:t>
            </a:r>
          </a:p>
          <a:p>
            <a:r>
              <a:t>https://github.com/manikantbindass/CityPulse/blob/2385ea7a3c6f9349c9c9ee67a56ace5f279fa992/docs/operations/recovery.md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requires nine application/security/platform jobs. Manual packaging is separate from automatic provisioning. Compose verifies actual API/AI scrapes and spans stored in Tempo. CloudWatch is a configured ECS path, not a deployed logging service. Proposed SLOs are not attained service levels.</a:t>
            </a:r>
          </a:p>
          <a:p/>
          <a:p>
            <a:r>
              <a:t>Application snapshot: 2385ea7a3c6f9349c9c9ee67a56ace5f279fa992</a:t>
            </a:r>
          </a:p>
          <a:p>
            <a:r>
              <a:t>Evidence date: 2026-10-29</a:t>
            </a:r>
          </a:p>
          <a:p>
            <a:r>
              <a:t>Sources:</a:t>
            </a:r>
          </a:p>
          <a:p>
            <a:r>
              <a:t>.github/workflows/ci.yml</a:t>
            </a:r>
          </a:p>
          <a:p>
            <a:r>
              <a:t>https://github.com/manikantbindass/CityPulse/blob/2385ea7a3c6f9349c9c9ee67a56ace5f279fa992/.github/workflows/ci.yml</a:t>
            </a:r>
          </a:p>
          <a:p>
            <a:r>
              <a:t>.github/workflows/security.yml</a:t>
            </a:r>
          </a:p>
          <a:p>
            <a:r>
              <a:t>https://github.com/manikantbindass/CityPulse/blob/2385ea7a3c6f9349c9c9ee67a56ace5f279fa992/.github/workflows/security.yml</a:t>
            </a:r>
          </a:p>
          <a:p>
            <a:r>
              <a:t>scripts/monitoring_smoke.py</a:t>
            </a:r>
          </a:p>
          <a:p>
            <a:r>
              <a:t>https://github.com/manikantbindass/CityPulse/blob/2385ea7a3c6f9349c9c9ee67a56ace5f279fa992/scripts/monitoring_smoke.py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counts have revision-linked CI evidence in the report. Linux Java has zero skips; local Docker tests skip because the engine was unavailable. Browser tests include accessibility and theme persistence. Zero fixable HIGH/CRITICAL findings is a scoped scan gate, not a clean bill of security.</a:t>
            </a:r>
          </a:p>
          <a:p/>
          <a:p>
            <a:r>
              <a:t>Application snapshot: 2385ea7a3c6f9349c9c9ee67a56ace5f279fa992</a:t>
            </a:r>
          </a:p>
          <a:p>
            <a:r>
              <a:t>Evidence date: 2026-10-29</a:t>
            </a:r>
          </a:p>
          <a:p>
            <a:r>
              <a:t>Sources:</a:t>
            </a:r>
          </a:p>
          <a:p>
            <a:r>
              <a:t>docs/reports/source/evidence.json (companion editable source in this delivery)</a:t>
            </a:r>
          </a:p>
          <a:p>
            <a:r>
              <a:t>apps/web/e2e/theme.spec.ts</a:t>
            </a:r>
          </a:p>
          <a:p>
            <a:r>
              <a:t>https://github.com/manikantbindass/CityPulse/blob/2385ea7a3c6f9349c9c9ee67a56ace5f279fa992/apps/web/e2e/theme.spec.ts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ingestion/replay, an owned evidence session, a forecast job, a constrained scenario and an independent digest comparison. Keep failure paths visible: absent counterpart, invalid authorization, solver infeasibility and unmatched receipt. Human review remains the decision boundary.</a:t>
            </a:r>
          </a:p>
          <a:p/>
          <a:p>
            <a:r>
              <a:t>Application snapshot: 2385ea7a3c6f9349c9c9ee67a56ace5f279fa992</a:t>
            </a:r>
          </a:p>
          <a:p>
            <a:r>
              <a:t>Evidence date: 2026-10-29</a:t>
            </a:r>
          </a:p>
          <a:p>
            <a:r>
              <a:t>Sources:</a:t>
            </a:r>
          </a:p>
          <a:p>
            <a:r>
              <a:t>scripts/smoke.py</a:t>
            </a:r>
          </a:p>
          <a:p>
            <a:r>
              <a:t>https://github.com/manikantbindass/CityPulse/blob/2385ea7a3c6f9349c9c9ee67a56ace5f279fa992/scripts/smoke.py</a:t>
            </a:r>
          </a:p>
          <a:p>
            <a:r>
              <a:t>docs/decision-engine.md</a:t>
            </a:r>
          </a:p>
          <a:p>
            <a:r>
              <a:t>https://github.com/manikantbindass/CityPulse/blob/2385ea7a3c6f9349c9c9ee67a56ace5f279fa992/docs/decision-engine.md</a:t>
            </a:r>
          </a:p>
          <a:p>
            <a:r>
              <a:t>docs/pulseai.md</a:t>
            </a:r>
          </a:p>
          <a:p>
            <a:r>
              <a:t>https://github.com/manikantbindass/CityPulse/blob/2385ea7a3c6f9349c9c9ee67a56ace5f279fa992/docs/pulseai.md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k6 run is twenty seconds at one arrival per second, with twenty-one observed requests. It excludes Next, Java, DB and external network. It is not saturation or production SLO evidence. Local solver benchmarks cover three sizes with three repeats each; raw data is retained. Interval coverage and portal-theme tests exposed useful limitations rather than just confirming expected behavior.</a:t>
            </a:r>
          </a:p>
          <a:p/>
          <a:p>
            <a:r>
              <a:t>Application snapshot: 2385ea7a3c6f9349c9c9ee67a56ace5f279fa992</a:t>
            </a:r>
          </a:p>
          <a:p>
            <a:r>
              <a:t>Evidence date: 2026-10-29</a:t>
            </a:r>
          </a:p>
          <a:p>
            <a:r>
              <a:t>Sources:</a:t>
            </a:r>
          </a:p>
          <a:p>
            <a:r>
              <a:t>docs/reports/operations/k6-local-ai.json</a:t>
            </a:r>
          </a:p>
          <a:p>
            <a:r>
              <a:t>https://github.com/manikantbindass/CityPulse/blob/2385ea7a3c6f9349c9c9ee67a56ace5f279fa992/docs/reports/operations/k6-local-ai.json</a:t>
            </a:r>
          </a:p>
          <a:p>
            <a:r>
              <a:t>docs/reports/decision-evaluation.json</a:t>
            </a:r>
          </a:p>
          <a:p>
            <a:r>
              <a:t>https://github.com/manikantbindass/CityPulse/blob/2385ea7a3c6f9349c9c9ee67a56ace5f279fa992/docs/reports/decision-evaluation.json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business rows require owner policy for mixed-owner tenants. Historical documents lagged implementation, so this report/deck use a code-first hierarchy. A Hardhat development advisory and deprecated Jackson bridge remain disclosed. Avoid promising profit, real-time intelligence, mainnet operation or certification.</a:t>
            </a:r>
          </a:p>
          <a:p/>
          <a:p>
            <a:r>
              <a:t>Application snapshot: 2385ea7a3c6f9349c9c9ee67a56ace5f279fa992</a:t>
            </a:r>
          </a:p>
          <a:p>
            <a:r>
              <a:t>Evidence date: 2026-10-29</a:t>
            </a:r>
          </a:p>
          <a:p>
            <a:r>
              <a:t>Sources:</a:t>
            </a:r>
          </a:p>
          <a:p>
            <a:r>
              <a:t>docs/api/backend.md</a:t>
            </a:r>
          </a:p>
          <a:p>
            <a:r>
              <a:t>https://github.com/manikantbindass/CityPulse/blob/2385ea7a3c6f9349c9c9ee67a56ace5f279fa992/docs/api/backend.md</a:t>
            </a:r>
          </a:p>
          <a:p>
            <a:r>
              <a:t>docs/security/verification.md</a:t>
            </a:r>
          </a:p>
          <a:p>
            <a:r>
              <a:t>https://github.com/manikantbindass/CityPulse/blob/2385ea7a3c6f9349c9c9ee67a56ace5f279fa992/docs/security/verification.md</a:t>
            </a:r>
          </a:p>
          <a:p>
            <a:r>
              <a:t>docs/operations/scaling.md</a:t>
            </a:r>
          </a:p>
          <a:p>
            <a:r>
              <a:t>https://github.com/manikantbindass/CityPulse/blob/2385ea7a3c6f9349c9c9ee67a56ace5f279fa992/docs/operations/scaling.md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groups are future work, not deployed modules. Queue consumers and Kubernetes require measured need. Add multi-horizon calibration and field evaluation before expanding model complexity. Real provider cadence/completeness and a responsible decision owner are essential acceptance inputs.</a:t>
            </a:r>
          </a:p>
          <a:p/>
          <a:p>
            <a:r>
              <a:t>Application snapshot: 2385ea7a3c6f9349c9c9ee67a56ace5f279fa992</a:t>
            </a:r>
          </a:p>
          <a:p>
            <a:r>
              <a:t>Evidence date: 2026-10-29</a:t>
            </a:r>
          </a:p>
          <a:p>
            <a:r>
              <a:t>Sources:</a:t>
            </a:r>
          </a:p>
          <a:p>
            <a:r>
              <a:t>README.md</a:t>
            </a:r>
          </a:p>
          <a:p>
            <a:r>
              <a:t>https://github.com/manikantbindass/CityPulse/blob/2385ea7a3c6f9349c9c9ee67a56ace5f279fa992/README.md</a:t>
            </a:r>
          </a:p>
          <a:p>
            <a:r>
              <a:t>docs/operations/scaling.md</a:t>
            </a:r>
          </a:p>
          <a:p>
            <a:r>
              <a:t>https://github.com/manikantbindass/CityPulse/blob/2385ea7a3c6f9349c9c9ee67a56ace5f279fa992/docs/operations/scaling.md</a:t>
            </a:r>
          </a:p>
          <a:p>
            <a:r>
              <a:t>docs/model-card.md</a:t>
            </a:r>
          </a:p>
          <a:p>
            <a:r>
              <a:t>https://github.com/manikantbindass/CityPulse/blob/2385ea7a3c6f9349c9c9ee67a56ace5f279fa992/docs/model-card.md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implemented integration, not a list of technologies alone. The value is that an analyst can inspect sources and assumptions and reproduce a scenario. The project does not claim operational city adoption, production uptime, independent audit or guaranteed outcomes.</a:t>
            </a:r>
          </a:p>
          <a:p/>
          <a:p>
            <a:r>
              <a:t>Application snapshot: 2385ea7a3c6f9349c9c9ee67a56ace5f279fa992</a:t>
            </a:r>
          </a:p>
          <a:p>
            <a:r>
              <a:t>Evidence date: 2026-10-29</a:t>
            </a:r>
          </a:p>
          <a:p>
            <a:r>
              <a:t>Sources:</a:t>
            </a:r>
          </a:p>
          <a:p>
            <a:r>
              <a:t>docs/reports/source/report.json (companion editable source in this delivery)</a:t>
            </a:r>
          </a:p>
          <a:p>
            <a:r>
              <a:t>README.md</a:t>
            </a:r>
          </a:p>
          <a:p>
            <a:r>
              <a:t>https://github.com/manikantbindass/CityPulse/blob/2385ea7a3c6f9349c9c9ee67a56ace5f279fa992/README.md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about data compatibility, uncertainty, tenant/owner policy, optimization objectives, source-truth limits and the next pilot. The QR and text URL point to the actual GitHub repository. Speaker notes and the companion PDF provide implementation sources and verification limitations.</a:t>
            </a:r>
          </a:p>
          <a:p/>
          <a:p>
            <a:r>
              <a:t>Application snapshot: 2385ea7a3c6f9349c9c9ee67a56ace5f279fa992</a:t>
            </a:r>
          </a:p>
          <a:p>
            <a:r>
              <a:t>Evidence date: 2026-10-29</a:t>
            </a:r>
          </a:p>
          <a:p>
            <a:r>
              <a:t>Sources:</a:t>
            </a:r>
          </a:p>
          <a:p>
            <a:r>
              <a:t>README.md</a:t>
            </a:r>
          </a:p>
          <a:p>
            <a:r>
              <a:t>https://github.com/manikantbindass/CityPulse/blob/2385ea7a3c6f9349c9c9ee67a56ace5f279fa992/README.md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640080" y="1234440"/>
            <a:ext cx="10972800" cy="1097280"/>
          </a:xfrm>
          <a:prstGeom prst="rect">
            <a:avLst/>
          </a:prstGeom>
          <a:noFill/>
        </p:spPr>
        <p:txBody>
          <a:bodyPr wrap="square" lIns="0" rIns="0" tIns="0" bIns="0">
            <a:spAutoFit/>
          </a:bodyPr>
          <a:lstStyle/>
          <a:p>
            <a:pPr>
              <a:lnSpc>
                <a:spcPct val="112000"/>
              </a:lnSpc>
              <a:spcAft>
                <a:spcPts val="700"/>
              </a:spcAft>
              <a:defRPr sz="5800" b="1">
                <a:solidFill>
                  <a:srgbClr val="67E8F9"/>
                </a:solidFill>
                <a:latin typeface="Arial"/>
              </a:defRPr>
            </a:pPr>
            <a:r>
              <a:t>CITYPULSE</a:t>
            </a:r>
          </a:p>
        </p:txBody>
      </p:sp>
      <p:sp>
        <p:nvSpPr>
          <p:cNvPr id="3" name="TextBox 2"/>
          <p:cNvSpPr txBox="1"/>
          <p:nvPr/>
        </p:nvSpPr>
        <p:spPr>
          <a:xfrm>
            <a:off x="667512" y="2651760"/>
            <a:ext cx="10881360" cy="1280160"/>
          </a:xfrm>
          <a:prstGeom prst="rect">
            <a:avLst/>
          </a:prstGeom>
          <a:noFill/>
        </p:spPr>
        <p:txBody>
          <a:bodyPr wrap="square" lIns="0" rIns="0" tIns="0" bIns="0">
            <a:spAutoFit/>
          </a:bodyPr>
          <a:lstStyle/>
          <a:p>
            <a:pPr>
              <a:lnSpc>
                <a:spcPct val="112000"/>
              </a:lnSpc>
              <a:spcAft>
                <a:spcPts val="700"/>
              </a:spcAft>
              <a:defRPr sz="3000" b="0">
                <a:solidFill>
                  <a:srgbClr val="E8EDF5"/>
                </a:solidFill>
                <a:latin typeface="Arial"/>
              </a:defRPr>
            </a:pPr>
            <a:r>
              <a:t>AI-Powered Urban Intelligence</a:t>
            </a:r>
          </a:p>
          <a:p>
            <a:pPr>
              <a:lnSpc>
                <a:spcPct val="112000"/>
              </a:lnSpc>
              <a:spcAft>
                <a:spcPts val="700"/>
              </a:spcAft>
              <a:defRPr sz="3000" b="0">
                <a:solidFill>
                  <a:srgbClr val="E8EDF5"/>
                </a:solidFill>
                <a:latin typeface="Arial"/>
              </a:defRPr>
            </a:pPr>
            <a:r>
              <a:t>&amp; Blockchain Analytics</a:t>
            </a:r>
          </a:p>
        </p:txBody>
      </p:sp>
      <p:cxnSp>
        <p:nvCxnSpPr>
          <p:cNvPr id="4" name="Connector 3"/>
          <p:cNvCxnSpPr/>
          <p:nvPr/>
        </p:nvCxnSpPr>
        <p:spPr>
          <a:xfrm>
            <a:off x="685800" y="4343400"/>
            <a:ext cx="2971800" cy="0"/>
          </a:xfrm>
          <a:prstGeom prst="line">
            <a:avLst/>
          </a:prstGeom>
          <a:ln w="38100">
            <a:solidFill>
              <a:srgbClr val="B7A5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4709160"/>
            <a:ext cx="9692640" cy="100584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Predict Demand. Optimize Supply.</a:t>
            </a:r>
          </a:p>
          <a:p>
            <a:pPr>
              <a:lnSpc>
                <a:spcPct val="112000"/>
              </a:lnSpc>
              <a:spcAft>
                <a:spcPts val="700"/>
              </a:spcAft>
              <a:defRPr sz="2300" b="0">
                <a:solidFill>
                  <a:srgbClr val="E8EDF5"/>
                </a:solidFill>
                <a:latin typeface="Arial"/>
              </a:defRPr>
            </a:pPr>
            <a:r>
              <a:t>Build Smarter Cities.</a:t>
            </a:r>
          </a:p>
        </p:txBody>
      </p:sp>
      <p:sp>
        <p:nvSpPr>
          <p:cNvPr id="6" name="TextBox 5"/>
          <p:cNvSpPr txBox="1"/>
          <p:nvPr/>
        </p:nvSpPr>
        <p:spPr>
          <a:xfrm>
            <a:off x="685800" y="6172200"/>
            <a:ext cx="10515600" cy="274320"/>
          </a:xfrm>
          <a:prstGeom prst="rect">
            <a:avLst/>
          </a:prstGeom>
          <a:noFill/>
        </p:spPr>
        <p:txBody>
          <a:bodyPr wrap="square" lIns="0" rIns="0" tIns="0" bIns="0">
            <a:spAutoFit/>
          </a:bodyPr>
          <a:lstStyle/>
          <a:p>
            <a:pPr>
              <a:lnSpc>
                <a:spcPct val="112000"/>
              </a:lnSpc>
              <a:spcAft>
                <a:spcPts val="700"/>
              </a:spcAft>
              <a:defRPr sz="1400" b="0">
                <a:solidFill>
                  <a:srgbClr val="A6B4C9"/>
                </a:solidFill>
                <a:latin typeface="Arial"/>
              </a:defRPr>
            </a:pPr>
            <a:r>
              <a:t>https://github.com/manikantbindass/CityPulse</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One-minute project overview</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02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Urban evidence with geography, time and provenance</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Forecasts and constrained scenarios, with explicit limits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 working local/CI platform; no production claim</a:t>
            </a: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Urban supply and demand problem</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03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Different units and time windows distort comparisons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Missing observations can look like zero</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 recommendation can lose its source and assumptions</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Limits of disconnected analysis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04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GIS explains where; a notebook predicts what may happen</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An allocation script needs policy constraints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Exports often need a reconstructable evidence trail</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CityPulse proposed solution</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05 / 33</a:t>
            </a:r>
          </a:p>
        </p:txBody>
      </p:sp>
      <p:sp>
        <p:nvSpPr>
          <p:cNvPr id="6" name="TextBox 5"/>
          <p:cNvSpPr txBox="1"/>
          <p:nvPr/>
        </p:nvSpPr>
        <p:spPr>
          <a:xfrm>
            <a:off x="640080" y="1691640"/>
            <a:ext cx="10789920" cy="64008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Observe compatible records</a:t>
            </a:r>
          </a:p>
        </p:txBody>
      </p:sp>
      <p:sp>
        <p:nvSpPr>
          <p:cNvPr id="7" name="TextBox 6"/>
          <p:cNvSpPr txBox="1"/>
          <p:nvPr/>
        </p:nvSpPr>
        <p:spPr>
          <a:xfrm>
            <a:off x="64008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01</a:t>
            </a:r>
          </a:p>
        </p:txBody>
      </p:sp>
      <p:sp>
        <p:nvSpPr>
          <p:cNvPr id="8" name="TextBox 7"/>
          <p:cNvSpPr txBox="1"/>
          <p:nvPr/>
        </p:nvSpPr>
        <p:spPr>
          <a:xfrm>
            <a:off x="64008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Observe</a:t>
            </a:r>
          </a:p>
        </p:txBody>
      </p:sp>
      <p:sp>
        <p:nvSpPr>
          <p:cNvPr id="9" name="TextBox 8"/>
          <p:cNvSpPr txBox="1"/>
          <p:nvPr/>
        </p:nvSpPr>
        <p:spPr>
          <a:xfrm>
            <a:off x="64008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Compatible evidence</a:t>
            </a:r>
          </a:p>
        </p:txBody>
      </p:sp>
      <p:cxnSp>
        <p:nvCxnSpPr>
          <p:cNvPr id="10" name="Connector 9"/>
          <p:cNvCxnSpPr/>
          <p:nvPr/>
        </p:nvCxnSpPr>
        <p:spPr>
          <a:xfrm>
            <a:off x="301752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472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02</a:t>
            </a:r>
          </a:p>
        </p:txBody>
      </p:sp>
      <p:sp>
        <p:nvSpPr>
          <p:cNvPr id="12" name="TextBox 11"/>
          <p:cNvSpPr txBox="1"/>
          <p:nvPr/>
        </p:nvSpPr>
        <p:spPr>
          <a:xfrm>
            <a:off x="347472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Forecast</a:t>
            </a:r>
          </a:p>
        </p:txBody>
      </p:sp>
      <p:sp>
        <p:nvSpPr>
          <p:cNvPr id="13" name="TextBox 12"/>
          <p:cNvSpPr txBox="1"/>
          <p:nvPr/>
        </p:nvSpPr>
        <p:spPr>
          <a:xfrm>
            <a:off x="347472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Named methods</a:t>
            </a:r>
          </a:p>
        </p:txBody>
      </p:sp>
      <p:cxnSp>
        <p:nvCxnSpPr>
          <p:cNvPr id="14" name="Connector 13"/>
          <p:cNvCxnSpPr/>
          <p:nvPr/>
        </p:nvCxnSpPr>
        <p:spPr>
          <a:xfrm>
            <a:off x="585216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0936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03</a:t>
            </a:r>
          </a:p>
        </p:txBody>
      </p:sp>
      <p:sp>
        <p:nvSpPr>
          <p:cNvPr id="16" name="TextBox 15"/>
          <p:cNvSpPr txBox="1"/>
          <p:nvPr/>
        </p:nvSpPr>
        <p:spPr>
          <a:xfrm>
            <a:off x="630936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Simulate</a:t>
            </a:r>
          </a:p>
        </p:txBody>
      </p:sp>
      <p:sp>
        <p:nvSpPr>
          <p:cNvPr id="17" name="TextBox 16"/>
          <p:cNvSpPr txBox="1"/>
          <p:nvPr/>
        </p:nvSpPr>
        <p:spPr>
          <a:xfrm>
            <a:off x="630936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Explicit constraints</a:t>
            </a:r>
          </a:p>
        </p:txBody>
      </p:sp>
      <p:cxnSp>
        <p:nvCxnSpPr>
          <p:cNvPr id="18" name="Connector 17"/>
          <p:cNvCxnSpPr/>
          <p:nvPr/>
        </p:nvCxnSpPr>
        <p:spPr>
          <a:xfrm>
            <a:off x="868680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04</a:t>
            </a:r>
          </a:p>
        </p:txBody>
      </p:sp>
      <p:sp>
        <p:nvSpPr>
          <p:cNvPr id="20" name="TextBox 19"/>
          <p:cNvSpPr txBox="1"/>
          <p:nvPr/>
        </p:nvSpPr>
        <p:spPr>
          <a:xfrm>
            <a:off x="914400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Verify</a:t>
            </a:r>
          </a:p>
        </p:txBody>
      </p:sp>
      <p:sp>
        <p:nvSpPr>
          <p:cNvPr id="21" name="TextBox 20"/>
          <p:cNvSpPr txBox="1"/>
          <p:nvPr/>
        </p:nvSpPr>
        <p:spPr>
          <a:xfrm>
            <a:off x="914400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Digest and provenance</a:t>
            </a:r>
          </a:p>
        </p:txBody>
      </p:sp>
      <p:sp>
        <p:nvSpPr>
          <p:cNvPr id="22" name="TextBox 21"/>
          <p:cNvSpPr txBox="1"/>
          <p:nvPr/>
        </p:nvSpPr>
        <p:spPr>
          <a:xfrm>
            <a:off x="640080" y="5669280"/>
            <a:ext cx="10698480" cy="457200"/>
          </a:xfrm>
          <a:prstGeom prst="rect">
            <a:avLst/>
          </a:prstGeom>
          <a:noFill/>
        </p:spPr>
        <p:txBody>
          <a:bodyPr wrap="square" lIns="0" rIns="0" tIns="0" bIns="0">
            <a:spAutoFit/>
          </a:bodyPr>
          <a:lstStyle/>
          <a:p>
            <a:pPr>
              <a:lnSpc>
                <a:spcPct val="112000"/>
              </a:lnSpc>
              <a:spcAft>
                <a:spcPts val="700"/>
              </a:spcAft>
              <a:defRPr sz="1800" b="0">
                <a:solidFill>
                  <a:srgbClr val="B7A5FF"/>
                </a:solidFill>
                <a:latin typeface="Arial"/>
              </a:defRPr>
            </a:pPr>
            <a:r>
              <a:t>Human review remains the decision boundary</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Product vision and objectives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06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Reconstruct a result from source records and fingerprints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Keep authorization independent of UI and model instructions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Measure methods against transparent baselines</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Users and business applications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07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Analysts and planners: compare evidence and coverage</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Businesses and providers: inspect and publish permitted data</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Administrators and citizens: role-appropriate access</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Core features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08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Geospatial registry, ingestion and historical analytics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Forecast jobs, opportunity scores and saved scenarios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PulseAI evidence and local content attestations</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Working product demonstration</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09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Actual local application</a:t>
            </a:r>
          </a:p>
        </p:txBody>
      </p:sp>
      <p:sp>
        <p:nvSpPr>
          <p:cNvPr id="8" name="TextBox 7"/>
          <p:cNvSpPr txBox="1"/>
          <p:nvPr/>
        </p:nvSpPr>
        <p:spPr>
          <a:xfrm>
            <a:off x="594360" y="306324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06324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Clearly labeled synthetic data</a:t>
            </a:r>
          </a:p>
        </p:txBody>
      </p:sp>
      <p:pic>
        <p:nvPicPr>
          <p:cNvPr id="10" name="Picture 9" descr="readme-dashboard.png"/>
          <p:cNvPicPr>
            <a:picLocks noChangeAspect="1"/>
          </p:cNvPicPr>
          <p:nvPr/>
        </p:nvPicPr>
        <p:blipFill>
          <a:blip r:embed="rId3"/>
          <a:stretch>
            <a:fillRect/>
          </a:stretch>
        </p:blipFill>
        <p:spPr>
          <a:xfrm>
            <a:off x="4569256" y="1645920"/>
            <a:ext cx="6452006" cy="4480560"/>
          </a:xfrm>
          <a:prstGeom prst="rect">
            <a:avLst/>
          </a:prstGeom>
        </p:spPr>
      </p:pic>
    </p:spTree>
  </p:cSld>
  <p:clrMapOvr>
    <a:masterClrMapping/>
  </p:clrMapOvr>
  <p:transition spd="fast">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Technology stack</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10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Next.js + TypeScript for the web workspace</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Java 21 / Spring Boot 4 for canonical business operations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FastAPI / SciPy / scikit-learn for numerical isolation</a:t>
            </a:r>
          </a:p>
        </p:txBody>
      </p:sp>
    </p:spTree>
  </p:cSld>
  <p:clrMapOvr>
    <a:masterClrMapping/>
  </p:clrMapOvr>
  <p:transition spd="fast">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System architecture</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11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Browser identity resolves at the Next server boundary</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Spring authorizes and persists; Python computes</a:t>
            </a:r>
          </a:p>
        </p:txBody>
      </p:sp>
      <p:cxnSp>
        <p:nvCxnSpPr>
          <p:cNvPr id="10" name="Connector 9"/>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51392"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85531"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143500" y="2610611"/>
            <a:ext cx="2542031"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309359"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143500" y="2642615"/>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43500" y="2642615"/>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27564" y="2642615"/>
            <a:ext cx="0" cy="128017"/>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143500"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143500" y="3643884"/>
            <a:ext cx="0"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309359" y="4160520"/>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iagram label: Browser"/>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Browser</a:t>
            </a:r>
          </a:p>
        </p:txBody>
      </p:sp>
      <p:sp>
        <p:nvSpPr>
          <p:cNvPr id="25" name="Rectangle 24"/>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iagram label: Next.js BFF"/>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Next.js BFF</a:t>
            </a:r>
          </a:p>
        </p:txBody>
      </p:sp>
      <p:sp>
        <p:nvSpPr>
          <p:cNvPr id="27" name="Rectangle 26"/>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 label: OIDC provider"/>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OIDC provider</a:t>
            </a:r>
          </a:p>
        </p:txBody>
      </p:sp>
      <p:sp>
        <p:nvSpPr>
          <p:cNvPr id="29" name="Rectangle 28"/>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gram label: Spring API"/>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Spring API</a:t>
            </a:r>
          </a:p>
        </p:txBody>
      </p:sp>
      <p:sp>
        <p:nvSpPr>
          <p:cNvPr id="31" name="Rectangle 30"/>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iagram label: PostgreSQL/PostGIS"/>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PostgreSQL / PostGIS</a:t>
            </a:r>
          </a:p>
        </p:txBody>
      </p:sp>
      <p:sp>
        <p:nvSpPr>
          <p:cNvPr id="33" name="Rectangle 32"/>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iagram label: Redis"/>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Redis</a:t>
            </a:r>
          </a:p>
        </p:txBody>
      </p:sp>
      <p:sp>
        <p:nvSpPr>
          <p:cNvPr id="35" name="Rectangle 34"/>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gram label: FastAPI / SciPy"/>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FastAPI  /  SciPy</a:t>
            </a:r>
          </a:p>
        </p:txBody>
      </p:sp>
      <p:sp>
        <p:nvSpPr>
          <p:cNvPr id="37" name="Rectangle 36"/>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iagram label: AI state and models"/>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AI state and models</a:t>
            </a:r>
          </a:p>
        </p:txBody>
      </p:sp>
      <p:sp>
        <p:nvSpPr>
          <p:cNvPr id="39" name="Rectangle 38"/>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iagram label: Local EVM"/>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Local EVM</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Frontend architecture and design</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12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Typed routes, query state and local preferences</a:t>
            </a:r>
          </a:p>
        </p:txBody>
      </p:sp>
      <p:sp>
        <p:nvSpPr>
          <p:cNvPr id="8" name="TextBox 7"/>
          <p:cNvSpPr txBox="1"/>
          <p:nvPr/>
        </p:nvSpPr>
        <p:spPr>
          <a:xfrm>
            <a:off x="594360" y="306324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06324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Charts/maps with table and keyboard alternatives</a:t>
            </a:r>
          </a:p>
        </p:txBody>
      </p:sp>
      <p:sp>
        <p:nvSpPr>
          <p:cNvPr id="10" name="TextBox 9"/>
          <p:cNvSpPr txBox="1"/>
          <p:nvPr/>
        </p:nvSpPr>
        <p:spPr>
          <a:xfrm>
            <a:off x="594360" y="4297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29768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One theme for workspace, portals and notifications</a:t>
            </a:r>
          </a:p>
        </p:txBody>
      </p:sp>
      <p:pic>
        <p:nvPicPr>
          <p:cNvPr id="12" name="Picture 11" descr="settings-dark.png"/>
          <p:cNvPicPr>
            <a:picLocks noChangeAspect="1"/>
          </p:cNvPicPr>
          <p:nvPr/>
        </p:nvPicPr>
        <p:blipFill>
          <a:blip r:embed="rId3"/>
          <a:stretch>
            <a:fillRect/>
          </a:stretch>
        </p:blipFill>
        <p:spPr>
          <a:xfrm>
            <a:off x="4569256" y="1645920"/>
            <a:ext cx="6452006" cy="4480560"/>
          </a:xfrm>
          <a:prstGeom prst="rect">
            <a:avLst/>
          </a:prstGeom>
        </p:spPr>
      </p:pic>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Java Spring Boot backend</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13 / 33</a:t>
            </a:r>
          </a:p>
        </p:txBody>
      </p:sp>
      <p:sp>
        <p:nvSpPr>
          <p:cNvPr id="6" name="TextBox 5"/>
          <p:cNvSpPr txBox="1"/>
          <p:nvPr/>
        </p:nvSpPr>
        <p:spPr>
          <a:xfrm>
            <a:off x="640080" y="1691640"/>
            <a:ext cx="10789920" cy="64008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Controllers validate; services enforce policy and transactions</a:t>
            </a:r>
          </a:p>
        </p:txBody>
      </p:sp>
      <p:sp>
        <p:nvSpPr>
          <p:cNvPr id="7" name="TextBox 6"/>
          <p:cNvSpPr txBox="1"/>
          <p:nvPr/>
        </p:nvSpPr>
        <p:spPr>
          <a:xfrm>
            <a:off x="64008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01</a:t>
            </a:r>
          </a:p>
        </p:txBody>
      </p:sp>
      <p:sp>
        <p:nvSpPr>
          <p:cNvPr id="8" name="TextBox 7"/>
          <p:cNvSpPr txBox="1"/>
          <p:nvPr/>
        </p:nvSpPr>
        <p:spPr>
          <a:xfrm>
            <a:off x="64008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Authenticate</a:t>
            </a:r>
          </a:p>
        </p:txBody>
      </p:sp>
      <p:sp>
        <p:nvSpPr>
          <p:cNvPr id="9" name="TextBox 8"/>
          <p:cNvSpPr txBox="1"/>
          <p:nvPr/>
        </p:nvSpPr>
        <p:spPr>
          <a:xfrm>
            <a:off x="64008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Token and membership</a:t>
            </a:r>
          </a:p>
        </p:txBody>
      </p:sp>
      <p:cxnSp>
        <p:nvCxnSpPr>
          <p:cNvPr id="10" name="Connector 9"/>
          <p:cNvCxnSpPr/>
          <p:nvPr/>
        </p:nvCxnSpPr>
        <p:spPr>
          <a:xfrm>
            <a:off x="301752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472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02</a:t>
            </a:r>
          </a:p>
        </p:txBody>
      </p:sp>
      <p:sp>
        <p:nvSpPr>
          <p:cNvPr id="12" name="TextBox 11"/>
          <p:cNvSpPr txBox="1"/>
          <p:nvPr/>
        </p:nvSpPr>
        <p:spPr>
          <a:xfrm>
            <a:off x="347472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Authorize</a:t>
            </a:r>
          </a:p>
        </p:txBody>
      </p:sp>
      <p:sp>
        <p:nvSpPr>
          <p:cNvPr id="13" name="TextBox 12"/>
          <p:cNvSpPr txBox="1"/>
          <p:nvPr/>
        </p:nvSpPr>
        <p:spPr>
          <a:xfrm>
            <a:off x="347472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Tenant and scopes</a:t>
            </a:r>
          </a:p>
        </p:txBody>
      </p:sp>
      <p:cxnSp>
        <p:nvCxnSpPr>
          <p:cNvPr id="14" name="Connector 13"/>
          <p:cNvCxnSpPr/>
          <p:nvPr/>
        </p:nvCxnSpPr>
        <p:spPr>
          <a:xfrm>
            <a:off x="585216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0936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03</a:t>
            </a:r>
          </a:p>
        </p:txBody>
      </p:sp>
      <p:sp>
        <p:nvSpPr>
          <p:cNvPr id="16" name="TextBox 15"/>
          <p:cNvSpPr txBox="1"/>
          <p:nvPr/>
        </p:nvSpPr>
        <p:spPr>
          <a:xfrm>
            <a:off x="630936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Transact</a:t>
            </a:r>
          </a:p>
        </p:txBody>
      </p:sp>
      <p:sp>
        <p:nvSpPr>
          <p:cNvPr id="17" name="TextBox 16"/>
          <p:cNvSpPr txBox="1"/>
          <p:nvPr/>
        </p:nvSpPr>
        <p:spPr>
          <a:xfrm>
            <a:off x="630936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Validate and persist</a:t>
            </a:r>
          </a:p>
        </p:txBody>
      </p:sp>
      <p:cxnSp>
        <p:nvCxnSpPr>
          <p:cNvPr id="18" name="Connector 17"/>
          <p:cNvCxnSpPr/>
          <p:nvPr/>
        </p:nvCxnSpPr>
        <p:spPr>
          <a:xfrm>
            <a:off x="868680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04</a:t>
            </a:r>
          </a:p>
        </p:txBody>
      </p:sp>
      <p:sp>
        <p:nvSpPr>
          <p:cNvPr id="20" name="TextBox 19"/>
          <p:cNvSpPr txBox="1"/>
          <p:nvPr/>
        </p:nvSpPr>
        <p:spPr>
          <a:xfrm>
            <a:off x="914400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Explain</a:t>
            </a:r>
          </a:p>
        </p:txBody>
      </p:sp>
      <p:sp>
        <p:nvSpPr>
          <p:cNvPr id="21" name="TextBox 20"/>
          <p:cNvSpPr txBox="1"/>
          <p:nvPr/>
        </p:nvSpPr>
        <p:spPr>
          <a:xfrm>
            <a:off x="914400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Safe typed response</a:t>
            </a:r>
          </a:p>
        </p:txBody>
      </p:sp>
      <p:sp>
        <p:nvSpPr>
          <p:cNvPr id="22" name="TextBox 21"/>
          <p:cNvSpPr txBox="1"/>
          <p:nvPr/>
        </p:nvSpPr>
        <p:spPr>
          <a:xfrm>
            <a:off x="640080" y="5669280"/>
            <a:ext cx="10698480" cy="457200"/>
          </a:xfrm>
          <a:prstGeom prst="rect">
            <a:avLst/>
          </a:prstGeom>
          <a:noFill/>
        </p:spPr>
        <p:txBody>
          <a:bodyPr wrap="square" lIns="0" rIns="0" tIns="0" bIns="0">
            <a:spAutoFit/>
          </a:bodyPr>
          <a:lstStyle/>
          <a:p>
            <a:pPr>
              <a:lnSpc>
                <a:spcPct val="112000"/>
              </a:lnSpc>
              <a:spcAft>
                <a:spcPts val="700"/>
              </a:spcAft>
              <a:defRPr sz="1800" b="0">
                <a:solidFill>
                  <a:srgbClr val="B7A5FF"/>
                </a:solidFill>
                <a:latin typeface="Arial"/>
              </a:defRPr>
            </a:pPr>
            <a:r>
              <a:t>Human review remains the decision boundary</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Database and PostGIS architecture</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14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WGS84 boundaries and longitude-first points</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Separate flow observations, stock snapshots and provenance</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Composite references protect sensitive tenant relationships</a:t>
            </a:r>
          </a:p>
        </p:txBody>
      </p:sp>
      <p:cxnSp>
        <p:nvCxnSpPr>
          <p:cNvPr id="12" name="Connector 11"/>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51392"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43500"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43500" y="2610611"/>
            <a:ext cx="0"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51392"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143500" y="2642615"/>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143500" y="2642615"/>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227564" y="2642615"/>
            <a:ext cx="0" cy="128017"/>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43500" y="2450591"/>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849624" y="2578608"/>
            <a:ext cx="1293876"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849624" y="2578608"/>
            <a:ext cx="0" cy="213055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49624" y="4709159"/>
            <a:ext cx="1293876"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43500" y="4709159"/>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43500" y="2450591"/>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849624" y="2578608"/>
            <a:ext cx="1293876"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849624" y="2578608"/>
            <a:ext cx="0" cy="213055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849624" y="4709159"/>
            <a:ext cx="3835907"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685531" y="4709159"/>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3500" y="2450591"/>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49624" y="2578608"/>
            <a:ext cx="1293876"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849624" y="2578608"/>
            <a:ext cx="0" cy="109728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849624" y="3675888"/>
            <a:ext cx="1293876"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43500" y="3675888"/>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143500" y="2450591"/>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3849624" y="2578608"/>
            <a:ext cx="1293876"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849624" y="2578608"/>
            <a:ext cx="0" cy="109728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849624" y="3675888"/>
            <a:ext cx="6377940"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227564" y="3675888"/>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gram label: tenant / user_account"/>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tenant  /  user_account</a:t>
            </a:r>
          </a:p>
        </p:txBody>
      </p:sp>
      <p:sp>
        <p:nvSpPr>
          <p:cNvPr id="43" name="Rectangle 42"/>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iagram label: tenant_city / city"/>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tenant_city  /  city</a:t>
            </a:r>
          </a:p>
        </p:txBody>
      </p:sp>
      <p:sp>
        <p:nvSpPr>
          <p:cNvPr id="45" name="Rectangle 44"/>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iagram label: zone / geographic_area"/>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zone  /</a:t>
            </a:r>
          </a:p>
          <a:p>
            <a:pPr>
              <a:lnSpc>
                <a:spcPct val="112000"/>
              </a:lnSpc>
              <a:spcAft>
                <a:spcPts val="700"/>
              </a:spcAft>
              <a:defRPr sz="1500" b="1">
                <a:solidFill>
                  <a:srgbClr val="E8EDF5"/>
                </a:solidFill>
                <a:latin typeface="Arial"/>
              </a:defRPr>
            </a:pPr>
            <a:r>
              <a:t>geographic_area</a:t>
            </a:r>
          </a:p>
        </p:txBody>
      </p:sp>
      <p:sp>
        <p:nvSpPr>
          <p:cNvPr id="47" name="Rectangle 46"/>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iagram label: business"/>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business</a:t>
            </a:r>
          </a:p>
        </p:txBody>
      </p:sp>
      <p:sp>
        <p:nvSpPr>
          <p:cNvPr id="49" name="Rectangle 48"/>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iagram label: source_metadata"/>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source_metadata</a:t>
            </a:r>
          </a:p>
        </p:txBody>
      </p:sp>
      <p:sp>
        <p:nvSpPr>
          <p:cNvPr id="51" name="Rectangle 50"/>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iagram label: observation / inventory"/>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observation  /</a:t>
            </a:r>
          </a:p>
          <a:p>
            <a:pPr>
              <a:lnSpc>
                <a:spcPct val="112000"/>
              </a:lnSpc>
              <a:spcAft>
                <a:spcPts val="700"/>
              </a:spcAft>
              <a:defRPr sz="1500" b="1">
                <a:solidFill>
                  <a:srgbClr val="E8EDF5"/>
                </a:solidFill>
                <a:latin typeface="Arial"/>
              </a:defRPr>
            </a:pPr>
            <a:r>
              <a:t>inventory</a:t>
            </a:r>
          </a:p>
        </p:txBody>
      </p:sp>
      <p:sp>
        <p:nvSpPr>
          <p:cNvPr id="53" name="Rectangle 52"/>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Diagram label: operation_receipt"/>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operation_receipt</a:t>
            </a:r>
          </a:p>
        </p:txBody>
      </p:sp>
      <p:sp>
        <p:nvSpPr>
          <p:cNvPr id="55" name="Rectangle 54"/>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Diagram label: forecast_result"/>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forecast_result</a:t>
            </a:r>
          </a:p>
        </p:txBody>
      </p:sp>
      <p:sp>
        <p:nvSpPr>
          <p:cNvPr id="57" name="Rectangle 56"/>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Diagram label: audit_event"/>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audit_event</a:t>
            </a:r>
          </a:p>
        </p:txBody>
      </p:sp>
      <p:sp>
        <p:nvSpPr>
          <p:cNvPr id="59" name="Rectangle 58"/>
          <p:cNvSpPr/>
          <p:nvPr/>
        </p:nvSpPr>
        <p:spPr>
          <a:xfrm>
            <a:off x="3977639" y="4837175"/>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Diagram label: pulseai_session/message"/>
          <p:cNvSpPr txBox="1"/>
          <p:nvPr/>
        </p:nvSpPr>
        <p:spPr>
          <a:xfrm>
            <a:off x="4087368" y="4928615"/>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pulseai_session /</a:t>
            </a:r>
          </a:p>
          <a:p>
            <a:pPr>
              <a:lnSpc>
                <a:spcPct val="112000"/>
              </a:lnSpc>
              <a:spcAft>
                <a:spcPts val="700"/>
              </a:spcAft>
              <a:defRPr sz="1500" b="1">
                <a:solidFill>
                  <a:srgbClr val="E8EDF5"/>
                </a:solidFill>
                <a:latin typeface="Arial"/>
              </a:defRPr>
            </a:pPr>
            <a:r>
              <a:t>message</a:t>
            </a:r>
          </a:p>
        </p:txBody>
      </p:sp>
      <p:sp>
        <p:nvSpPr>
          <p:cNvPr id="61" name="Rectangle 60"/>
          <p:cNvSpPr/>
          <p:nvPr/>
        </p:nvSpPr>
        <p:spPr>
          <a:xfrm>
            <a:off x="6519671" y="4837175"/>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Diagram label: decision_snapshot/scenario"/>
          <p:cNvSpPr txBox="1"/>
          <p:nvPr/>
        </p:nvSpPr>
        <p:spPr>
          <a:xfrm>
            <a:off x="6629399" y="4928615"/>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decision_snapshot /</a:t>
            </a:r>
          </a:p>
          <a:p>
            <a:pPr>
              <a:lnSpc>
                <a:spcPct val="112000"/>
              </a:lnSpc>
              <a:spcAft>
                <a:spcPts val="700"/>
              </a:spcAft>
              <a:defRPr sz="1500" b="1">
                <a:solidFill>
                  <a:srgbClr val="E8EDF5"/>
                </a:solidFill>
                <a:latin typeface="Arial"/>
              </a:defRPr>
            </a:pPr>
            <a:r>
              <a:t>scenario</a:t>
            </a:r>
          </a:p>
        </p:txBody>
      </p:sp>
      <p:sp>
        <p:nvSpPr>
          <p:cNvPr id="63" name="Rectangle 62"/>
          <p:cNvSpPr/>
          <p:nvPr/>
        </p:nvSpPr>
        <p:spPr>
          <a:xfrm>
            <a:off x="9061704" y="4837175"/>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iagram label: verification_request"/>
          <p:cNvSpPr txBox="1"/>
          <p:nvPr/>
        </p:nvSpPr>
        <p:spPr>
          <a:xfrm>
            <a:off x="9171432" y="4928615"/>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verification_request</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Data ingestion and processing</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15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CSV, JSON and Point GeoJSON</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Validate, normalize, deduplicate and score quality</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Checkpoint locally; publish with scoped replay receipts</a:t>
            </a:r>
          </a:p>
        </p:txBody>
      </p:sp>
      <p:cxnSp>
        <p:nvCxnSpPr>
          <p:cNvPr id="12" name="Connector 11"/>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51392"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27564"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5143500" y="2610611"/>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09359"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51392"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227564"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143500" y="3643884"/>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85531" y="2450591"/>
            <a:ext cx="0" cy="128017"/>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849624" y="2578608"/>
            <a:ext cx="3835907"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49624" y="2578608"/>
            <a:ext cx="0" cy="109728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849624" y="3675888"/>
            <a:ext cx="3835907"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685531" y="3675888"/>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143500" y="3675888"/>
            <a:ext cx="0" cy="128016"/>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43500" y="3675888"/>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227564" y="3675888"/>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iagram label: CSV / JSON / GeoJSON"/>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CSV  /  JSON  /</a:t>
            </a:r>
          </a:p>
          <a:p>
            <a:pPr>
              <a:lnSpc>
                <a:spcPct val="112000"/>
              </a:lnSpc>
              <a:spcAft>
                <a:spcPts val="700"/>
              </a:spcAft>
              <a:defRPr sz="1500" b="1">
                <a:solidFill>
                  <a:srgbClr val="E8EDF5"/>
                </a:solidFill>
                <a:latin typeface="Arial"/>
              </a:defRPr>
            </a:pPr>
            <a:r>
              <a:t>GeoJSON</a:t>
            </a:r>
          </a:p>
        </p:txBody>
      </p:sp>
      <p:sp>
        <p:nvSpPr>
          <p:cNvPr id="32" name="Rectangle 31"/>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iagram label: Parse and validate"/>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Parse and validate</a:t>
            </a:r>
          </a:p>
        </p:txBody>
      </p:sp>
      <p:sp>
        <p:nvSpPr>
          <p:cNvPr id="34" name="Rectangle 33"/>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iagram label: Clean and normalize"/>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Clean and normalize</a:t>
            </a:r>
          </a:p>
        </p:txBody>
      </p:sp>
      <p:sp>
        <p:nvSpPr>
          <p:cNvPr id="36" name="Rectangle 35"/>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gram label: Deduplicate / quality"/>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Deduplicate  /  quality</a:t>
            </a:r>
          </a:p>
        </p:txBody>
      </p:sp>
      <p:sp>
        <p:nvSpPr>
          <p:cNvPr id="38" name="Rectangle 37"/>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iagram label: Durable local output"/>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Durable local output</a:t>
            </a:r>
          </a:p>
        </p:txBody>
      </p:sp>
      <p:sp>
        <p:nvSpPr>
          <p:cNvPr id="40" name="Rectangle 39"/>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iagram label: API publication"/>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API publication</a:t>
            </a:r>
          </a:p>
        </p:txBody>
      </p:sp>
      <p:sp>
        <p:nvSpPr>
          <p:cNvPr id="42" name="Rectangle 41"/>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iagram label: PostGIS"/>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PostGIS</a:t>
            </a:r>
          </a:p>
        </p:txBody>
      </p:sp>
      <p:sp>
        <p:nvSpPr>
          <p:cNvPr id="44" name="Rectangle 43"/>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iagram label: Reject / dead letter"/>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Reject  /  dead letter</a:t>
            </a:r>
          </a:p>
        </p:txBody>
      </p:sp>
      <p:sp>
        <p:nvSpPr>
          <p:cNvPr id="46" name="Rectangle 45"/>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iagram label: Analytical queries"/>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Analytical queries</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AI/ML forecasting workflow</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16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Past-only lag and weekday features</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Chronological train / validation / test</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Versioned JSON artifacts, fallback and rollback</a:t>
            </a:r>
          </a:p>
        </p:txBody>
      </p:sp>
      <p:cxnSp>
        <p:nvCxnSpPr>
          <p:cNvPr id="12" name="Connector 11"/>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51392"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27564"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5143500" y="2610611"/>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09359"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51392"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685531"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143500" y="3643884"/>
            <a:ext cx="2542031"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309359" y="4160520"/>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851392" y="4160520"/>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gram label: Synthetic daily rows"/>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Synthetic daily rows</a:t>
            </a:r>
          </a:p>
        </p:txBody>
      </p:sp>
      <p:sp>
        <p:nvSpPr>
          <p:cNvPr id="26" name="Rectangle 25"/>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iagram label: Chronological split"/>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Chronological split</a:t>
            </a:r>
          </a:p>
        </p:txBody>
      </p:sp>
      <p:sp>
        <p:nvSpPr>
          <p:cNvPr id="28" name="Rectangle 27"/>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iagram label: Past-only features"/>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Past-only features</a:t>
            </a:r>
          </a:p>
        </p:txBody>
      </p:sp>
      <p:sp>
        <p:nvSpPr>
          <p:cNvPr id="30" name="Rectangle 29"/>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iagram label: Four candidates"/>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Four candidates</a:t>
            </a:r>
          </a:p>
        </p:txBody>
      </p:sp>
      <p:sp>
        <p:nvSpPr>
          <p:cNvPr id="32" name="Rectangle 31"/>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iagram label: Validation selection"/>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Validation selection</a:t>
            </a:r>
          </a:p>
        </p:txBody>
      </p:sp>
      <p:sp>
        <p:nvSpPr>
          <p:cNvPr id="34" name="Rectangle 33"/>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iagram label: Held-out one-step test"/>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Held-out one-step test</a:t>
            </a:r>
          </a:p>
        </p:txBody>
      </p:sp>
      <p:sp>
        <p:nvSpPr>
          <p:cNvPr id="36" name="Rectangle 35"/>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gram label: Versioned JSON artifact"/>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Versioned JSON artifact</a:t>
            </a:r>
          </a:p>
        </p:txBody>
      </p:sp>
      <p:sp>
        <p:nvSpPr>
          <p:cNvPr id="38" name="Rectangle 37"/>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iagram label: Bounded inference"/>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Bounded inference</a:t>
            </a:r>
          </a:p>
        </p:txBody>
      </p:sp>
      <p:sp>
        <p:nvSpPr>
          <p:cNvPr id="40" name="Rectangle 39"/>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iagram label: Diagnostics / review"/>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Diagnostics  /  review</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Actual model evaluation</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17 / 33</a:t>
            </a:r>
          </a:p>
        </p:txBody>
      </p:sp>
      <p:graphicFrame>
        <p:nvGraphicFramePr>
          <p:cNvPr id="6" name="Chart 5"/>
          <p:cNvGraphicFramePr>
            <a:graphicFrameLocks noGrp="1"/>
          </p:cNvGraphicFramePr>
          <p:nvPr/>
        </p:nvGraphicFramePr>
        <p:xfrm>
          <a:off x="640080" y="1874519"/>
          <a:ext cx="7863840" cy="3977639"/>
        </p:xfrm>
        <a:graphic>
          <a:graphicData uri="http://schemas.openxmlformats.org/drawingml/2006/chart">
            <c:chart xmlns:c="http://schemas.openxmlformats.org/drawingml/2006/chart" r:id="rId3"/>
          </a:graphicData>
        </a:graphic>
      </p:graphicFrame>
      <p:sp>
        <p:nvSpPr>
          <p:cNvPr id="7" name="TextBox 6"/>
          <p:cNvSpPr txBox="1"/>
          <p:nvPr/>
        </p:nvSpPr>
        <p:spPr>
          <a:xfrm>
            <a:off x="8823960" y="2103120"/>
            <a:ext cx="2651760" cy="1463040"/>
          </a:xfrm>
          <a:prstGeom prst="rect">
            <a:avLst/>
          </a:prstGeom>
          <a:noFill/>
        </p:spPr>
        <p:txBody>
          <a:bodyPr wrap="square" lIns="0" rIns="0" tIns="0" bIns="0">
            <a:spAutoFit/>
          </a:bodyPr>
          <a:lstStyle/>
          <a:p>
            <a:pPr>
              <a:lnSpc>
                <a:spcPct val="112000"/>
              </a:lnSpc>
              <a:spcAft>
                <a:spcPts val="700"/>
              </a:spcAft>
              <a:defRPr sz="2600" b="1">
                <a:solidFill>
                  <a:srgbClr val="67E8F9"/>
                </a:solidFill>
                <a:latin typeface="Arial"/>
              </a:defRPr>
            </a:pPr>
            <a:r>
              <a:t>Synthetic</a:t>
            </a:r>
          </a:p>
          <a:p>
            <a:pPr>
              <a:lnSpc>
                <a:spcPct val="112000"/>
              </a:lnSpc>
              <a:spcAft>
                <a:spcPts val="700"/>
              </a:spcAft>
              <a:defRPr sz="2600" b="1">
                <a:solidFill>
                  <a:srgbClr val="67E8F9"/>
                </a:solidFill>
                <a:latin typeface="Arial"/>
              </a:defRPr>
            </a:pPr>
            <a:r>
              <a:t>held-out</a:t>
            </a:r>
          </a:p>
          <a:p>
            <a:pPr>
              <a:lnSpc>
                <a:spcPct val="112000"/>
              </a:lnSpc>
              <a:spcAft>
                <a:spcPts val="700"/>
              </a:spcAft>
              <a:defRPr sz="2600" b="1">
                <a:solidFill>
                  <a:srgbClr val="67E8F9"/>
                </a:solidFill>
                <a:latin typeface="Arial"/>
              </a:defRPr>
            </a:pPr>
            <a:r>
              <a:t>one-step MAE</a:t>
            </a:r>
          </a:p>
        </p:txBody>
      </p:sp>
      <p:sp>
        <p:nvSpPr>
          <p:cNvPr id="8" name="TextBox 7"/>
          <p:cNvSpPr txBox="1"/>
          <p:nvPr/>
        </p:nvSpPr>
        <p:spPr>
          <a:xfrm>
            <a:off x="8823960" y="3931920"/>
            <a:ext cx="2468880" cy="1143000"/>
          </a:xfrm>
          <a:prstGeom prst="rect">
            <a:avLst/>
          </a:prstGeom>
          <a:noFill/>
        </p:spPr>
        <p:txBody>
          <a:bodyPr wrap="square" lIns="0" rIns="0" tIns="0" bIns="0">
            <a:spAutoFit/>
          </a:bodyPr>
          <a:lstStyle/>
          <a:p>
            <a:pPr>
              <a:lnSpc>
                <a:spcPct val="112000"/>
              </a:lnSpc>
              <a:spcAft>
                <a:spcPts val="700"/>
              </a:spcAft>
              <a:defRPr sz="1800" b="0">
                <a:solidFill>
                  <a:srgbClr val="A6B4C9"/>
                </a:solidFill>
                <a:latin typeface="Arial"/>
              </a:defRPr>
            </a:pPr>
            <a:r>
              <a:t>Compare within segment.</a:t>
            </a:r>
          </a:p>
          <a:p>
            <a:pPr>
              <a:lnSpc>
                <a:spcPct val="112000"/>
              </a:lnSpc>
              <a:spcAft>
                <a:spcPts val="700"/>
              </a:spcAft>
              <a:defRPr sz="1800" b="0">
                <a:solidFill>
                  <a:srgbClr val="A6B4C9"/>
                </a:solidFill>
                <a:latin typeface="Arial"/>
              </a:defRPr>
            </a:pPr>
            <a:r>
              <a:t>No real-city accuracy claim.</a:t>
            </a:r>
          </a:p>
        </p:txBody>
      </p:sp>
      <p:sp>
        <p:nvSpPr>
          <p:cNvPr id="9" name="TextBox 8"/>
          <p:cNvSpPr txBox="1"/>
          <p:nvPr/>
        </p:nvSpPr>
        <p:spPr>
          <a:xfrm>
            <a:off x="685800" y="5989320"/>
            <a:ext cx="10789920" cy="274320"/>
          </a:xfrm>
          <a:prstGeom prst="rect">
            <a:avLst/>
          </a:prstGeom>
          <a:noFill/>
        </p:spPr>
        <p:txBody>
          <a:bodyPr wrap="square" lIns="0" rIns="0" tIns="0" bIns="0">
            <a:spAutoFit/>
          </a:bodyPr>
          <a:lstStyle/>
          <a:p>
            <a:pPr>
              <a:lnSpc>
                <a:spcPct val="112000"/>
              </a:lnSpc>
              <a:spcAft>
                <a:spcPts val="700"/>
              </a:spcAft>
              <a:defRPr sz="1300" b="0">
                <a:solidFill>
                  <a:srgbClr val="A6B4C9"/>
                </a:solidFill>
                <a:latin typeface="Arial"/>
              </a:defRPr>
            </a:pPr>
            <a:r>
              <a:t>AMS/BLR = Amsterdam/Bengaluru; C/N = central/north; G/M = groceries/mobility</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City maps and demand forecasts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18 / 33</a:t>
            </a:r>
          </a:p>
        </p:txBody>
      </p:sp>
      <p:pic>
        <p:nvPicPr>
          <p:cNvPr id="6" name="Picture 5" descr="explorer.png"/>
          <p:cNvPicPr>
            <a:picLocks noChangeAspect="1"/>
          </p:cNvPicPr>
          <p:nvPr/>
        </p:nvPicPr>
        <p:blipFill>
          <a:blip r:embed="rId3"/>
          <a:stretch>
            <a:fillRect/>
          </a:stretch>
        </p:blipFill>
        <p:spPr>
          <a:xfrm>
            <a:off x="640080" y="1998979"/>
            <a:ext cx="5303520" cy="3683000"/>
          </a:xfrm>
          <a:prstGeom prst="rect">
            <a:avLst/>
          </a:prstGeom>
        </p:spPr>
      </p:pic>
      <p:graphicFrame>
        <p:nvGraphicFramePr>
          <p:cNvPr id="7" name="Chart 6"/>
          <p:cNvGraphicFramePr>
            <a:graphicFrameLocks noGrp="1"/>
          </p:cNvGraphicFramePr>
          <p:nvPr/>
        </p:nvGraphicFramePr>
        <p:xfrm>
          <a:off x="6217920" y="1828800"/>
          <a:ext cx="5349240" cy="3794760"/>
        </p:xfrm>
        <a:graphic>
          <a:graphicData uri="http://schemas.openxmlformats.org/drawingml/2006/chart">
            <c:chart xmlns:c="http://schemas.openxmlformats.org/drawingml/2006/chart" r:id="rId4"/>
          </a:graphicData>
        </a:graphic>
      </p:graphicFrame>
      <p:sp>
        <p:nvSpPr>
          <p:cNvPr id="8" name="TextBox 7"/>
          <p:cNvSpPr txBox="1"/>
          <p:nvPr/>
        </p:nvSpPr>
        <p:spPr>
          <a:xfrm>
            <a:off x="685800" y="5943600"/>
            <a:ext cx="10881360" cy="365760"/>
          </a:xfrm>
          <a:prstGeom prst="rect">
            <a:avLst/>
          </a:prstGeom>
          <a:noFill/>
        </p:spPr>
        <p:txBody>
          <a:bodyPr wrap="square" lIns="0" rIns="0" tIns="0" bIns="0">
            <a:spAutoFit/>
          </a:bodyPr>
          <a:lstStyle/>
          <a:p>
            <a:pPr>
              <a:lnSpc>
                <a:spcPct val="112000"/>
              </a:lnSpc>
              <a:spcAft>
                <a:spcPts val="700"/>
              </a:spcAft>
              <a:defRPr sz="1600" b="0">
                <a:solidFill>
                  <a:srgbClr val="A6B4C9"/>
                </a:solidFill>
                <a:latin typeface="Arial"/>
              </a:defRPr>
            </a:pPr>
            <a:r>
              <a:t>Synthetic daily demand units, Jul–Aug 2025; residual intervals are diagnostic</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Business opportunity engine</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19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Configurable scores expose assumptions</a:t>
            </a:r>
          </a:p>
        </p:txBody>
      </p:sp>
      <p:sp>
        <p:nvSpPr>
          <p:cNvPr id="8" name="TextBox 7"/>
          <p:cNvSpPr txBox="1"/>
          <p:nvPr/>
        </p:nvSpPr>
        <p:spPr>
          <a:xfrm>
            <a:off x="594360" y="306324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06324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Budget, stock, capacity, lanes and coverage are explicit</a:t>
            </a:r>
          </a:p>
        </p:txBody>
      </p:sp>
      <p:sp>
        <p:nvSpPr>
          <p:cNvPr id="10" name="TextBox 9"/>
          <p:cNvSpPr txBox="1"/>
          <p:nvPr/>
        </p:nvSpPr>
        <p:spPr>
          <a:xfrm>
            <a:off x="594360" y="4297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297680"/>
            <a:ext cx="2331720" cy="1097280"/>
          </a:xfrm>
          <a:prstGeom prst="rect">
            <a:avLst/>
          </a:prstGeom>
          <a:noFill/>
        </p:spPr>
        <p:txBody>
          <a:bodyPr wrap="square" lIns="0" rIns="0" tIns="0" bIns="0">
            <a:spAutoFit/>
          </a:bodyPr>
          <a:lstStyle/>
          <a:p>
            <a:pPr>
              <a:lnSpc>
                <a:spcPct val="112000"/>
              </a:lnSpc>
              <a:spcAft>
                <a:spcPts val="700"/>
              </a:spcAft>
              <a:defRPr sz="1900" b="0">
                <a:solidFill>
                  <a:srgbClr val="E8EDF5"/>
                </a:solidFill>
                <a:latin typeface="Arial"/>
              </a:defRPr>
            </a:pPr>
            <a:r>
              <a:t>Infeasibility is a result; no plan dispatch occurs</a:t>
            </a:r>
          </a:p>
        </p:txBody>
      </p:sp>
      <p:pic>
        <p:nvPicPr>
          <p:cNvPr id="12" name="Picture 11" descr="readme-decision.png"/>
          <p:cNvPicPr>
            <a:picLocks noChangeAspect="1"/>
          </p:cNvPicPr>
          <p:nvPr/>
        </p:nvPicPr>
        <p:blipFill>
          <a:blip r:embed="rId3"/>
          <a:stretch>
            <a:fillRect/>
          </a:stretch>
        </p:blipFill>
        <p:spPr>
          <a:xfrm>
            <a:off x="4569256" y="1645920"/>
            <a:ext cx="6452006" cy="4480560"/>
          </a:xfrm>
          <a:prstGeom prst="rect">
            <a:avLst/>
          </a:prstGeom>
        </p:spPr>
      </p:pic>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PulseAI conversational analyst</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20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Read-only tools retrieve permitted records</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An optional model selects allowed statement IDs</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Java constructs factual prose and citations</a:t>
            </a:r>
          </a:p>
        </p:txBody>
      </p:sp>
      <p:cxnSp>
        <p:nvCxnSpPr>
          <p:cNvPr id="12" name="Connector 11"/>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51392"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27564"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5143500" y="2610611"/>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09359"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51392"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227564"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143500" y="3643884"/>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309359" y="4160520"/>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143500" y="3675888"/>
            <a:ext cx="0" cy="128016"/>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43500" y="3675888"/>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227564" y="3675888"/>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iagram label: Bounded question + filters"/>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Bounded question +</a:t>
            </a:r>
          </a:p>
          <a:p>
            <a:pPr>
              <a:lnSpc>
                <a:spcPct val="112000"/>
              </a:lnSpc>
              <a:spcAft>
                <a:spcPts val="700"/>
              </a:spcAft>
              <a:defRPr sz="1500" b="1">
                <a:solidFill>
                  <a:srgbClr val="E8EDF5"/>
                </a:solidFill>
                <a:latin typeface="Arial"/>
              </a:defRPr>
            </a:pPr>
            <a:r>
              <a:t>filters</a:t>
            </a:r>
          </a:p>
        </p:txBody>
      </p:sp>
      <p:sp>
        <p:nvSpPr>
          <p:cNvPr id="28" name="Rectangle 27"/>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iagram label: Spring policy"/>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Spring policy</a:t>
            </a:r>
          </a:p>
        </p:txBody>
      </p:sp>
      <p:sp>
        <p:nvSpPr>
          <p:cNvPr id="30" name="Rectangle 29"/>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iagram label: Fixed read-only tools"/>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Fixed read-only tools</a:t>
            </a:r>
          </a:p>
        </p:txBody>
      </p:sp>
      <p:sp>
        <p:nvSpPr>
          <p:cNvPr id="32" name="Rectangle 31"/>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iagram label: Verified statements"/>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Verified statements</a:t>
            </a:r>
          </a:p>
        </p:txBody>
      </p:sp>
      <p:sp>
        <p:nvSpPr>
          <p:cNvPr id="34" name="Rectangle 33"/>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iagram label: Optional provider"/>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Optional provider</a:t>
            </a:r>
          </a:p>
        </p:txBody>
      </p:sp>
      <p:sp>
        <p:nvSpPr>
          <p:cNvPr id="36" name="Rectangle 35"/>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gram label: Validate ID selection"/>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Validate ID selection</a:t>
            </a:r>
          </a:p>
        </p:txBody>
      </p:sp>
      <p:sp>
        <p:nvSpPr>
          <p:cNvPr id="38" name="Rectangle 37"/>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iagram label: Construct answer"/>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Construct answer</a:t>
            </a:r>
          </a:p>
        </p:txBody>
      </p:sp>
      <p:sp>
        <p:nvSpPr>
          <p:cNvPr id="40" name="Rectangle 39"/>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iagram label: Evidence fallback"/>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Evidence fallback</a:t>
            </a:r>
          </a:p>
        </p:txBody>
      </p:sp>
      <p:sp>
        <p:nvSpPr>
          <p:cNvPr id="42" name="Rectangle 41"/>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iagram label: Owned conversation"/>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Owned conversation</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Why attest selected content?</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21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Exports and audit evidence need integrity checks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 digest can be compared independently</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Integrity does not establish observation truth</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Smart contracts and verification</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22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Authorize source and attester role</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Record a unique event digest and receipt</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Compare the original and tampered bytes</a:t>
            </a:r>
          </a:p>
        </p:txBody>
      </p:sp>
      <p:cxnSp>
        <p:nvCxnSpPr>
          <p:cNvPr id="12" name="Connector 11"/>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227564"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143500" y="2610611"/>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685531"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143500" y="2610611"/>
            <a:ext cx="2542031"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09359"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851392"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685531"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143500" y="3643884"/>
            <a:ext cx="2542031"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685531" y="3643884"/>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85531" y="3643884"/>
            <a:ext cx="2542033"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227564" y="3483863"/>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 label: Exported bytes"/>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Exported bytes</a:t>
            </a:r>
          </a:p>
        </p:txBody>
      </p:sp>
      <p:sp>
        <p:nvSpPr>
          <p:cNvPr id="29" name="Rectangle 28"/>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gram label: Off-chain digest"/>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Off-chain digest</a:t>
            </a:r>
          </a:p>
        </p:txBody>
      </p:sp>
      <p:sp>
        <p:nvSpPr>
          <p:cNvPr id="31" name="Rectangle 30"/>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iagram label: AuthorizedSourceRegistry"/>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AuthorizedSource</a:t>
            </a:r>
          </a:p>
          <a:p>
            <a:pPr>
              <a:lnSpc>
                <a:spcPct val="112000"/>
              </a:lnSpc>
              <a:spcAft>
                <a:spcPts val="700"/>
              </a:spcAft>
              <a:defRPr sz="1500" b="1">
                <a:solidFill>
                  <a:srgbClr val="E8EDF5"/>
                </a:solidFill>
                <a:latin typeface="Arial"/>
              </a:defRPr>
            </a:pPr>
            <a:r>
              <a:t>Registry</a:t>
            </a:r>
          </a:p>
        </p:txBody>
      </p:sp>
      <p:sp>
        <p:nvSpPr>
          <p:cNvPr id="33" name="Rectangle 32"/>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iagram label: DatasetAttestationRegistry"/>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DatasetAttestation</a:t>
            </a:r>
          </a:p>
          <a:p>
            <a:pPr>
              <a:lnSpc>
                <a:spcPct val="112000"/>
              </a:lnSpc>
              <a:spcAft>
                <a:spcPts val="700"/>
              </a:spcAft>
              <a:defRPr sz="1500" b="1">
                <a:solidFill>
                  <a:srgbClr val="E8EDF5"/>
                </a:solidFill>
                <a:latin typeface="Arial"/>
              </a:defRPr>
            </a:pPr>
            <a:r>
              <a:t>Registry</a:t>
            </a:r>
          </a:p>
        </p:txBody>
      </p:sp>
      <p:sp>
        <p:nvSpPr>
          <p:cNvPr id="35" name="Rectangle 34"/>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gram label: Receipt / event"/>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Receipt  /  event</a:t>
            </a:r>
          </a:p>
        </p:txBody>
      </p:sp>
      <p:sp>
        <p:nvSpPr>
          <p:cNvPr id="37" name="Rectangle 36"/>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iagram label: VerificationRecord"/>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VerificationRecord</a:t>
            </a:r>
          </a:p>
        </p:txBody>
      </p:sp>
      <p:sp>
        <p:nvSpPr>
          <p:cNvPr id="39" name="Rectangle 38"/>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iagram label: Java confirmation"/>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Java confirmation</a:t>
            </a:r>
          </a:p>
        </p:txBody>
      </p:sp>
      <p:sp>
        <p:nvSpPr>
          <p:cNvPr id="41" name="Rectangle 40"/>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gram label: Tampered bytes"/>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Tampered bytes</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Security, authentication and privacy</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23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OIDC/PKCE, encrypted sessions and current membership</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Tenant/owner predicates, bounded inputs and safe exports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Real IdP/MFA rollout and external assurance remain pending</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Cloud infrastructure and deployment</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24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Compose is executable and verified in Linux CI</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AWS private ECS/data modules are validated code</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No cloud apply or paid resource provisioning occurred</a:t>
            </a:r>
          </a:p>
        </p:txBody>
      </p:sp>
      <p:cxnSp>
        <p:nvCxnSpPr>
          <p:cNvPr id="12" name="Connector 11"/>
          <p:cNvCxnSpPr/>
          <p:nvPr/>
        </p:nvCxnSpPr>
        <p:spPr>
          <a:xfrm>
            <a:off x="6309359"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51392" y="2093976"/>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43500"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43500" y="2610611"/>
            <a:ext cx="0"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51392"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27564"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143500" y="3643884"/>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227564"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685531" y="3643884"/>
            <a:ext cx="2542033"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85531"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227564" y="3675888"/>
            <a:ext cx="0" cy="128016"/>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5143500" y="3675888"/>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43500" y="3675888"/>
            <a:ext cx="0" cy="128016"/>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gram label: Local / CI host"/>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Local  /  CI host</a:t>
            </a:r>
          </a:p>
        </p:txBody>
      </p:sp>
      <p:sp>
        <p:nvSpPr>
          <p:cNvPr id="29" name="Rectangle 28"/>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iagram label: Web / API / AI"/>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Web  /  API  /  AI</a:t>
            </a:r>
          </a:p>
        </p:txBody>
      </p:sp>
      <p:sp>
        <p:nvSpPr>
          <p:cNvPr id="31" name="Rectangle 30"/>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iagram label: PostGIS / Redis"/>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PostGIS  /  Redis</a:t>
            </a:r>
          </a:p>
        </p:txBody>
      </p:sp>
      <p:sp>
        <p:nvSpPr>
          <p:cNvPr id="33" name="Rectangle 32"/>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iagram label: Optional telemetry / chain"/>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Optional telemetry  /</a:t>
            </a:r>
          </a:p>
          <a:p>
            <a:pPr>
              <a:lnSpc>
                <a:spcPct val="112000"/>
              </a:lnSpc>
              <a:spcAft>
                <a:spcPts val="700"/>
              </a:spcAft>
              <a:defRPr sz="1500" b="1">
                <a:solidFill>
                  <a:srgbClr val="E8EDF5"/>
                </a:solidFill>
                <a:latin typeface="Arial"/>
              </a:defRPr>
            </a:pPr>
            <a:r>
              <a:t>chain</a:t>
            </a:r>
          </a:p>
        </p:txBody>
      </p:sp>
      <p:sp>
        <p:nvSpPr>
          <p:cNvPr id="35" name="Rectangle 34"/>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iagram label: AWS HTTPS ALB"/>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AWS HTTPS ALB</a:t>
            </a:r>
          </a:p>
        </p:txBody>
      </p:sp>
      <p:sp>
        <p:nvSpPr>
          <p:cNvPr id="37" name="Rectangle 36"/>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iagram label: Private ECS/Fargate"/>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Private ECS / Fargate</a:t>
            </a:r>
          </a:p>
        </p:txBody>
      </p:sp>
      <p:sp>
        <p:nvSpPr>
          <p:cNvPr id="39" name="Rectangle 38"/>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iagram label: Managed data"/>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Managed data</a:t>
            </a:r>
          </a:p>
        </p:txBody>
      </p:sp>
      <p:sp>
        <p:nvSpPr>
          <p:cNvPr id="41" name="Rectangle 40"/>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gram label: EFS and private S3"/>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EFS and private S3</a:t>
            </a:r>
          </a:p>
        </p:txBody>
      </p:sp>
      <p:sp>
        <p:nvSpPr>
          <p:cNvPr id="43" name="Rectangle 42"/>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iagram label: Isolated migration task"/>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Isolated migration task</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Scalability and reliability</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25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Web/API scale within pool and DB budgets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SQLite-backed AI remains one writer</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Recovery objectives require an actual restore rehearsal</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CI/CD and monitoring</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26 / 33</a:t>
            </a:r>
          </a:p>
        </p:txBody>
      </p:sp>
      <p:sp>
        <p:nvSpPr>
          <p:cNvPr id="6" name="TextBox 5"/>
          <p:cNvSpPr txBox="1"/>
          <p:nvPr/>
        </p:nvSpPr>
        <p:spPr>
          <a:xfrm>
            <a:off x="59436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371600" y="182880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Build, test, scan and produce CycloneDX inventories</a:t>
            </a:r>
          </a:p>
        </p:txBody>
      </p:sp>
      <p:sp>
        <p:nvSpPr>
          <p:cNvPr id="8" name="TextBox 7"/>
          <p:cNvSpPr txBox="1"/>
          <p:nvPr/>
        </p:nvSpPr>
        <p:spPr>
          <a:xfrm>
            <a:off x="594360" y="315468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371600" y="315468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Private metrics and redacted OpenTelemetry traces</a:t>
            </a:r>
          </a:p>
        </p:txBody>
      </p:sp>
      <p:sp>
        <p:nvSpPr>
          <p:cNvPr id="10" name="TextBox 9"/>
          <p:cNvSpPr txBox="1"/>
          <p:nvPr/>
        </p:nvSpPr>
        <p:spPr>
          <a:xfrm>
            <a:off x="594360" y="448056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371600" y="4480560"/>
            <a:ext cx="2286000" cy="1188720"/>
          </a:xfrm>
          <a:prstGeom prst="rect">
            <a:avLst/>
          </a:prstGeom>
          <a:noFill/>
        </p:spPr>
        <p:txBody>
          <a:bodyPr wrap="square" lIns="0" rIns="0" tIns="0" bIns="0">
            <a:spAutoFit/>
          </a:bodyPr>
          <a:lstStyle/>
          <a:p>
            <a:pPr>
              <a:lnSpc>
                <a:spcPct val="112000"/>
              </a:lnSpc>
              <a:spcAft>
                <a:spcPts val="700"/>
              </a:spcAft>
              <a:defRPr sz="1800" b="0">
                <a:solidFill>
                  <a:srgbClr val="E8EDF5"/>
                </a:solidFill>
                <a:latin typeface="Arial"/>
              </a:defRPr>
            </a:pPr>
            <a:r>
              <a:t>Alert rules exist; pager delivery is not configured</a:t>
            </a:r>
          </a:p>
        </p:txBody>
      </p:sp>
      <p:cxnSp>
        <p:nvCxnSpPr>
          <p:cNvPr id="12" name="Connector 11"/>
          <p:cNvCxnSpPr/>
          <p:nvPr/>
        </p:nvCxnSpPr>
        <p:spPr>
          <a:xfrm>
            <a:off x="5143500"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143500" y="2610611"/>
            <a:ext cx="0"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685531"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143500" y="2610611"/>
            <a:ext cx="2542031"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27564"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143500" y="2610611"/>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143500"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309359" y="3127248"/>
            <a:ext cx="210312" cy="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85531"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85531" y="2610611"/>
            <a:ext cx="2542033"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227564"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227564" y="2450591"/>
            <a:ext cx="0" cy="16002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227564" y="2610611"/>
            <a:ext cx="0"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27564" y="2610611"/>
            <a:ext cx="0" cy="160021"/>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227564"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5143500" y="3643884"/>
            <a:ext cx="5084064"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43500"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27564" y="3483863"/>
            <a:ext cx="0" cy="160021"/>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685531" y="3643884"/>
            <a:ext cx="2542033" cy="0"/>
          </a:xfrm>
          <a:prstGeom prst="line">
            <a:avLst/>
          </a:prstGeom>
          <a:ln w="127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685531" y="3643884"/>
            <a:ext cx="0" cy="160020"/>
          </a:xfrm>
          <a:prstGeom prst="line">
            <a:avLst/>
          </a:prstGeom>
          <a:ln w="12700">
            <a:solidFill>
              <a:srgbClr val="67E8F9"/>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977639"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iagram label: Next instrumentation"/>
          <p:cNvSpPr txBox="1"/>
          <p:nvPr/>
        </p:nvSpPr>
        <p:spPr>
          <a:xfrm>
            <a:off x="4087368"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Next instrumentation</a:t>
            </a:r>
          </a:p>
        </p:txBody>
      </p:sp>
      <p:sp>
        <p:nvSpPr>
          <p:cNvPr id="36" name="Rectangle 35"/>
          <p:cNvSpPr/>
          <p:nvPr/>
        </p:nvSpPr>
        <p:spPr>
          <a:xfrm>
            <a:off x="6519671"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gram label: Spring / Micrometer"/>
          <p:cNvSpPr txBox="1"/>
          <p:nvPr/>
        </p:nvSpPr>
        <p:spPr>
          <a:xfrm>
            <a:off x="6629399"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Spring  /  Micrometer</a:t>
            </a:r>
          </a:p>
        </p:txBody>
      </p:sp>
      <p:sp>
        <p:nvSpPr>
          <p:cNvPr id="38" name="Rectangle 37"/>
          <p:cNvSpPr/>
          <p:nvPr/>
        </p:nvSpPr>
        <p:spPr>
          <a:xfrm>
            <a:off x="9061704" y="1737360"/>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iagram label: FastAPI middleware"/>
          <p:cNvSpPr txBox="1"/>
          <p:nvPr/>
        </p:nvSpPr>
        <p:spPr>
          <a:xfrm>
            <a:off x="9171432" y="1828800"/>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FastAPI middleware</a:t>
            </a:r>
          </a:p>
        </p:txBody>
      </p:sp>
      <p:sp>
        <p:nvSpPr>
          <p:cNvPr id="40" name="Rectangle 39"/>
          <p:cNvSpPr/>
          <p:nvPr/>
        </p:nvSpPr>
        <p:spPr>
          <a:xfrm>
            <a:off x="3977639"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iagram label: OTLP collector"/>
          <p:cNvSpPr txBox="1"/>
          <p:nvPr/>
        </p:nvSpPr>
        <p:spPr>
          <a:xfrm>
            <a:off x="4087368"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OTLP collector</a:t>
            </a:r>
          </a:p>
        </p:txBody>
      </p:sp>
      <p:sp>
        <p:nvSpPr>
          <p:cNvPr id="42" name="Rectangle 41"/>
          <p:cNvSpPr/>
          <p:nvPr/>
        </p:nvSpPr>
        <p:spPr>
          <a:xfrm>
            <a:off x="6519671"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iagram label: Tempo"/>
          <p:cNvSpPr txBox="1"/>
          <p:nvPr/>
        </p:nvSpPr>
        <p:spPr>
          <a:xfrm>
            <a:off x="6629399"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Tempo</a:t>
            </a:r>
          </a:p>
        </p:txBody>
      </p:sp>
      <p:sp>
        <p:nvSpPr>
          <p:cNvPr id="44" name="Rectangle 43"/>
          <p:cNvSpPr/>
          <p:nvPr/>
        </p:nvSpPr>
        <p:spPr>
          <a:xfrm>
            <a:off x="9061704" y="2770632"/>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iagram label: Prometheus"/>
          <p:cNvSpPr txBox="1"/>
          <p:nvPr/>
        </p:nvSpPr>
        <p:spPr>
          <a:xfrm>
            <a:off x="9171432" y="2862072"/>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Prometheus</a:t>
            </a:r>
          </a:p>
        </p:txBody>
      </p:sp>
      <p:sp>
        <p:nvSpPr>
          <p:cNvPr id="46" name="Rectangle 45"/>
          <p:cNvSpPr/>
          <p:nvPr/>
        </p:nvSpPr>
        <p:spPr>
          <a:xfrm>
            <a:off x="3977639"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iagram label: Grafana dashboard"/>
          <p:cNvSpPr txBox="1"/>
          <p:nvPr/>
        </p:nvSpPr>
        <p:spPr>
          <a:xfrm>
            <a:off x="4087368"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Grafana dashboard</a:t>
            </a:r>
          </a:p>
        </p:txBody>
      </p:sp>
      <p:sp>
        <p:nvSpPr>
          <p:cNvPr id="48" name="Rectangle 47"/>
          <p:cNvSpPr/>
          <p:nvPr/>
        </p:nvSpPr>
        <p:spPr>
          <a:xfrm>
            <a:off x="6519671"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iagram label: Alert rules"/>
          <p:cNvSpPr txBox="1"/>
          <p:nvPr/>
        </p:nvSpPr>
        <p:spPr>
          <a:xfrm>
            <a:off x="6629399"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Alert rules</a:t>
            </a:r>
          </a:p>
        </p:txBody>
      </p:sp>
      <p:sp>
        <p:nvSpPr>
          <p:cNvPr id="50" name="Rectangle 49"/>
          <p:cNvSpPr/>
          <p:nvPr/>
        </p:nvSpPr>
        <p:spPr>
          <a:xfrm>
            <a:off x="9061704" y="3803904"/>
            <a:ext cx="2331720" cy="713232"/>
          </a:xfrm>
          <a:prstGeom prst="rect">
            <a:avLst/>
          </a:prstGeom>
          <a:solidFill>
            <a:srgbClr val="111B2B"/>
          </a:solidFill>
          <a:ln w="10160">
            <a:solidFill>
              <a:srgbClr val="30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iagram label: ECS CloudWatch path"/>
          <p:cNvSpPr txBox="1"/>
          <p:nvPr/>
        </p:nvSpPr>
        <p:spPr>
          <a:xfrm>
            <a:off x="9171432" y="3895344"/>
            <a:ext cx="2112263" cy="603504"/>
          </a:xfrm>
          <a:prstGeom prst="rect">
            <a:avLst/>
          </a:prstGeom>
          <a:noFill/>
        </p:spPr>
        <p:txBody>
          <a:bodyPr wrap="square" lIns="0" rIns="0" tIns="0" bIns="0">
            <a:spAutoFit/>
          </a:bodyPr>
          <a:lstStyle/>
          <a:p>
            <a:pPr>
              <a:lnSpc>
                <a:spcPct val="112000"/>
              </a:lnSpc>
              <a:spcAft>
                <a:spcPts val="700"/>
              </a:spcAft>
              <a:defRPr sz="1500" b="1">
                <a:solidFill>
                  <a:srgbClr val="E8EDF5"/>
                </a:solidFill>
                <a:latin typeface="Arial"/>
              </a:defRPr>
            </a:pPr>
            <a:r>
              <a:t>ECS CloudWatch path</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Testing and quality assurance</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27 / 33</a:t>
            </a:r>
          </a:p>
        </p:txBody>
      </p:sp>
      <p:sp>
        <p:nvSpPr>
          <p:cNvPr id="6" name="TextBox 5"/>
          <p:cNvSpPr txBox="1"/>
          <p:nvPr/>
        </p:nvSpPr>
        <p:spPr>
          <a:xfrm>
            <a:off x="731520" y="1783080"/>
            <a:ext cx="3291840" cy="822960"/>
          </a:xfrm>
          <a:prstGeom prst="rect">
            <a:avLst/>
          </a:prstGeom>
          <a:noFill/>
        </p:spPr>
        <p:txBody>
          <a:bodyPr wrap="square" lIns="0" rIns="0" tIns="0" bIns="0">
            <a:spAutoFit/>
          </a:bodyPr>
          <a:lstStyle/>
          <a:p>
            <a:pPr>
              <a:lnSpc>
                <a:spcPct val="112000"/>
              </a:lnSpc>
              <a:spcAft>
                <a:spcPts val="700"/>
              </a:spcAft>
              <a:defRPr sz="5000" b="1">
                <a:solidFill>
                  <a:srgbClr val="67E8F9"/>
                </a:solidFill>
                <a:latin typeface="Arial"/>
              </a:defRPr>
            </a:pPr>
            <a:r>
              <a:t>29</a:t>
            </a:r>
          </a:p>
        </p:txBody>
      </p:sp>
      <p:sp>
        <p:nvSpPr>
          <p:cNvPr id="7" name="TextBox 6"/>
          <p:cNvSpPr txBox="1"/>
          <p:nvPr/>
        </p:nvSpPr>
        <p:spPr>
          <a:xfrm>
            <a:off x="731520" y="2697480"/>
            <a:ext cx="3200400" cy="45720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Java</a:t>
            </a:r>
          </a:p>
        </p:txBody>
      </p:sp>
      <p:sp>
        <p:nvSpPr>
          <p:cNvPr id="8" name="TextBox 7"/>
          <p:cNvSpPr txBox="1"/>
          <p:nvPr/>
        </p:nvSpPr>
        <p:spPr>
          <a:xfrm>
            <a:off x="4572000" y="1783080"/>
            <a:ext cx="3291840" cy="822960"/>
          </a:xfrm>
          <a:prstGeom prst="rect">
            <a:avLst/>
          </a:prstGeom>
          <a:noFill/>
        </p:spPr>
        <p:txBody>
          <a:bodyPr wrap="square" lIns="0" rIns="0" tIns="0" bIns="0">
            <a:spAutoFit/>
          </a:bodyPr>
          <a:lstStyle/>
          <a:p>
            <a:pPr>
              <a:lnSpc>
                <a:spcPct val="112000"/>
              </a:lnSpc>
              <a:spcAft>
                <a:spcPts val="700"/>
              </a:spcAft>
              <a:defRPr sz="5000" b="1">
                <a:solidFill>
                  <a:srgbClr val="B7A5FF"/>
                </a:solidFill>
                <a:latin typeface="Arial"/>
              </a:defRPr>
            </a:pPr>
            <a:r>
              <a:t>48</a:t>
            </a:r>
          </a:p>
        </p:txBody>
      </p:sp>
      <p:sp>
        <p:nvSpPr>
          <p:cNvPr id="9" name="TextBox 8"/>
          <p:cNvSpPr txBox="1"/>
          <p:nvPr/>
        </p:nvSpPr>
        <p:spPr>
          <a:xfrm>
            <a:off x="4572000" y="2697480"/>
            <a:ext cx="3200400" cy="45720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AI</a:t>
            </a:r>
          </a:p>
        </p:txBody>
      </p:sp>
      <p:sp>
        <p:nvSpPr>
          <p:cNvPr id="10" name="TextBox 9"/>
          <p:cNvSpPr txBox="1"/>
          <p:nvPr/>
        </p:nvSpPr>
        <p:spPr>
          <a:xfrm>
            <a:off x="8412480" y="1783080"/>
            <a:ext cx="3291840" cy="822960"/>
          </a:xfrm>
          <a:prstGeom prst="rect">
            <a:avLst/>
          </a:prstGeom>
          <a:noFill/>
        </p:spPr>
        <p:txBody>
          <a:bodyPr wrap="square" lIns="0" rIns="0" tIns="0" bIns="0">
            <a:spAutoFit/>
          </a:bodyPr>
          <a:lstStyle/>
          <a:p>
            <a:pPr>
              <a:lnSpc>
                <a:spcPct val="112000"/>
              </a:lnSpc>
              <a:spcAft>
                <a:spcPts val="700"/>
              </a:spcAft>
              <a:defRPr sz="5000" b="1">
                <a:solidFill>
                  <a:srgbClr val="67E8F9"/>
                </a:solidFill>
                <a:latin typeface="Arial"/>
              </a:defRPr>
            </a:pPr>
            <a:r>
              <a:t>13</a:t>
            </a:r>
          </a:p>
        </p:txBody>
      </p:sp>
      <p:sp>
        <p:nvSpPr>
          <p:cNvPr id="11" name="TextBox 10"/>
          <p:cNvSpPr txBox="1"/>
          <p:nvPr/>
        </p:nvSpPr>
        <p:spPr>
          <a:xfrm>
            <a:off x="8412480" y="2697480"/>
            <a:ext cx="3200400" cy="45720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Web unit</a:t>
            </a:r>
          </a:p>
        </p:txBody>
      </p:sp>
      <p:sp>
        <p:nvSpPr>
          <p:cNvPr id="12" name="TextBox 11"/>
          <p:cNvSpPr txBox="1"/>
          <p:nvPr/>
        </p:nvSpPr>
        <p:spPr>
          <a:xfrm>
            <a:off x="731520" y="3657600"/>
            <a:ext cx="3291840" cy="822960"/>
          </a:xfrm>
          <a:prstGeom prst="rect">
            <a:avLst/>
          </a:prstGeom>
          <a:noFill/>
        </p:spPr>
        <p:txBody>
          <a:bodyPr wrap="square" lIns="0" rIns="0" tIns="0" bIns="0">
            <a:spAutoFit/>
          </a:bodyPr>
          <a:lstStyle/>
          <a:p>
            <a:pPr>
              <a:lnSpc>
                <a:spcPct val="112000"/>
              </a:lnSpc>
              <a:spcAft>
                <a:spcPts val="700"/>
              </a:spcAft>
              <a:defRPr sz="5000" b="1">
                <a:solidFill>
                  <a:srgbClr val="B7A5FF"/>
                </a:solidFill>
                <a:latin typeface="Arial"/>
              </a:defRPr>
            </a:pPr>
            <a:r>
              <a:t>18</a:t>
            </a:r>
          </a:p>
        </p:txBody>
      </p:sp>
      <p:sp>
        <p:nvSpPr>
          <p:cNvPr id="13" name="TextBox 12"/>
          <p:cNvSpPr txBox="1"/>
          <p:nvPr/>
        </p:nvSpPr>
        <p:spPr>
          <a:xfrm>
            <a:off x="731520" y="4572000"/>
            <a:ext cx="3200400" cy="45720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Desktop/mobile</a:t>
            </a:r>
          </a:p>
        </p:txBody>
      </p:sp>
      <p:sp>
        <p:nvSpPr>
          <p:cNvPr id="14" name="TextBox 13"/>
          <p:cNvSpPr txBox="1"/>
          <p:nvPr/>
        </p:nvSpPr>
        <p:spPr>
          <a:xfrm>
            <a:off x="4572000" y="3657600"/>
            <a:ext cx="3291840" cy="822960"/>
          </a:xfrm>
          <a:prstGeom prst="rect">
            <a:avLst/>
          </a:prstGeom>
          <a:noFill/>
        </p:spPr>
        <p:txBody>
          <a:bodyPr wrap="square" lIns="0" rIns="0" tIns="0" bIns="0">
            <a:spAutoFit/>
          </a:bodyPr>
          <a:lstStyle/>
          <a:p>
            <a:pPr>
              <a:lnSpc>
                <a:spcPct val="112000"/>
              </a:lnSpc>
              <a:spcAft>
                <a:spcPts val="700"/>
              </a:spcAft>
              <a:defRPr sz="5000" b="1">
                <a:solidFill>
                  <a:srgbClr val="67E8F9"/>
                </a:solidFill>
                <a:latin typeface="Arial"/>
              </a:defRPr>
            </a:pPr>
            <a:r>
              <a:t>6</a:t>
            </a:r>
          </a:p>
        </p:txBody>
      </p:sp>
      <p:sp>
        <p:nvSpPr>
          <p:cNvPr id="15" name="TextBox 14"/>
          <p:cNvSpPr txBox="1"/>
          <p:nvPr/>
        </p:nvSpPr>
        <p:spPr>
          <a:xfrm>
            <a:off x="4572000" y="4572000"/>
            <a:ext cx="3200400" cy="45720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Ingestion</a:t>
            </a:r>
          </a:p>
        </p:txBody>
      </p:sp>
      <p:sp>
        <p:nvSpPr>
          <p:cNvPr id="16" name="TextBox 15"/>
          <p:cNvSpPr txBox="1"/>
          <p:nvPr/>
        </p:nvSpPr>
        <p:spPr>
          <a:xfrm>
            <a:off x="8412480" y="3657600"/>
            <a:ext cx="3291840" cy="822960"/>
          </a:xfrm>
          <a:prstGeom prst="rect">
            <a:avLst/>
          </a:prstGeom>
          <a:noFill/>
        </p:spPr>
        <p:txBody>
          <a:bodyPr wrap="square" lIns="0" rIns="0" tIns="0" bIns="0">
            <a:spAutoFit/>
          </a:bodyPr>
          <a:lstStyle/>
          <a:p>
            <a:pPr>
              <a:lnSpc>
                <a:spcPct val="112000"/>
              </a:lnSpc>
              <a:spcAft>
                <a:spcPts val="700"/>
              </a:spcAft>
              <a:defRPr sz="5000" b="1">
                <a:solidFill>
                  <a:srgbClr val="B7A5FF"/>
                </a:solidFill>
                <a:latin typeface="Arial"/>
              </a:defRPr>
            </a:pPr>
            <a:r>
              <a:t>4</a:t>
            </a:r>
          </a:p>
        </p:txBody>
      </p:sp>
      <p:sp>
        <p:nvSpPr>
          <p:cNvPr id="17" name="TextBox 16"/>
          <p:cNvSpPr txBox="1"/>
          <p:nvPr/>
        </p:nvSpPr>
        <p:spPr>
          <a:xfrm>
            <a:off x="8412480" y="4572000"/>
            <a:ext cx="3200400" cy="457200"/>
          </a:xfrm>
          <a:prstGeom prst="rect">
            <a:avLst/>
          </a:prstGeom>
          <a:noFill/>
        </p:spPr>
        <p:txBody>
          <a:bodyPr wrap="square" lIns="0" rIns="0" tIns="0" bIns="0">
            <a:spAutoFit/>
          </a:bodyPr>
          <a:lstStyle/>
          <a:p>
            <a:pPr>
              <a:lnSpc>
                <a:spcPct val="112000"/>
              </a:lnSpc>
              <a:spcAft>
                <a:spcPts val="700"/>
              </a:spcAft>
              <a:defRPr sz="2300" b="0">
                <a:solidFill>
                  <a:srgbClr val="E8EDF5"/>
                </a:solidFill>
                <a:latin typeface="Arial"/>
              </a:defRPr>
            </a:pPr>
            <a:r>
              <a:t>Solidity</a:t>
            </a:r>
          </a:p>
        </p:txBody>
      </p:sp>
      <p:sp>
        <p:nvSpPr>
          <p:cNvPr id="18" name="TextBox 17"/>
          <p:cNvSpPr txBox="1"/>
          <p:nvPr/>
        </p:nvSpPr>
        <p:spPr>
          <a:xfrm>
            <a:off x="731520" y="5943600"/>
            <a:ext cx="10881360" cy="320040"/>
          </a:xfrm>
          <a:prstGeom prst="rect">
            <a:avLst/>
          </a:prstGeom>
          <a:noFill/>
        </p:spPr>
        <p:txBody>
          <a:bodyPr wrap="square" lIns="0" rIns="0" tIns="0" bIns="0">
            <a:spAutoFit/>
          </a:bodyPr>
          <a:lstStyle/>
          <a:p>
            <a:pPr>
              <a:lnSpc>
                <a:spcPct val="112000"/>
              </a:lnSpc>
              <a:spcAft>
                <a:spcPts val="700"/>
              </a:spcAft>
              <a:defRPr sz="1400" b="0">
                <a:solidFill>
                  <a:srgbClr val="A6B4C9"/>
                </a:solidFill>
                <a:latin typeface="Arial"/>
              </a:defRPr>
            </a:pPr>
            <a:r>
              <a:t>Revision-linked CI evidence; two mocked Terraform plans; no coverage percentage invented</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End-to-end user journey</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28 / 33</a:t>
            </a:r>
          </a:p>
        </p:txBody>
      </p:sp>
      <p:sp>
        <p:nvSpPr>
          <p:cNvPr id="6" name="TextBox 5"/>
          <p:cNvSpPr txBox="1"/>
          <p:nvPr/>
        </p:nvSpPr>
        <p:spPr>
          <a:xfrm>
            <a:off x="640080" y="1691640"/>
            <a:ext cx="10789920" cy="64008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Load licensed or synthetic records</a:t>
            </a:r>
          </a:p>
        </p:txBody>
      </p:sp>
      <p:sp>
        <p:nvSpPr>
          <p:cNvPr id="7" name="TextBox 6"/>
          <p:cNvSpPr txBox="1"/>
          <p:nvPr/>
        </p:nvSpPr>
        <p:spPr>
          <a:xfrm>
            <a:off x="64008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01</a:t>
            </a:r>
          </a:p>
        </p:txBody>
      </p:sp>
      <p:sp>
        <p:nvSpPr>
          <p:cNvPr id="8" name="TextBox 7"/>
          <p:cNvSpPr txBox="1"/>
          <p:nvPr/>
        </p:nvSpPr>
        <p:spPr>
          <a:xfrm>
            <a:off x="64008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Ingest</a:t>
            </a:r>
          </a:p>
        </p:txBody>
      </p:sp>
      <p:sp>
        <p:nvSpPr>
          <p:cNvPr id="9" name="TextBox 8"/>
          <p:cNvSpPr txBox="1"/>
          <p:nvPr/>
        </p:nvSpPr>
        <p:spPr>
          <a:xfrm>
            <a:off x="64008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Validate and replay</a:t>
            </a:r>
          </a:p>
        </p:txBody>
      </p:sp>
      <p:cxnSp>
        <p:nvCxnSpPr>
          <p:cNvPr id="10" name="Connector 9"/>
          <p:cNvCxnSpPr/>
          <p:nvPr/>
        </p:nvCxnSpPr>
        <p:spPr>
          <a:xfrm>
            <a:off x="301752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472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02</a:t>
            </a:r>
          </a:p>
        </p:txBody>
      </p:sp>
      <p:sp>
        <p:nvSpPr>
          <p:cNvPr id="12" name="TextBox 11"/>
          <p:cNvSpPr txBox="1"/>
          <p:nvPr/>
        </p:nvSpPr>
        <p:spPr>
          <a:xfrm>
            <a:off x="347472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Investigate</a:t>
            </a:r>
          </a:p>
        </p:txBody>
      </p:sp>
      <p:sp>
        <p:nvSpPr>
          <p:cNvPr id="13" name="TextBox 12"/>
          <p:cNvSpPr txBox="1"/>
          <p:nvPr/>
        </p:nvSpPr>
        <p:spPr>
          <a:xfrm>
            <a:off x="347472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Compare and forecast</a:t>
            </a:r>
          </a:p>
        </p:txBody>
      </p:sp>
      <p:cxnSp>
        <p:nvCxnSpPr>
          <p:cNvPr id="14" name="Connector 13"/>
          <p:cNvCxnSpPr/>
          <p:nvPr/>
        </p:nvCxnSpPr>
        <p:spPr>
          <a:xfrm>
            <a:off x="585216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0936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03</a:t>
            </a:r>
          </a:p>
        </p:txBody>
      </p:sp>
      <p:sp>
        <p:nvSpPr>
          <p:cNvPr id="16" name="TextBox 15"/>
          <p:cNvSpPr txBox="1"/>
          <p:nvPr/>
        </p:nvSpPr>
        <p:spPr>
          <a:xfrm>
            <a:off x="630936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Decide</a:t>
            </a:r>
          </a:p>
        </p:txBody>
      </p:sp>
      <p:sp>
        <p:nvSpPr>
          <p:cNvPr id="17" name="TextBox 16"/>
          <p:cNvSpPr txBox="1"/>
          <p:nvPr/>
        </p:nvSpPr>
        <p:spPr>
          <a:xfrm>
            <a:off x="630936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Human-reviewed scenario</a:t>
            </a:r>
          </a:p>
        </p:txBody>
      </p:sp>
      <p:cxnSp>
        <p:nvCxnSpPr>
          <p:cNvPr id="18" name="Connector 17"/>
          <p:cNvCxnSpPr/>
          <p:nvPr/>
        </p:nvCxnSpPr>
        <p:spPr>
          <a:xfrm>
            <a:off x="8686800" y="3246120"/>
            <a:ext cx="320040" cy="0"/>
          </a:xfrm>
          <a:prstGeom prst="line">
            <a:avLst/>
          </a:prstGeom>
          <a:ln w="25400">
            <a:solidFill>
              <a:srgbClr val="B7A5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0" y="2743200"/>
            <a:ext cx="2286000" cy="731520"/>
          </a:xfrm>
          <a:prstGeom prst="rect">
            <a:avLst/>
          </a:prstGeom>
          <a:noFill/>
        </p:spPr>
        <p:txBody>
          <a:bodyPr wrap="square" lIns="0" rIns="0" tIns="0" bIns="0">
            <a:spAutoFit/>
          </a:bodyPr>
          <a:lstStyle/>
          <a:p>
            <a:pPr>
              <a:lnSpc>
                <a:spcPct val="112000"/>
              </a:lnSpc>
              <a:spcAft>
                <a:spcPts val="700"/>
              </a:spcAft>
              <a:defRPr sz="4200" b="1">
                <a:solidFill>
                  <a:srgbClr val="67E8F9"/>
                </a:solidFill>
                <a:latin typeface="Arial"/>
              </a:defRPr>
            </a:pPr>
            <a:r>
              <a:t>04</a:t>
            </a:r>
          </a:p>
        </p:txBody>
      </p:sp>
      <p:sp>
        <p:nvSpPr>
          <p:cNvPr id="20" name="TextBox 19"/>
          <p:cNvSpPr txBox="1"/>
          <p:nvPr/>
        </p:nvSpPr>
        <p:spPr>
          <a:xfrm>
            <a:off x="9144000" y="3657600"/>
            <a:ext cx="2286000" cy="548640"/>
          </a:xfrm>
          <a:prstGeom prst="rect">
            <a:avLst/>
          </a:prstGeom>
          <a:noFill/>
        </p:spPr>
        <p:txBody>
          <a:bodyPr wrap="square" lIns="0" rIns="0" tIns="0" bIns="0">
            <a:spAutoFit/>
          </a:bodyPr>
          <a:lstStyle/>
          <a:p>
            <a:pPr>
              <a:lnSpc>
                <a:spcPct val="112000"/>
              </a:lnSpc>
              <a:spcAft>
                <a:spcPts val="700"/>
              </a:spcAft>
              <a:defRPr sz="2700" b="1">
                <a:solidFill>
                  <a:srgbClr val="E8EDF5"/>
                </a:solidFill>
                <a:latin typeface="Arial"/>
              </a:defRPr>
            </a:pPr>
            <a:r>
              <a:t>Preserve</a:t>
            </a:r>
          </a:p>
        </p:txBody>
      </p:sp>
      <p:sp>
        <p:nvSpPr>
          <p:cNvPr id="21" name="TextBox 20"/>
          <p:cNvSpPr txBox="1"/>
          <p:nvPr/>
        </p:nvSpPr>
        <p:spPr>
          <a:xfrm>
            <a:off x="9144000" y="4434840"/>
            <a:ext cx="2286000" cy="1005840"/>
          </a:xfrm>
          <a:prstGeom prst="rect">
            <a:avLst/>
          </a:prstGeom>
          <a:noFill/>
        </p:spPr>
        <p:txBody>
          <a:bodyPr wrap="square" lIns="0" rIns="0" tIns="0" bIns="0">
            <a:spAutoFit/>
          </a:bodyPr>
          <a:lstStyle/>
          <a:p>
            <a:pPr>
              <a:lnSpc>
                <a:spcPct val="112000"/>
              </a:lnSpc>
              <a:spcAft>
                <a:spcPts val="700"/>
              </a:spcAft>
              <a:defRPr sz="1900" b="0">
                <a:solidFill>
                  <a:srgbClr val="A6B4C9"/>
                </a:solidFill>
                <a:latin typeface="Arial"/>
              </a:defRPr>
            </a:pPr>
            <a:r>
              <a:t>Save, export, verify</a:t>
            </a:r>
          </a:p>
        </p:txBody>
      </p:sp>
      <p:sp>
        <p:nvSpPr>
          <p:cNvPr id="22" name="TextBox 21"/>
          <p:cNvSpPr txBox="1"/>
          <p:nvPr/>
        </p:nvSpPr>
        <p:spPr>
          <a:xfrm>
            <a:off x="640080" y="5669280"/>
            <a:ext cx="10698480" cy="457200"/>
          </a:xfrm>
          <a:prstGeom prst="rect">
            <a:avLst/>
          </a:prstGeom>
          <a:noFill/>
        </p:spPr>
        <p:txBody>
          <a:bodyPr wrap="square" lIns="0" rIns="0" tIns="0" bIns="0">
            <a:spAutoFit/>
          </a:bodyPr>
          <a:lstStyle/>
          <a:p>
            <a:pPr>
              <a:lnSpc>
                <a:spcPct val="112000"/>
              </a:lnSpc>
              <a:spcAft>
                <a:spcPts val="700"/>
              </a:spcAft>
              <a:defRPr sz="1800" b="0">
                <a:solidFill>
                  <a:srgbClr val="B7A5FF"/>
                </a:solidFill>
                <a:latin typeface="Arial"/>
              </a:defRPr>
            </a:pPr>
            <a:r>
              <a:t>Human review remains the decision boundary</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Real results and key learnings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29 / 33</a:t>
            </a:r>
          </a:p>
        </p:txBody>
      </p:sp>
      <p:graphicFrame>
        <p:nvGraphicFramePr>
          <p:cNvPr id="6" name="Chart 5"/>
          <p:cNvGraphicFramePr>
            <a:graphicFrameLocks noGrp="1"/>
          </p:cNvGraphicFramePr>
          <p:nvPr/>
        </p:nvGraphicFramePr>
        <p:xfrm>
          <a:off x="640080" y="1828800"/>
          <a:ext cx="7498079" cy="3931920"/>
        </p:xfrm>
        <a:graphic>
          <a:graphicData uri="http://schemas.openxmlformats.org/drawingml/2006/chart">
            <c:chart xmlns:c="http://schemas.openxmlformats.org/drawingml/2006/chart" r:id="rId3"/>
          </a:graphicData>
        </a:graphic>
      </p:graphicFrame>
      <p:sp>
        <p:nvSpPr>
          <p:cNvPr id="7" name="TextBox 6"/>
          <p:cNvSpPr txBox="1"/>
          <p:nvPr/>
        </p:nvSpPr>
        <p:spPr>
          <a:xfrm>
            <a:off x="8503920" y="2194560"/>
            <a:ext cx="2971800" cy="1463040"/>
          </a:xfrm>
          <a:prstGeom prst="rect">
            <a:avLst/>
          </a:prstGeom>
          <a:noFill/>
        </p:spPr>
        <p:txBody>
          <a:bodyPr wrap="square" lIns="0" rIns="0" tIns="0" bIns="0">
            <a:spAutoFit/>
          </a:bodyPr>
          <a:lstStyle/>
          <a:p>
            <a:pPr>
              <a:lnSpc>
                <a:spcPct val="112000"/>
              </a:lnSpc>
              <a:spcAft>
                <a:spcPts val="700"/>
              </a:spcAft>
              <a:defRPr sz="2900" b="1">
                <a:solidFill>
                  <a:srgbClr val="67E8F9"/>
                </a:solidFill>
                <a:latin typeface="Arial"/>
              </a:defRPr>
            </a:pPr>
            <a:r>
              <a:t>21 requests</a:t>
            </a:r>
          </a:p>
          <a:p>
            <a:pPr>
              <a:lnSpc>
                <a:spcPct val="112000"/>
              </a:lnSpc>
              <a:spcAft>
                <a:spcPts val="700"/>
              </a:spcAft>
              <a:defRPr sz="2900" b="1">
                <a:solidFill>
                  <a:srgbClr val="67E8F9"/>
                </a:solidFill>
                <a:latin typeface="Arial"/>
              </a:defRPr>
            </a:pPr>
            <a:r>
              <a:t>0% HTTP failures</a:t>
            </a:r>
          </a:p>
        </p:txBody>
      </p:sp>
      <p:sp>
        <p:nvSpPr>
          <p:cNvPr id="8" name="TextBox 7"/>
          <p:cNvSpPr txBox="1"/>
          <p:nvPr/>
        </p:nvSpPr>
        <p:spPr>
          <a:xfrm>
            <a:off x="8503920" y="3931920"/>
            <a:ext cx="2971800" cy="1371600"/>
          </a:xfrm>
          <a:prstGeom prst="rect">
            <a:avLst/>
          </a:prstGeom>
          <a:noFill/>
        </p:spPr>
        <p:txBody>
          <a:bodyPr wrap="square" lIns="0" rIns="0" tIns="0" bIns="0">
            <a:spAutoFit/>
          </a:bodyPr>
          <a:lstStyle/>
          <a:p>
            <a:pPr>
              <a:lnSpc>
                <a:spcPct val="112000"/>
              </a:lnSpc>
              <a:spcAft>
                <a:spcPts val="700"/>
              </a:spcAft>
              <a:defRPr sz="2000" b="0">
                <a:solidFill>
                  <a:srgbClr val="A6B4C9"/>
                </a:solidFill>
                <a:latin typeface="Arial"/>
              </a:defRPr>
            </a:pPr>
            <a:r>
              <a:t>20 seconds</a:t>
            </a:r>
          </a:p>
          <a:p>
            <a:pPr>
              <a:lnSpc>
                <a:spcPct val="112000"/>
              </a:lnSpc>
              <a:spcAft>
                <a:spcPts val="700"/>
              </a:spcAft>
              <a:defRPr sz="2000" b="0">
                <a:solidFill>
                  <a:srgbClr val="A6B4C9"/>
                </a:solidFill>
                <a:latin typeface="Arial"/>
              </a:defRPr>
            </a:pPr>
            <a:r>
              <a:t>1 arrival/second</a:t>
            </a:r>
          </a:p>
          <a:p>
            <a:pPr>
              <a:lnSpc>
                <a:spcPct val="112000"/>
              </a:lnSpc>
              <a:spcAft>
                <a:spcPts val="700"/>
              </a:spcAft>
              <a:defRPr sz="2000" b="0">
                <a:solidFill>
                  <a:srgbClr val="A6B4C9"/>
                </a:solidFill>
                <a:latin typeface="Arial"/>
              </a:defRPr>
            </a:pPr>
            <a:r>
              <a:t>Direct loopback AI</a:t>
            </a:r>
          </a:p>
        </p:txBody>
      </p:sp>
      <p:sp>
        <p:nvSpPr>
          <p:cNvPr id="9" name="TextBox 8"/>
          <p:cNvSpPr txBox="1"/>
          <p:nvPr/>
        </p:nvSpPr>
        <p:spPr>
          <a:xfrm>
            <a:off x="685800" y="5989320"/>
            <a:ext cx="10881360" cy="320040"/>
          </a:xfrm>
          <a:prstGeom prst="rect">
            <a:avLst/>
          </a:prstGeom>
          <a:noFill/>
        </p:spPr>
        <p:txBody>
          <a:bodyPr wrap="square" lIns="0" rIns="0" tIns="0" bIns="0">
            <a:spAutoFit/>
          </a:bodyPr>
          <a:lstStyle/>
          <a:p>
            <a:pPr>
              <a:lnSpc>
                <a:spcPct val="112000"/>
              </a:lnSpc>
              <a:spcAft>
                <a:spcPts val="700"/>
              </a:spcAft>
              <a:defRPr sz="1400" b="0">
                <a:solidFill>
                  <a:srgbClr val="A6B4C9"/>
                </a:solidFill>
                <a:latin typeface="Arial"/>
              </a:defRPr>
            </a:pPr>
            <a:r>
              <a:t>Synthetic smoke workload; excludes web/API/DB latency and is not production capacity evidence</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Challenges, tradeoffs and limitations</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30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Synthetic data and incomplete coverage limit conclusions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Local AI persistence limits distributed deployment</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Licensing, identity, security review and DR need pilot evidence</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Future roadmap</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31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Licensed, assessed sources and real IdP acceptance</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Durable job metadata, workers and artifact storage</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Measured capacity, recovery drills and independent review</a:t>
            </a:r>
          </a:p>
        </p:txBody>
      </p:sp>
      <p:sp>
        <p:nvSpPr>
          <p:cNvPr id="12" name="TextBox 11"/>
          <p:cNvSpPr txBox="1"/>
          <p:nvPr/>
        </p:nvSpPr>
        <p:spPr>
          <a:xfrm>
            <a:off x="685800" y="5943600"/>
            <a:ext cx="10789920" cy="320040"/>
          </a:xfrm>
          <a:prstGeom prst="rect">
            <a:avLst/>
          </a:prstGeom>
          <a:noFill/>
        </p:spPr>
        <p:txBody>
          <a:bodyPr wrap="square" lIns="0" rIns="0" tIns="0" bIns="0">
            <a:spAutoFit/>
          </a:bodyPr>
          <a:lstStyle/>
          <a:p>
            <a:pPr>
              <a:lnSpc>
                <a:spcPct val="112000"/>
              </a:lnSpc>
              <a:spcAft>
                <a:spcPts val="700"/>
              </a:spcAft>
              <a:defRPr sz="1600" b="1">
                <a:solidFill>
                  <a:srgbClr val="B7A5FF"/>
                </a:solidFill>
                <a:latin typeface="Arial"/>
              </a:defRPr>
            </a:pPr>
            <a:r>
              <a:t>PLANNED / NOT DEPLOYED</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Final summary</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32 / 33</a:t>
            </a:r>
          </a:p>
        </p:txBody>
      </p:sp>
      <p:sp>
        <p:nvSpPr>
          <p:cNvPr id="6" name="TextBox 5"/>
          <p:cNvSpPr txBox="1"/>
          <p:nvPr/>
        </p:nvSpPr>
        <p:spPr>
          <a:xfrm>
            <a:off x="640080" y="1828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01</a:t>
            </a:r>
          </a:p>
        </p:txBody>
      </p:sp>
      <p:sp>
        <p:nvSpPr>
          <p:cNvPr id="7" name="TextBox 6"/>
          <p:cNvSpPr txBox="1"/>
          <p:nvPr/>
        </p:nvSpPr>
        <p:spPr>
          <a:xfrm>
            <a:off x="1417319" y="1828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A working platform for reconstructable urban analysis</a:t>
            </a:r>
          </a:p>
        </p:txBody>
      </p:sp>
      <p:sp>
        <p:nvSpPr>
          <p:cNvPr id="8" name="TextBox 7"/>
          <p:cNvSpPr txBox="1"/>
          <p:nvPr/>
        </p:nvSpPr>
        <p:spPr>
          <a:xfrm>
            <a:off x="640080" y="2971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02</a:t>
            </a:r>
          </a:p>
        </p:txBody>
      </p:sp>
      <p:sp>
        <p:nvSpPr>
          <p:cNvPr id="9" name="TextBox 8"/>
          <p:cNvSpPr txBox="1"/>
          <p:nvPr/>
        </p:nvSpPr>
        <p:spPr>
          <a:xfrm>
            <a:off x="1417319" y="2971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Explicit evidence, uncertainty and policy constraints</a:t>
            </a:r>
          </a:p>
        </p:txBody>
      </p:sp>
      <p:sp>
        <p:nvSpPr>
          <p:cNvPr id="10" name="TextBox 9"/>
          <p:cNvSpPr txBox="1"/>
          <p:nvPr/>
        </p:nvSpPr>
        <p:spPr>
          <a:xfrm>
            <a:off x="640080" y="4114800"/>
            <a:ext cx="548640" cy="457200"/>
          </a:xfrm>
          <a:prstGeom prst="rect">
            <a:avLst/>
          </a:prstGeom>
          <a:noFill/>
        </p:spPr>
        <p:txBody>
          <a:bodyPr wrap="square" lIns="0" rIns="0" tIns="0" bIns="0">
            <a:spAutoFit/>
          </a:bodyPr>
          <a:lstStyle/>
          <a:p>
            <a:pPr>
              <a:lnSpc>
                <a:spcPct val="112000"/>
              </a:lnSpc>
              <a:spcAft>
                <a:spcPts val="700"/>
              </a:spcAft>
              <a:defRPr sz="1800" b="1">
                <a:solidFill>
                  <a:srgbClr val="67E8F9"/>
                </a:solidFill>
                <a:latin typeface="Arial"/>
              </a:defRPr>
            </a:pPr>
            <a:r>
              <a:t>03</a:t>
            </a:r>
          </a:p>
        </p:txBody>
      </p:sp>
      <p:sp>
        <p:nvSpPr>
          <p:cNvPr id="11" name="TextBox 10"/>
          <p:cNvSpPr txBox="1"/>
          <p:nvPr/>
        </p:nvSpPr>
        <p:spPr>
          <a:xfrm>
            <a:off x="1417319" y="4114800"/>
            <a:ext cx="10012680" cy="10058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The next milestone is a controlled real-data pilot</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594360" y="438912"/>
            <a:ext cx="10972800" cy="914400"/>
          </a:xfrm>
          <a:prstGeom prst="rect">
            <a:avLst/>
          </a:prstGeom>
          <a:noFill/>
        </p:spPr>
        <p:txBody>
          <a:bodyPr wrap="square" lIns="0" rIns="0" tIns="0" bIns="0">
            <a:spAutoFit/>
          </a:bodyPr>
          <a:lstStyle/>
          <a:p>
            <a:pPr>
              <a:lnSpc>
                <a:spcPct val="112000"/>
              </a:lnSpc>
              <a:spcAft>
                <a:spcPts val="700"/>
              </a:spcAft>
              <a:defRPr sz="3300" b="1">
                <a:solidFill>
                  <a:srgbClr val="E8EDF5"/>
                </a:solidFill>
                <a:latin typeface="Arial"/>
              </a:defRPr>
            </a:pPr>
            <a:r>
              <a:t>Questions and discussion</a:t>
            </a:r>
          </a:p>
        </p:txBody>
      </p:sp>
      <p:cxnSp>
        <p:nvCxnSpPr>
          <p:cNvPr id="3" name="Connector 2"/>
          <p:cNvCxnSpPr/>
          <p:nvPr/>
        </p:nvCxnSpPr>
        <p:spPr>
          <a:xfrm>
            <a:off x="594360" y="1353312"/>
            <a:ext cx="11000232" cy="0"/>
          </a:xfrm>
          <a:prstGeom prst="line">
            <a:avLst/>
          </a:prstGeom>
          <a:ln w="13970">
            <a:solidFill>
              <a:srgbClr val="67E8F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46520"/>
            <a:ext cx="1033272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CITYPULSE  |  SYNTHETIC DEVELOPMENT / IMPLEMENTATION EVIDENCE</a:t>
            </a:r>
          </a:p>
        </p:txBody>
      </p:sp>
      <p:sp>
        <p:nvSpPr>
          <p:cNvPr id="5" name="TextBox 4"/>
          <p:cNvSpPr txBox="1"/>
          <p:nvPr/>
        </p:nvSpPr>
        <p:spPr>
          <a:xfrm>
            <a:off x="10771632" y="6446520"/>
            <a:ext cx="822960" cy="228600"/>
          </a:xfrm>
          <a:prstGeom prst="rect">
            <a:avLst/>
          </a:prstGeom>
          <a:noFill/>
        </p:spPr>
        <p:txBody>
          <a:bodyPr wrap="square" lIns="0" rIns="0" tIns="0" bIns="0">
            <a:spAutoFit/>
          </a:bodyPr>
          <a:lstStyle/>
          <a:p>
            <a:pPr>
              <a:lnSpc>
                <a:spcPct val="112000"/>
              </a:lnSpc>
              <a:spcAft>
                <a:spcPts val="700"/>
              </a:spcAft>
              <a:defRPr sz="1000" b="0">
                <a:solidFill>
                  <a:srgbClr val="A6B4C9"/>
                </a:solidFill>
                <a:latin typeface="Arial"/>
              </a:defRPr>
            </a:pPr>
            <a:r>
              <a:t>33 / 33</a:t>
            </a:r>
          </a:p>
        </p:txBody>
      </p:sp>
      <p:sp>
        <p:nvSpPr>
          <p:cNvPr id="6" name="TextBox 5"/>
          <p:cNvSpPr txBox="1"/>
          <p:nvPr/>
        </p:nvSpPr>
        <p:spPr>
          <a:xfrm>
            <a:off x="640080" y="2011680"/>
            <a:ext cx="7315200" cy="1097280"/>
          </a:xfrm>
          <a:prstGeom prst="rect">
            <a:avLst/>
          </a:prstGeom>
          <a:noFill/>
        </p:spPr>
        <p:txBody>
          <a:bodyPr wrap="square" lIns="0" rIns="0" tIns="0" bIns="0">
            <a:spAutoFit/>
          </a:bodyPr>
          <a:lstStyle/>
          <a:p>
            <a:pPr>
              <a:lnSpc>
                <a:spcPct val="112000"/>
              </a:lnSpc>
              <a:spcAft>
                <a:spcPts val="700"/>
              </a:spcAft>
              <a:defRPr sz="5400" b="1">
                <a:solidFill>
                  <a:srgbClr val="67E8F9"/>
                </a:solidFill>
                <a:latin typeface="Arial"/>
              </a:defRPr>
            </a:pPr>
            <a:r>
              <a:t>Questions?</a:t>
            </a:r>
          </a:p>
        </p:txBody>
      </p:sp>
      <p:sp>
        <p:nvSpPr>
          <p:cNvPr id="7" name="TextBox 6"/>
          <p:cNvSpPr txBox="1"/>
          <p:nvPr/>
        </p:nvSpPr>
        <p:spPr>
          <a:xfrm>
            <a:off x="685800" y="3429000"/>
            <a:ext cx="7406640" cy="548640"/>
          </a:xfrm>
          <a:prstGeom prst="rect">
            <a:avLst/>
          </a:prstGeom>
          <a:noFill/>
        </p:spPr>
        <p:txBody>
          <a:bodyPr wrap="square" lIns="0" rIns="0" tIns="0" bIns="0">
            <a:spAutoFit/>
          </a:bodyPr>
          <a:lstStyle/>
          <a:p>
            <a:pPr>
              <a:lnSpc>
                <a:spcPct val="112000"/>
              </a:lnSpc>
              <a:spcAft>
                <a:spcPts val="700"/>
              </a:spcAft>
              <a:defRPr sz="2500" b="0">
                <a:solidFill>
                  <a:srgbClr val="E8EDF5"/>
                </a:solidFill>
                <a:latin typeface="Arial"/>
              </a:defRPr>
            </a:pPr>
            <a:r>
              <a:t>Data • models • security • deployment</a:t>
            </a:r>
          </a:p>
        </p:txBody>
      </p:sp>
      <p:sp>
        <p:nvSpPr>
          <p:cNvPr id="8" name="TextBox 7"/>
          <p:cNvSpPr txBox="1"/>
          <p:nvPr/>
        </p:nvSpPr>
        <p:spPr>
          <a:xfrm>
            <a:off x="685800" y="4663440"/>
            <a:ext cx="7315200" cy="731520"/>
          </a:xfrm>
          <a:prstGeom prst="rect">
            <a:avLst/>
          </a:prstGeom>
          <a:noFill/>
        </p:spPr>
        <p:txBody>
          <a:bodyPr wrap="square" lIns="0" rIns="0" tIns="0" bIns="0">
            <a:spAutoFit/>
          </a:bodyPr>
          <a:lstStyle/>
          <a:p>
            <a:pPr>
              <a:lnSpc>
                <a:spcPct val="112000"/>
              </a:lnSpc>
              <a:spcAft>
                <a:spcPts val="700"/>
              </a:spcAft>
              <a:defRPr sz="2000" b="0">
                <a:solidFill>
                  <a:srgbClr val="B7A5FF"/>
                </a:solidFill>
                <a:latin typeface="Arial"/>
              </a:defRPr>
            </a:pPr>
            <a:r>
              <a:t>https://github.com/manikantbindass/CityPulse</a:t>
            </a:r>
          </a:p>
        </p:txBody>
      </p:sp>
      <p:pic>
        <p:nvPicPr>
          <p:cNvPr id="9" name="Picture 8" descr="repository-qr.png"/>
          <p:cNvPicPr>
            <a:picLocks noChangeAspect="1"/>
          </p:cNvPicPr>
          <p:nvPr/>
        </p:nvPicPr>
        <p:blipFill>
          <a:blip r:embed="rId3"/>
          <a:stretch>
            <a:fillRect/>
          </a:stretch>
        </p:blipFill>
        <p:spPr>
          <a:xfrm>
            <a:off x="8778240" y="1920240"/>
            <a:ext cx="2514600" cy="2514600"/>
          </a:xfrm>
          <a:prstGeom prst="rect">
            <a:avLst/>
          </a:prstGeom>
        </p:spPr>
      </p:pic>
      <p:sp>
        <p:nvSpPr>
          <p:cNvPr id="10" name="TextBox 9"/>
          <p:cNvSpPr txBox="1"/>
          <p:nvPr/>
        </p:nvSpPr>
        <p:spPr>
          <a:xfrm>
            <a:off x="8549640" y="4709160"/>
            <a:ext cx="3108960" cy="731520"/>
          </a:xfrm>
          <a:prstGeom prst="rect">
            <a:avLst/>
          </a:prstGeom>
          <a:noFill/>
        </p:spPr>
        <p:txBody>
          <a:bodyPr wrap="square" lIns="0" rIns="0" tIns="0" bIns="0">
            <a:spAutoFit/>
          </a:bodyPr>
          <a:lstStyle/>
          <a:p>
            <a:pPr>
              <a:lnSpc>
                <a:spcPct val="112000"/>
              </a:lnSpc>
              <a:spcAft>
                <a:spcPts val="700"/>
              </a:spcAft>
              <a:defRPr sz="1700" b="0">
                <a:solidFill>
                  <a:srgbClr val="A6B4C9"/>
                </a:solidFill>
                <a:latin typeface="Arial"/>
              </a:defRPr>
            </a:pPr>
            <a:r>
              <a:t>Repository and reproducible evidence</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CityPulse - AI-Powered Urban Intelligence &amp; Blockchain Analytics</dc:title>
  <dc:subject>Technical project presentation; synthetic demonstration</dc:subject>
  <dc:creator>CityPulse repository owner: manikantbindass</dc:creator>
  <cp:keywords>CityPulse; urban analytics; synthetic data; implementation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