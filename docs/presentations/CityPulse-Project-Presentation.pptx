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0"/>
    <c:plotArea>
      <c:barChart>
        <c:barDir val="bar"/>
        <c:grouping val="clustered"/>
        <c:ser>
          <c:idx val="0"/>
          <c:order val="0"/>
          <c:tx>
            <c:strRef>
              <c:f>Sheet1!$B$1</c:f>
              <c:strCache>
                <c:ptCount val="1"/>
                <c:pt idx="0">
                  <c:v>Selected-model test MAE</c:v>
                </c:pt>
              </c:strCache>
            </c:strRef>
          </c:tx>
          <c:spPr>
            <a:solidFill>
              <a:srgbClr val="67E8F9"/>
            </a:solidFill>
            <a:ln>
              <a:solidFill>
                <a:srgbClr val="67E8F9"/>
              </a:solidFill>
            </a:ln>
          </c:spPr>
          <c:cat>
            <c:strRef>
              <c:f>Sheet1!$A$2:$A$9</c:f>
              <c:strCache>
                <c:ptCount val="8"/>
                <c:pt idx="0">
                  <c:v>AMS/C/G</c:v>
                </c:pt>
                <c:pt idx="1">
                  <c:v>AMS/C/M</c:v>
                </c:pt>
                <c:pt idx="2">
                  <c:v>AMS/N/G</c:v>
                </c:pt>
                <c:pt idx="3">
                  <c:v>AMS/N/M</c:v>
                </c:pt>
                <c:pt idx="4">
                  <c:v>BLR/C/G</c:v>
                </c:pt>
                <c:pt idx="5">
                  <c:v>BLR/C/M</c:v>
                </c:pt>
                <c:pt idx="6">
                  <c:v>BLR/N/G</c:v>
                </c:pt>
                <c:pt idx="7">
                  <c:v>BLR/N/M</c:v>
                </c:pt>
              </c:strCache>
            </c:strRef>
          </c:cat>
          <c:val>
            <c:numRef>
              <c:f>Sheet1!$B$2:$B$9</c:f>
              <c:numCache>
                <c:formatCode>General</c:formatCode>
                <c:ptCount val="8"/>
                <c:pt idx="0">
                  <c:v>4.545566428487243</c:v>
                </c:pt>
                <c:pt idx="1">
                  <c:v>3.346054782434872</c:v>
                </c:pt>
                <c:pt idx="2">
                  <c:v>4.657688985176151</c:v>
                </c:pt>
                <c:pt idx="3">
                  <c:v>4.350763858296085</c:v>
                </c:pt>
                <c:pt idx="4">
                  <c:v>3.254728323994545</c:v>
                </c:pt>
                <c:pt idx="5">
                  <c:v>3.8419661985784153</c:v>
                </c:pt>
                <c:pt idx="6">
                  <c:v>3.7048969154251705</c:v>
                </c:pt>
                <c:pt idx="7">
                  <c:v>5.196467567567565</c:v>
                </c:pt>
              </c:numCache>
            </c:numRef>
          </c:val>
        </c:ser>
        <c:axId val="-2068027336"/>
        <c:axId val="-2113994440"/>
      </c:barChart>
      <c:catAx>
        <c:axId val="-2068027336"/>
        <c:scaling>
          <c:orientation val="minMax"/>
        </c:scaling>
        <c:delete val="0"/>
        <c:axPos val="l"/>
        <c:majorTickMark val="out"/>
        <c:minorTickMark val="none"/>
        <c:tickLblPos val="nextTo"/>
        <c:txPr>
          <a:bodyPr/>
          <a:lstStyle/>
          <a:p>
            <a:pPr>
              <a:defRPr sz="1400">
                <a:solidFill>
                  <a:srgbClr val="A6B4C9"/>
                </a:solidFill>
                <a:latin typeface="Arial"/>
              </a:defRPr>
            </a:pPr>
          </a:p>
        </c:txPr>
        <c:crossAx val="-2113994440"/>
        <c:crosses val="autoZero"/>
        <c:auto val="1"/>
        <c:lblAlgn val="ctr"/>
        <c:lblOffset val="100"/>
        <c:noMultiLvlLbl val="0"/>
      </c:catAx>
      <c:valAx>
        <c:axId val="-2113994440"/>
        <c:scaling/>
        <c:delete val="0"/>
        <c:axPos val="b"/>
        <c:majorGridlines>
          <c:spPr>
            <a:ln>
              <a:solidFill>
                <a:srgbClr val="30445E"/>
              </a:solidFill>
            </a:ln>
          </c:spPr>
        </c:majorGridlines>
        <c:majorTickMark val="out"/>
        <c:minorTickMark val="none"/>
        <c:tickLblPos val="nextTo"/>
        <c:txPr>
          <a:bodyPr/>
          <a:lstStyle/>
          <a:p>
            <a:pPr>
              <a:defRPr sz="1400">
                <a:solidFill>
                  <a:srgbClr val="A6B4C9"/>
                </a:solidFill>
                <a:latin typeface="Arial"/>
              </a:defRPr>
            </a:pPr>
          </a:p>
        </c:txPr>
        <c:crossAx val="-2068027336"/>
        <c:crosses val="autoZero"/>
      </c:valAx>
      <c:spPr>
        <a:solidFill>
          <a:srgbClr val="090D16"/>
        </a:solidFill>
        <a:ln>
          <a:noFill/>
        </a:ln>
      </c:spPr>
    </c:plotArea>
    <c:dispBlanksAs val="gap"/>
  </c:chart>
  <c:txPr>
    <a:bodyPr/>
    <a:lstStyle/>
    <a:p>
      <a:pPr>
        <a:defRPr sz="1400">
          <a:solidFill>
            <a:srgbClr val="A6B4C9"/>
          </a:solidFill>
          <a:latin typeface="Arial"/>
        </a:defRPr>
      </a:pPr>
      <a:endParaRPr lang="en-US"/>
    </a:p>
  </c:txPr>
  <c:externalData r:id="rId1">
    <c:autoUpdate val="0"/>
  </c:externalData>
  <c:spPr>
    <a:solidFill>
      <a:srgbClr val="090D16"/>
    </a:solidFill>
    <a:ln>
      <a:noFill/>
    </a:ln>
  </c:spPr>
</c:chartSpace>
</file>

<file path=ppt/charts/chart2.xml><?xml version="1.0" encoding="utf-8"?>
<c:chartSpace xmlns:c="http://schemas.openxmlformats.org/drawingml/2006/chart" xmlns:a="http://schemas.openxmlformats.org/drawingml/2006/main" xmlns:r="http://schemas.openxmlformats.org/officeDocument/2006/relationships">
  <c:date1904 val="0"/>
  <c:style val="10"/>
  <c:chart>
    <c:autoTitleDeleted val="0"/>
    <c:plotArea>
      <c:lineChart>
        <c:grouping val="standard"/>
        <c:varyColors val="0"/>
        <c:ser>
          <c:idx val="0"/>
          <c:order val="0"/>
          <c:tx>
            <c:strRef>
              <c:f>Sheet1!$B$1</c:f>
              <c:strCache>
                <c:ptCount val="1"/>
                <c:pt idx="0">
                  <c:v>Forecast</c:v>
                </c:pt>
              </c:strCache>
            </c:strRef>
          </c:tx>
          <c:spPr>
            <a:solidFill>
              <a:srgbClr val="67E8F9"/>
            </a:solidFill>
            <a:ln>
              <a:solidFill>
                <a:srgbClr val="67E8F9"/>
              </a:solidFill>
            </a:ln>
          </c:spPr>
          <c:marker>
            <c:symbol val="none"/>
          </c:marker>
          <c:cat>
            <c:strRef>
              <c:f>Sheet1!$A$2:$A$8</c:f>
              <c:strCache>
                <c:ptCount val="7"/>
                <c:pt idx="0">
                  <c:v>07-29</c:v>
                </c:pt>
                <c:pt idx="1">
                  <c:v>07-30</c:v>
                </c:pt>
                <c:pt idx="2">
                  <c:v>07-31</c:v>
                </c:pt>
                <c:pt idx="3">
                  <c:v>08-01</c:v>
                </c:pt>
                <c:pt idx="4">
                  <c:v>08-02</c:v>
                </c:pt>
                <c:pt idx="5">
                  <c:v>08-03</c:v>
                </c:pt>
                <c:pt idx="6">
                  <c:v>08-04</c:v>
                </c:pt>
              </c:strCache>
            </c:strRef>
          </c:cat>
          <c:val>
            <c:numRef>
              <c:f>Sheet1!$B$2:$B$8</c:f>
              <c:numCache>
                <c:formatCode>General</c:formatCode>
                <c:ptCount val="7"/>
                <c:pt idx="0">
                  <c:v>107.5216</c:v>
                </c:pt>
                <c:pt idx="1">
                  <c:v>113.8426</c:v>
                </c:pt>
                <c:pt idx="2">
                  <c:v>114.4309</c:v>
                </c:pt>
                <c:pt idx="3">
                  <c:v>125.6791</c:v>
                </c:pt>
                <c:pt idx="4">
                  <c:v>132.4491</c:v>
                </c:pt>
                <c:pt idx="5">
                  <c:v>124.8249</c:v>
                </c:pt>
                <c:pt idx="6">
                  <c:v>107.3118</c:v>
                </c:pt>
              </c:numCache>
            </c:numRef>
          </c:val>
          <c:smooth val="0"/>
        </c:ser>
        <c:ser>
          <c:idx val="1"/>
          <c:order val="1"/>
          <c:tx>
            <c:strRef>
              <c:f>Sheet1!$C$1</c:f>
              <c:strCache>
                <c:ptCount val="1"/>
                <c:pt idx="0">
                  <c:v>Lower</c:v>
                </c:pt>
              </c:strCache>
            </c:strRef>
          </c:tx>
          <c:spPr>
            <a:solidFill>
              <a:srgbClr val="B7A5FF"/>
            </a:solidFill>
            <a:ln>
              <a:solidFill>
                <a:srgbClr val="B7A5FF"/>
              </a:solidFill>
            </a:ln>
          </c:spPr>
          <c:marker>
            <c:symbol val="none"/>
          </c:marker>
          <c:cat>
            <c:strRef>
              <c:f>Sheet1!$A$2:$A$8</c:f>
              <c:strCache>
                <c:ptCount val="7"/>
                <c:pt idx="0">
                  <c:v>07-29</c:v>
                </c:pt>
                <c:pt idx="1">
                  <c:v>07-30</c:v>
                </c:pt>
                <c:pt idx="2">
                  <c:v>07-31</c:v>
                </c:pt>
                <c:pt idx="3">
                  <c:v>08-01</c:v>
                </c:pt>
                <c:pt idx="4">
                  <c:v>08-02</c:v>
                </c:pt>
                <c:pt idx="5">
                  <c:v>08-03</c:v>
                </c:pt>
                <c:pt idx="6">
                  <c:v>08-04</c:v>
                </c:pt>
              </c:strCache>
            </c:strRef>
          </c:cat>
          <c:val>
            <c:numRef>
              <c:f>Sheet1!$C$2:$C$8</c:f>
              <c:numCache>
                <c:formatCode>General</c:formatCode>
                <c:ptCount val="7"/>
                <c:pt idx="0">
                  <c:v>97.8912</c:v>
                </c:pt>
                <c:pt idx="1">
                  <c:v>100.2232</c:v>
                </c:pt>
                <c:pt idx="2">
                  <c:v>97.7505</c:v>
                </c:pt>
                <c:pt idx="3">
                  <c:v>106.4183</c:v>
                </c:pt>
                <c:pt idx="4">
                  <c:v>110.9148</c:v>
                </c:pt>
                <c:pt idx="5">
                  <c:v>101.2353</c:v>
                </c:pt>
                <c:pt idx="6">
                  <c:v>81.8321</c:v>
                </c:pt>
              </c:numCache>
            </c:numRef>
          </c:val>
          <c:smooth val="0"/>
        </c:ser>
        <c:ser>
          <c:idx val="2"/>
          <c:order val="2"/>
          <c:tx>
            <c:strRef>
              <c:f>Sheet1!$D$1</c:f>
              <c:strCache>
                <c:ptCount val="1"/>
                <c:pt idx="0">
                  <c:v>Upper</c:v>
                </c:pt>
              </c:strCache>
            </c:strRef>
          </c:tx>
          <c:spPr>
            <a:solidFill>
              <a:srgbClr val="879BFF"/>
            </a:solidFill>
            <a:ln>
              <a:solidFill>
                <a:srgbClr val="879BFF"/>
              </a:solidFill>
            </a:ln>
          </c:spPr>
          <c:marker>
            <c:symbol val="none"/>
          </c:marker>
          <c:cat>
            <c:strRef>
              <c:f>Sheet1!$A$2:$A$8</c:f>
              <c:strCache>
                <c:ptCount val="7"/>
                <c:pt idx="0">
                  <c:v>07-29</c:v>
                </c:pt>
                <c:pt idx="1">
                  <c:v>07-30</c:v>
                </c:pt>
                <c:pt idx="2">
                  <c:v>07-31</c:v>
                </c:pt>
                <c:pt idx="3">
                  <c:v>08-01</c:v>
                </c:pt>
                <c:pt idx="4">
                  <c:v>08-02</c:v>
                </c:pt>
                <c:pt idx="5">
                  <c:v>08-03</c:v>
                </c:pt>
                <c:pt idx="6">
                  <c:v>08-04</c:v>
                </c:pt>
              </c:strCache>
            </c:strRef>
          </c:cat>
          <c:val>
            <c:numRef>
              <c:f>Sheet1!$D$2:$D$8</c:f>
              <c:numCache>
                <c:formatCode>General</c:formatCode>
                <c:ptCount val="7"/>
                <c:pt idx="0">
                  <c:v>117.1521</c:v>
                </c:pt>
                <c:pt idx="1">
                  <c:v>127.4621</c:v>
                </c:pt>
                <c:pt idx="2">
                  <c:v>131.1113</c:v>
                </c:pt>
                <c:pt idx="3">
                  <c:v>144.94</c:v>
                </c:pt>
                <c:pt idx="4">
                  <c:v>153.9834</c:v>
                </c:pt>
                <c:pt idx="5">
                  <c:v>148.4145</c:v>
                </c:pt>
                <c:pt idx="6">
                  <c:v>132.7915</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1400">
                <a:solidFill>
                  <a:srgbClr val="A6B4C9"/>
                </a:solidFill>
                <a:latin typeface="Arial"/>
              </a:defRPr>
            </a:pPr>
          </a:p>
        </c:txPr>
        <c:crossAx val="2140495176"/>
        <c:crosses val="autoZero"/>
        <c:auto val="1"/>
        <c:lblAlgn val="ctr"/>
        <c:lblOffset val="100"/>
        <c:noMultiLvlLbl val="0"/>
      </c:catAx>
      <c:valAx>
        <c:axId val="2140495176"/>
        <c:scaling/>
        <c:delete val="0"/>
        <c:axPos val="l"/>
        <c:majorGridlines>
          <c:spPr>
            <a:ln>
              <a:solidFill>
                <a:srgbClr val="30445E"/>
              </a:solidFill>
            </a:ln>
          </c:spPr>
        </c:majorGridlines>
        <c:majorTickMark val="out"/>
        <c:minorTickMark val="none"/>
        <c:tickLblPos val="nextTo"/>
        <c:txPr>
          <a:bodyPr/>
          <a:lstStyle/>
          <a:p>
            <a:pPr>
              <a:defRPr sz="1400">
                <a:solidFill>
                  <a:srgbClr val="A6B4C9"/>
                </a:solidFill>
                <a:latin typeface="Arial"/>
              </a:defRPr>
            </a:pPr>
          </a:p>
        </c:txPr>
        <c:crossAx val="2118791784"/>
        <c:crosses val="autoZero"/>
      </c:valAx>
      <c:spPr>
        <a:solidFill>
          <a:srgbClr val="090D16"/>
        </a:solidFill>
        <a:ln>
          <a:noFill/>
        </a:ln>
      </c:spPr>
    </c:plotArea>
    <c:legend>
      <c:legendPos val="b"/>
      <c:layout/>
      <c:overlay val="0"/>
      <c:txPr>
        <a:bodyPr/>
        <a:lstStyle/>
        <a:p>
          <a:pPr>
            <a:defRPr sz="1400">
              <a:latin typeface="Arial"/>
            </a:defRPr>
          </a:pPr>
        </a:p>
      </c:txPr>
    </c:legend>
    <c:plotVisOnly val="1"/>
    <c:dispBlanksAs val="gap"/>
    <c:showDLblsOverMax val="0"/>
  </c:chart>
  <c:txPr>
    <a:bodyPr/>
    <a:lstStyle/>
    <a:p>
      <a:pPr>
        <a:defRPr sz="1400">
          <a:solidFill>
            <a:srgbClr val="A6B4C9"/>
          </a:solidFill>
          <a:latin typeface="Arial"/>
        </a:defRPr>
      </a:pPr>
      <a:endParaRPr lang="en-US"/>
    </a:p>
  </c:txPr>
  <c:externalData r:id="rId1">
    <c:autoUpdate val="0"/>
  </c:externalData>
  <c:spPr>
    <a:solidFill>
      <a:srgbClr val="090D16"/>
    </a:solidFill>
    <a:ln>
      <a:noFill/>
    </a:ln>
  </c:spPr>
</c:chartSpace>
</file>

<file path=ppt/charts/chart3.xml><?xml version="1.0" encoding="utf-8"?>
<c:chartSpace xmlns:c="http://schemas.openxmlformats.org/drawingml/2006/chart" xmlns:a="http://schemas.openxmlformats.org/drawingml/2006/main" xmlns:r="http://schemas.openxmlformats.org/officeDocument/2006/relationships">
  <c:date1904 val="0"/>
  <c:style val="10"/>
  <c:chart>
    <c:autoTitleDeleted val="0"/>
    <c:plotArea>
      <c:barChart>
        <c:barDir val="col"/>
        <c:grouping val="clustered"/>
        <c:ser>
          <c:idx val="0"/>
          <c:order val="0"/>
          <c:tx>
            <c:strRef>
              <c:f>Sheet1!$B$1</c:f>
              <c:strCache>
                <c:ptCount val="1"/>
                <c:pt idx="0">
                  <c:v>Milliseconds</c:v>
                </c:pt>
              </c:strCache>
            </c:strRef>
          </c:tx>
          <c:spPr>
            <a:solidFill>
              <a:srgbClr val="67E8F9"/>
            </a:solidFill>
            <a:ln>
              <a:solidFill>
                <a:srgbClr val="67E8F9"/>
              </a:solidFill>
            </a:ln>
          </c:spPr>
          <c:cat>
            <c:strRef>
              <c:f>Sheet1!$A$2:$A$5</c:f>
              <c:strCache>
                <c:ptCount val="4"/>
                <c:pt idx="0">
                  <c:v>Average</c:v>
                </c:pt>
                <c:pt idx="1">
                  <c:v>Median</c:v>
                </c:pt>
                <c:pt idx="2">
                  <c:v>p95</c:v>
                </c:pt>
                <c:pt idx="3">
                  <c:v>Maximum</c:v>
                </c:pt>
              </c:strCache>
            </c:strRef>
          </c:cat>
          <c:val>
            <c:numRef>
              <c:f>Sheet1!$B$2:$B$5</c:f>
              <c:numCache>
                <c:formatCode>General</c:formatCode>
                <c:ptCount val="4"/>
                <c:pt idx="0">
                  <c:v>51.792666666666655</c:v>
                </c:pt>
                <c:pt idx="1">
                  <c:v>46.7382</c:v>
                </c:pt>
                <c:pt idx="2">
                  <c:v>74.6798</c:v>
                </c:pt>
                <c:pt idx="3">
                  <c:v>80.2124</c:v>
                </c:pt>
              </c:numCache>
            </c:numRef>
          </c:val>
        </c:ser>
        <c:axId val="-2068027336"/>
        <c:axId val="-2113994440"/>
      </c:barChart>
      <c:catAx>
        <c:axId val="-2068027336"/>
        <c:scaling>
          <c:orientation val="minMax"/>
        </c:scaling>
        <c:delete val="0"/>
        <c:axPos val="b"/>
        <c:majorTickMark val="out"/>
        <c:minorTickMark val="none"/>
        <c:tickLblPos val="nextTo"/>
        <c:txPr>
          <a:bodyPr/>
          <a:lstStyle/>
          <a:p>
            <a:pPr>
              <a:defRPr sz="1400">
                <a:solidFill>
                  <a:srgbClr val="A6B4C9"/>
                </a:solidFill>
                <a:latin typeface="Arial"/>
              </a:defRPr>
            </a:pPr>
          </a:p>
        </c:txPr>
        <c:crossAx val="-2113994440"/>
        <c:crosses val="autoZero"/>
        <c:auto val="1"/>
        <c:lblAlgn val="ctr"/>
        <c:lblOffset val="100"/>
        <c:noMultiLvlLbl val="0"/>
      </c:catAx>
      <c:valAx>
        <c:axId val="-2113994440"/>
        <c:scaling/>
        <c:delete val="0"/>
        <c:axPos val="l"/>
        <c:majorGridlines>
          <c:spPr>
            <a:ln>
              <a:solidFill>
                <a:srgbClr val="30445E"/>
              </a:solidFill>
            </a:ln>
          </c:spPr>
        </c:majorGridlines>
        <c:majorTickMark val="out"/>
        <c:minorTickMark val="none"/>
        <c:tickLblPos val="nextTo"/>
        <c:txPr>
          <a:bodyPr/>
          <a:lstStyle/>
          <a:p>
            <a:pPr>
              <a:defRPr sz="1400">
                <a:solidFill>
                  <a:srgbClr val="A6B4C9"/>
                </a:solidFill>
                <a:latin typeface="Arial"/>
              </a:defRPr>
            </a:pPr>
          </a:p>
        </c:txPr>
        <c:crossAx val="-2068027336"/>
        <c:crosses val="autoZero"/>
      </c:valAx>
      <c:spPr>
        <a:solidFill>
          <a:srgbClr val="090D16"/>
        </a:solidFill>
        <a:ln>
          <a:noFill/>
        </a:ln>
      </c:spPr>
    </c:plotArea>
    <c:dispBlanksAs val="gap"/>
  </c:chart>
  <c:txPr>
    <a:bodyPr/>
    <a:lstStyle/>
    <a:p>
      <a:pPr>
        <a:defRPr sz="1400">
          <a:solidFill>
            <a:srgbClr val="A6B4C9"/>
          </a:solidFill>
          <a:latin typeface="Arial"/>
        </a:defRPr>
      </a:pPr>
      <a:endParaRPr lang="en-US"/>
    </a:p>
  </c:txPr>
  <c:externalData r:id="rId1">
    <c:autoUpdate val="0"/>
  </c:externalData>
  <c:spPr>
    <a:solidFill>
      <a:srgbClr val="090D16"/>
    </a:solidFill>
    <a:ln>
      <a:noFill/>
    </a:ln>
  </c:spPr>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CityPulse as an engineering project for urban intelligence and blockchain analytics. The repository owner is the verified GitHub account manikantbindass. The project uses synthetic demonstrations and has no claimed municipal deployment or real-data partnership.</a:t>
            </a:r>
          </a:p>
          <a:p/>
          <a:p>
            <a:r>
              <a:t>Application snapshot: 370e60164da719fc506bd69c2796fb59823cc4ba</a:t>
            </a:r>
          </a:p>
          <a:p>
            <a:r>
              <a:t>Evidence date: 2026-10-30</a:t>
            </a:r>
          </a:p>
          <a:p>
            <a:r>
              <a:t>Sources:</a:t>
            </a:r>
          </a:p>
          <a:p>
            <a:r>
              <a:t>README.md</a:t>
            </a:r>
          </a:p>
          <a:p>
            <a:r>
              <a:t>https://github.com/manikantbindass/CityPulse/blob/370e60164da719fc506bd69c2796fb59823cc4ba/README.md</a:t>
            </a:r>
          </a:p>
          <a:p>
            <a:r>
              <a:t>docs/reports/source/report.json (companion editable source in this delivery)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integrated path is Next.js, Spring, PostGIS/Redis and FastAPI, with an operator-driven local blockchain demonstration. Explain that implemented code, demonstrated results and proposed operating targets are separate evidence levels. The companion report contains the full scope and source hashes.</a:t>
            </a:r>
          </a:p>
          <a:p/>
          <a:p>
            <a:r>
              <a:t>Application snapshot: 370e60164da719fc506bd69c2796fb59823cc4ba</a:t>
            </a:r>
          </a:p>
          <a:p>
            <a:r>
              <a:t>Evidence date: 2026-10-30</a:t>
            </a:r>
          </a:p>
          <a:p>
            <a:r>
              <a:t>Sources:</a:t>
            </a:r>
          </a:p>
          <a:p>
            <a:r>
              <a:t>README.md</a:t>
            </a:r>
          </a:p>
          <a:p>
            <a:r>
              <a:t>https://github.com/manikantbindass/CityPulse/blob/370e60164da719fc506bd69c2796fb59823cc4ba/README.md</a:t>
            </a:r>
          </a:p>
          <a:p>
            <a:r>
              <a:t>compose.yaml</a:t>
            </a:r>
          </a:p>
          <a:p>
            <a:r>
              <a:t>https://github.com/manikantbindass/CityPulse/blob/370e60164da719fc506bd69c2796fb59823cc4ba/compose.yaml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an example of a supply flow and an inventory stock: they cannot be summed without a period assumption. A business location is not service capacity. These are modeling problems before they are algorithm problems. No real-city outcome improvement has been measured.</a:t>
            </a:r>
          </a:p>
          <a:p/>
          <a:p>
            <a:r>
              <a:t>Application snapshot: 370e60164da719fc506bd69c2796fb59823cc4ba</a:t>
            </a:r>
          </a:p>
          <a:p>
            <a:r>
              <a:t>Evidence date: 2026-10-30</a:t>
            </a:r>
          </a:p>
          <a:p>
            <a:r>
              <a:t>Sources:</a:t>
            </a:r>
          </a:p>
          <a:p>
            <a:r>
              <a:t>docs/data-dictionary.md</a:t>
            </a:r>
          </a:p>
          <a:p>
            <a:r>
              <a:t>https://github.com/manikantbindass/CityPulse/blob/370e60164da719fc506bd69c2796fb59823cc4ba/docs/data-dictionary.md</a:t>
            </a:r>
          </a:p>
          <a:p>
            <a:r>
              <a:t>services/api/src/main/java/io/citypulse/workspace/application/AnalyticsService.java</a:t>
            </a:r>
          </a:p>
          <a:p>
            <a:r>
              <a:t>https://github.com/manikantbindass/CityPulse/blob/370e60164da719fc506bd69c2796fb59823cc4ba/services/api/src/main/java/io/citypulse/workspace/application/AnalyticsService.java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qualitative gap analysis of integration boundaries, not a survey claiming competing tools lack features. Spreadsheets, GIS, notebooks and ledgers remain valid. CityPulse adds explicit transition contracts and provenance around them.</a:t>
            </a:r>
          </a:p>
          <a:p/>
          <a:p>
            <a:r>
              <a:t>Application snapshot: 370e60164da719fc506bd69c2796fb59823cc4ba</a:t>
            </a:r>
          </a:p>
          <a:p>
            <a:r>
              <a:t>Evidence date: 2026-10-30</a:t>
            </a:r>
          </a:p>
          <a:p>
            <a:r>
              <a:t>Sources:</a:t>
            </a:r>
          </a:p>
          <a:p>
            <a:r>
              <a:t>docs/reports/source/narrative.md (companion editable source in this delivery)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user remains the decision owner. Observation, forecast and optimization are distinct objects. A hash establishes integrity, not truth. The solution diagram is editable and summarizes implemented capabilities without implying a queue worker or automatic resource dispatch.</a:t>
            </a:r>
          </a:p>
          <a:p/>
          <a:p>
            <a:r>
              <a:t>Application snapshot: 370e60164da719fc506bd69c2796fb59823cc4ba</a:t>
            </a:r>
          </a:p>
          <a:p>
            <a:r>
              <a:t>Evidence date: 2026-10-30</a:t>
            </a:r>
          </a:p>
          <a:p>
            <a:r>
              <a:t>Sources:</a:t>
            </a:r>
          </a:p>
          <a:p>
            <a:r>
              <a:t>README.md</a:t>
            </a:r>
          </a:p>
          <a:p>
            <a:r>
              <a:t>https://github.com/manikantbindass/CityPulse/blob/370e60164da719fc506bd69c2796fb59823cc4ba/README.md</a:t>
            </a:r>
          </a:p>
          <a:p>
            <a:r>
              <a:t>docs/decision-engine.md</a:t>
            </a:r>
          </a:p>
          <a:p>
            <a:r>
              <a:t>https://github.com/manikantbindass/CityPulse/blob/370e60164da719fc506bd69c2796fb59823cc4ba/docs/decision-engine.md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Vision should be framed as a testable engineering objective. Field effectiveness, real source completeness and production SLOs require separate pilot evaluation. Avoid claims of guaranteed profit, autonomous city management or certified security.</a:t>
            </a:r>
          </a:p>
          <a:p/>
          <a:p>
            <a:r>
              <a:t>Application snapshot: 370e60164da719fc506bd69c2796fb59823cc4ba</a:t>
            </a:r>
          </a:p>
          <a:p>
            <a:r>
              <a:t>Evidence date: 2026-10-30</a:t>
            </a:r>
          </a:p>
          <a:p>
            <a:r>
              <a:t>Sources:</a:t>
            </a:r>
          </a:p>
          <a:p>
            <a:r>
              <a:t>docs/PRD.md</a:t>
            </a:r>
          </a:p>
          <a:p>
            <a:r>
              <a:t>https://github.com/manikantbindass/CityPulse/blob/370e60164da719fc506bd69c2796fb59823cc4ba/docs/PRD.md</a:t>
            </a:r>
          </a:p>
          <a:p>
            <a:r>
              <a:t>docs/reports/source/narrative.md (companion editable source in this delivery)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Current general business data is tenant-scoped, not individually owner-scoped. That is a deployment gate for mixed-owner tenants. Demo persona settings change navigation only; the server evaluates real membership and scopes on every protected request.</a:t>
            </a:r>
          </a:p>
          <a:p/>
          <a:p>
            <a:r>
              <a:t>Application snapshot: 370e60164da719fc506bd69c2796fb59823cc4ba</a:t>
            </a:r>
          </a:p>
          <a:p>
            <a:r>
              <a:t>Evidence date: 2026-10-30</a:t>
            </a:r>
          </a:p>
          <a:p>
            <a:r>
              <a:t>Sources:</a:t>
            </a:r>
          </a:p>
          <a:p>
            <a:r>
              <a:t>docs/api/backend.md</a:t>
            </a:r>
          </a:p>
          <a:p>
            <a:r>
              <a:t>https://github.com/manikantbindass/CityPulse/blob/370e60164da719fc506bd69c2796fb59823cc4ba/docs/api/backend.md</a:t>
            </a:r>
          </a:p>
          <a:p>
            <a:r>
              <a:t>docs/security/architecture.md</a:t>
            </a:r>
          </a:p>
          <a:p>
            <a:r>
              <a:t>https://github.com/manikantbindass/CityPulse/blob/370e60164da719fc506bd69c2796fb59823cc4ba/docs/security/architecture.md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application is modular. Admin/reporting folders do not imply separate deployed services. Licensed live connectors, durable queue consumers, Kubernetes and a public-chain deployment are future work. Each capability should be demonstrated at its actual evidence boundary.</a:t>
            </a:r>
          </a:p>
          <a:p/>
          <a:p>
            <a:r>
              <a:t>Application snapshot: 370e60164da719fc506bd69c2796fb59823cc4ba</a:t>
            </a:r>
          </a:p>
          <a:p>
            <a:r>
              <a:t>Evidence date: 2026-10-30</a:t>
            </a:r>
          </a:p>
          <a:p>
            <a:r>
              <a:t>Sources:</a:t>
            </a:r>
          </a:p>
          <a:p>
            <a:r>
              <a:t>README.md</a:t>
            </a:r>
          </a:p>
          <a:p>
            <a:r>
              <a:t>https://github.com/manikantbindass/CityPulse/blob/370e60164da719fc506bd69c2796fb59823cc4ba/README.md</a:t>
            </a:r>
          </a:p>
          <a:p>
            <a:r>
              <a:t>docs/decision-engine.md</a:t>
            </a:r>
          </a:p>
          <a:p>
            <a:r>
              <a:t>https://github.com/manikantbindass/CityPulse/blob/370e60164da719fc506bd69c2796fb59823cc4ba/docs/decision-engine.md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real Chromium capture from the running local app, not a design mockup. KPI values are sample data. Local Docker was unavailable; Linux CI supplies full-stack evidence. Do not point at a sample KPI as real city intelligence.</a:t>
            </a:r>
          </a:p>
          <a:p/>
          <a:p>
            <a:r>
              <a:t>Application snapshot: 370e60164da719fc506bd69c2796fb59823cc4ba</a:t>
            </a:r>
          </a:p>
          <a:p>
            <a:r>
              <a:t>Evidence date: 2026-10-30</a:t>
            </a:r>
          </a:p>
          <a:p>
            <a:r>
              <a:t>Sources:</a:t>
            </a:r>
          </a:p>
          <a:p>
            <a:r>
              <a:t>docs/assets/readme-provenance.json</a:t>
            </a:r>
          </a:p>
          <a:p>
            <a:r>
              <a:t>https://github.com/manikantbindass/CityPulse/blob/370e60164da719fc506bd69c2796fb59823cc4ba/docs/assets/readme-provenance.json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PostgreSQL/PostGIS is authoritative; Redis supports sessions, limits and caching. Solidity uses OpenZeppelin/Ethers and Hardhat. Compose precedes the unprovisioned AWS ECS path. A temporary Jackson-2 compatibility bridge remains a documented migration obligation.</a:t>
            </a:r>
          </a:p>
          <a:p/>
          <a:p>
            <a:r>
              <a:t>Application snapshot: 370e60164da719fc506bd69c2796fb59823cc4ba</a:t>
            </a:r>
          </a:p>
          <a:p>
            <a:r>
              <a:t>Evidence date: 2026-10-30</a:t>
            </a:r>
          </a:p>
          <a:p>
            <a:r>
              <a:t>Sources:</a:t>
            </a:r>
          </a:p>
          <a:p>
            <a:r>
              <a:t>apps/web/package.json</a:t>
            </a:r>
          </a:p>
          <a:p>
            <a:r>
              <a:t>https://github.com/manikantbindass/CityPulse/blob/370e60164da719fc506bd69c2796fb59823cc4ba/apps/web/package.json</a:t>
            </a:r>
          </a:p>
          <a:p>
            <a:r>
              <a:t>services/api/pom.xml</a:t>
            </a:r>
          </a:p>
          <a:p>
            <a:r>
              <a:t>https://github.com/manikantbindass/CityPulse/blob/370e60164da719fc506bd69c2796fb59823cc4ba/services/api/pom.xml</a:t>
            </a:r>
          </a:p>
          <a:p>
            <a:r>
              <a:t>services/ai-engine/pyproject.toml</a:t>
            </a:r>
          </a:p>
          <a:p>
            <a:r>
              <a:t>https://github.com/manikantbindass/CityPulse/blob/370e60164da719fc506bd69c2796fb59823cc4ba/services/ai-engine/pyproject.toml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Labels match the report C4 container view. Use private service identity and server-derived tenant context. An explicitly enabled local synthetic adapter is a narrower exception, unsaved and unsuitable as proof of production authorization. No asynchronous worker is implied.</a:t>
            </a:r>
          </a:p>
          <a:p/>
          <a:p>
            <a:r>
              <a:t>Application snapshot: 370e60164da719fc506bd69c2796fb59823cc4ba</a:t>
            </a:r>
          </a:p>
          <a:p>
            <a:r>
              <a:t>Evidence date: 2026-10-30</a:t>
            </a:r>
          </a:p>
          <a:p>
            <a:r>
              <a:t>Sources:</a:t>
            </a:r>
          </a:p>
          <a:p>
            <a:r>
              <a:t>docs/reports/source/diagrams.json (companion editable source in this delivery)</a:t>
            </a:r>
          </a:p>
          <a:p>
            <a:r>
              <a:t>compose.yaml</a:t>
            </a:r>
          </a:p>
          <a:p>
            <a:r>
              <a:t>https://github.com/manikantbindass/CityPulse/blob/370e60164da719fc506bd69c2796fb59823cc4ba/compose.yaml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Issue #22 exposed shell-only theme inheritance and Sonner defaults. PR #23 moved theme to the document root, explicitly themed notifications, gated selection on hydration and corrected light success-toast contrast. Eighteen desktop/mobile tests include this regression. This screenshot is actual local UI.</a:t>
            </a:r>
          </a:p>
          <a:p/>
          <a:p>
            <a:r>
              <a:t>Application snapshot: 370e60164da719fc506bd69c2796fb59823cc4ba</a:t>
            </a:r>
          </a:p>
          <a:p>
            <a:r>
              <a:t>Evidence date: 2026-10-30</a:t>
            </a:r>
          </a:p>
          <a:p>
            <a:r>
              <a:t>Sources:</a:t>
            </a:r>
          </a:p>
          <a:p>
            <a:r>
              <a:t>apps/web/components/providers.tsx</a:t>
            </a:r>
          </a:p>
          <a:p>
            <a:r>
              <a:t>https://github.com/manikantbindass/CityPulse/blob/370e60164da719fc506bd69c2796fb59823cc4ba/apps/web/components/providers.tsx</a:t>
            </a:r>
          </a:p>
          <a:p>
            <a:r>
              <a:t>apps/web/e2e/theme.spec.ts</a:t>
            </a:r>
          </a:p>
          <a:p>
            <a:r>
              <a:t>https://github.com/manikantbindass/CityPulse/blob/370e60164da719fc506bd69c2796fb59823cc4ba/apps/web/e2e/theme.spec.ts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imply every endpoint is individually owner-scoped. General operational data is tenant-scoped; conversations/scenarios narrow by subject ownership. JWT acceptance alone cannot expand database role permissions. Current enabled membership narrows signed scopes.</a:t>
            </a:r>
          </a:p>
          <a:p/>
          <a:p>
            <a:r>
              <a:t>Application snapshot: 370e60164da719fc506bd69c2796fb59823cc4ba</a:t>
            </a:r>
          </a:p>
          <a:p>
            <a:r>
              <a:t>Evidence date: 2026-10-30</a:t>
            </a:r>
          </a:p>
          <a:p>
            <a:r>
              <a:t>Sources:</a:t>
            </a:r>
          </a:p>
          <a:p>
            <a:r>
              <a:t>services/api/src/main/java/io/citypulse/identity/MembershipFilter.java</a:t>
            </a:r>
          </a:p>
          <a:p>
            <a:r>
              <a:t>https://github.com/manikantbindass/CityPulse/blob/370e60164da719fc506bd69c2796fb59823cc4ba/services/api/src/main/java/io/citypulse/identity/MembershipFilter.java</a:t>
            </a:r>
          </a:p>
          <a:p>
            <a:r>
              <a:t>docs/api/backend.md</a:t>
            </a:r>
          </a:p>
          <a:p>
            <a:r>
              <a:t>https://github.com/manikantbindass/CityPulse/blob/370e60164da719fc506bd69c2796fb59823cc4ba/docs/api/backend.md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physical report appendix is definitive. tenant_city assigns shared city definitions rather than making every city directly tenant-owned. GiST supports spatial queries; tenant/time indexes support protected history. Parent-boundary edits need controlled revalidation.</a:t>
            </a:r>
          </a:p>
          <a:p/>
          <a:p>
            <a:r>
              <a:t>Application snapshot: 370e60164da719fc506bd69c2796fb59823cc4ba</a:t>
            </a:r>
          </a:p>
          <a:p>
            <a:r>
              <a:t>Evidence date: 2026-10-30</a:t>
            </a:r>
          </a:p>
          <a:p>
            <a:r>
              <a:t>Sources:</a:t>
            </a:r>
          </a:p>
          <a:p>
            <a:r>
              <a:t>services/api/src/main/resources/db/migration/V1__canonical_geospatial_schema.sql</a:t>
            </a:r>
          </a:p>
          <a:p>
            <a:r>
              <a:t>https://github.com/manikantbindass/CityPulse/blob/370e60164da719fc506bd69c2796fb59823cc4ba/services/api/src/main/resources/db/migration/V1__canonical_geospatial_schema.sql</a:t>
            </a:r>
          </a:p>
          <a:p>
            <a:r>
              <a:t>services/api/src/main/resources/db/migration/V2__tenant_operations.sql</a:t>
            </a:r>
          </a:p>
          <a:p>
            <a:r>
              <a:t>https://github.com/manikantbindass/CityPulse/blob/370e60164da719fc506bd69c2796fb59823cc4ba/services/api/src/main/resources/db/migration/V2__tenant_operations.sql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Input size, headers, units, timestamps and geography are bounded. Quality is a rule-based diagnostic, not proof of source truth or model confidence. A local checkpoint is not evidence that all remote publication completed. Live provider access requires licensing and configuration.</a:t>
            </a:r>
          </a:p>
          <a:p/>
          <a:p>
            <a:r>
              <a:t>Application snapshot: 370e60164da719fc506bd69c2796fb59823cc4ba</a:t>
            </a:r>
          </a:p>
          <a:p>
            <a:r>
              <a:t>Evidence date: 2026-10-30</a:t>
            </a:r>
          </a:p>
          <a:p>
            <a:r>
              <a:t>Sources:</a:t>
            </a:r>
          </a:p>
          <a:p>
            <a:r>
              <a:t>services/ingestion/citypulse_ingestion/pipeline.py</a:t>
            </a:r>
          </a:p>
          <a:p>
            <a:r>
              <a:t>https://github.com/manikantbindass/CityPulse/blob/370e60164da719fc506bd69c2796fb59823cc4ba/services/ingestion/citypulse_ingestion/pipeline.py</a:t>
            </a:r>
          </a:p>
          <a:p>
            <a:r>
              <a:t>scripts/data_pipeline.py</a:t>
            </a:r>
          </a:p>
          <a:p>
            <a:r>
              <a:t>https://github.com/manikantbindass/CityPulse/blob/370e60164da719fc506bd69c2796fb59823cc4ba/scripts/data_pipeline.py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synthetic city/district/category scopes contain 182 daily observations each. Train/validation/test is chronological 60/20/20. Validation MAE selects among seasonal-naive, moving average, Ridge and XGBoost. Rolling one-step performance is not recursive multi-horizon or unseen-city performance.</a:t>
            </a:r>
          </a:p>
          <a:p/>
          <a:p>
            <a:r>
              <a:t>Application snapshot: 370e60164da719fc506bd69c2796fb59823cc4ba</a:t>
            </a:r>
          </a:p>
          <a:p>
            <a:r>
              <a:t>Evidence date: 2026-10-30</a:t>
            </a:r>
          </a:p>
          <a:p>
            <a:r>
              <a:t>Sources:</a:t>
            </a:r>
          </a:p>
          <a:p>
            <a:r>
              <a:t>services/ai-engine/citypulse_ai/modeling.py</a:t>
            </a:r>
          </a:p>
          <a:p>
            <a:r>
              <a:t>https://github.com/manikantbindass/CityPulse/blob/370e60164da719fc506bd69c2796fb59823cc4ba/services/ai-engine/citypulse_ai/modeling.py</a:t>
            </a:r>
          </a:p>
          <a:p>
            <a:r>
              <a:t>docs/reports/model-evaluation.json</a:t>
            </a:r>
          </a:p>
          <a:p>
            <a:r>
              <a:t>https://github.com/manikantbindass/CityPulse/blob/370e60164da719fc506bd69c2796fb59823cc4ba/docs/reports/model-evaluation.json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chart reads selected-model test MAE from committed evaluation JSON. Compare within synthetic segment. Validation-selected candidates are not always best on the test period. Empirical interval coverage varies materially; a 90th-percentile residual method is not guaranteed 90% future coverage. The report retains all candidate metrics.</a:t>
            </a:r>
          </a:p>
          <a:p/>
          <a:p>
            <a:r>
              <a:t>Application snapshot: 370e60164da719fc506bd69c2796fb59823cc4ba</a:t>
            </a:r>
          </a:p>
          <a:p>
            <a:r>
              <a:t>Evidence date: 2026-10-30</a:t>
            </a:r>
          </a:p>
          <a:p>
            <a:r>
              <a:t>Sources:</a:t>
            </a:r>
          </a:p>
          <a:p>
            <a:r>
              <a:t>docs/reports/model-evaluation.json</a:t>
            </a:r>
          </a:p>
          <a:p>
            <a:r>
              <a:t>https://github.com/manikantbindass/CityPulse/blob/370e60164da719fc506bd69c2796fb59823cc4ba/docs/reports/model-evaluation.json</a:t>
            </a:r>
          </a:p>
          <a:p>
            <a:r>
              <a:t>docs/model-card.md</a:t>
            </a:r>
          </a:p>
          <a:p>
            <a:r>
              <a:t>https://github.com/manikantbindass/CityPulse/blob/370e60164da719fc506bd69c2796fb59823cc4ba/docs/model-card.md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map is an actual local screenshot and remains labeled synthetic. The forecast chart is derived from an actual local FastAPI response saved with its input/provenance and no credentials. A forecast response is a demonstration, not measured future accuracy. Intervals and fallback status must be read from that response.</a:t>
            </a:r>
          </a:p>
          <a:p/>
          <a:p>
            <a:r>
              <a:t>Application snapshot: 370e60164da719fc506bd69c2796fb59823cc4ba</a:t>
            </a:r>
          </a:p>
          <a:p>
            <a:r>
              <a:t>Evidence date: 2026-10-30</a:t>
            </a:r>
          </a:p>
          <a:p>
            <a:r>
              <a:t>Sources:</a:t>
            </a:r>
          </a:p>
          <a:p>
            <a:r>
              <a:t>docs/presentations/source/evidence/forecast-demo.json (companion editable source in this delivery)</a:t>
            </a:r>
          </a:p>
          <a:p>
            <a:r>
              <a:t>docs/model-card.md</a:t>
            </a:r>
          </a:p>
          <a:p>
            <a:r>
              <a:t>https://github.com/manikantbindass/CityPulse/blob/370e60164da719fc506bd69c2796fb59823cc4ba/docs/model-card.md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screenshot follows an actual local SciPy calculation with synthetic data. Scores are indicators, not investment-success probabilities. A local result is unsaved; the Java path supports owned snapshots, saved/exported scenarios and reproduction. Cost minimization may validly allocate zero without a hard positive floor.</a:t>
            </a:r>
          </a:p>
          <a:p/>
          <a:p>
            <a:r>
              <a:t>Application snapshot: 370e60164da719fc506bd69c2796fb59823cc4ba</a:t>
            </a:r>
          </a:p>
          <a:p>
            <a:r>
              <a:t>Evidence date: 2026-10-30</a:t>
            </a:r>
          </a:p>
          <a:p>
            <a:r>
              <a:t>Sources:</a:t>
            </a:r>
          </a:p>
          <a:p>
            <a:r>
              <a:t>docs/reports/decision-evaluation.json</a:t>
            </a:r>
          </a:p>
          <a:p>
            <a:r>
              <a:t>https://github.com/manikantbindass/CityPulse/blob/370e60164da719fc506bd69c2796fb59823cc4ba/docs/reports/decision-evaluation.json</a:t>
            </a:r>
          </a:p>
          <a:p>
            <a:r>
              <a:t>services/ai-engine/citypulse_ai/decisions.py</a:t>
            </a:r>
          </a:p>
          <a:p>
            <a:r>
              <a:t>https://github.com/manikantbindass/CityPulse/blob/370e60164da719fc506bd69c2796fb59823cc4ba/services/ai-engine/citypulse_ai/decisions.py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Neither retrieved text nor provider output can choose arbitrary SQL or introduce free-form factual claims. Missing records remain absent. The default disabled provider makes no paid external request. Stored forecasts require tenant checks and are not silently attributed to an unrelated city UUID.</a:t>
            </a:r>
          </a:p>
          <a:p/>
          <a:p>
            <a:r>
              <a:t>Application snapshot: 370e60164da719fc506bd69c2796fb59823cc4ba</a:t>
            </a:r>
          </a:p>
          <a:p>
            <a:r>
              <a:t>Evidence date: 2026-10-30</a:t>
            </a:r>
          </a:p>
          <a:p>
            <a:r>
              <a:t>Sources:</a:t>
            </a:r>
          </a:p>
          <a:p>
            <a:r>
              <a:t>services/api/src/main/java/io/citypulse/pulseai/PulseAiService.java</a:t>
            </a:r>
          </a:p>
          <a:p>
            <a:r>
              <a:t>https://github.com/manikantbindass/CityPulse/blob/370e60164da719fc506bd69c2796fb59823cc4ba/services/api/src/main/java/io/citypulse/pulseai/PulseAiService.java</a:t>
            </a:r>
          </a:p>
          <a:p>
            <a:r>
              <a:t>services/ai-engine/citypulse_ai/pulseai.py</a:t>
            </a:r>
          </a:p>
          <a:p>
            <a:r>
              <a:t>https://github.com/manikantbindass/CityPulse/blob/370e60164da719fc506bd69c2796fb59823cc4ba/services/ai-engine/citypulse_ai/pulseai.py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Blockchain is justified narrowly for selected attestations, not as the primary database or a guarantee of honest providers. References must exclude secrets and private personal data. Public immutability complicates deletion; local EVM behavior does not establish a deployed public system.</a:t>
            </a:r>
          </a:p>
          <a:p/>
          <a:p>
            <a:r>
              <a:t>Application snapshot: 370e60164da719fc506bd69c2796fb59823cc4ba</a:t>
            </a:r>
          </a:p>
          <a:p>
            <a:r>
              <a:t>Evidence date: 2026-10-30</a:t>
            </a:r>
          </a:p>
          <a:p>
            <a:r>
              <a:t>Sources:</a:t>
            </a:r>
          </a:p>
          <a:p>
            <a:r>
              <a:t>docs/blockchain.md</a:t>
            </a:r>
          </a:p>
          <a:p>
            <a:r>
              <a:t>https://github.com/manikantbindass/CityPulse/blob/370e60164da719fc506bd69c2796fb59823cc4ba/docs/blockchain.md</a:t>
            </a:r>
          </a:p>
          <a:p>
            <a:r>
              <a:t>blockchain/contracts/DatasetAttestationRegistry.sol</a:t>
            </a:r>
          </a:p>
          <a:p>
            <a:r>
              <a:t>https://github.com/manikantbindass/CityPulse/blob/370e60164da719fc506bd69c2796fb59823cc4ba/blockchain/contracts/DatasetAttestationRegistry.sol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AuthorizedSourceRegistry, DatasetAttestationRegistry and VerificationRecord match report labels. IDs include chain/contract/submitter/event. The recorded local demo uses chain 31337 and 150,788 gas for one sample. This is not a public-network fee quote. Java separately distinguishes DIGEST_RECORDED from validated CHAIN_CONFIRMED.</a:t>
            </a:r>
          </a:p>
          <a:p/>
          <a:p>
            <a:r>
              <a:t>Application snapshot: 370e60164da719fc506bd69c2796fb59823cc4ba</a:t>
            </a:r>
          </a:p>
          <a:p>
            <a:r>
              <a:t>Evidence date: 2026-10-30</a:t>
            </a:r>
          </a:p>
          <a:p>
            <a:r>
              <a:t>Sources:</a:t>
            </a:r>
          </a:p>
          <a:p>
            <a:r>
              <a:t>docs/reports/blockchain-local-demo.json</a:t>
            </a:r>
          </a:p>
          <a:p>
            <a:r>
              <a:t>https://github.com/manikantbindass/CityPulse/blob/370e60164da719fc506bd69c2796fb59823cc4ba/docs/reports/blockchain-local-demo.json</a:t>
            </a:r>
          </a:p>
          <a:p>
            <a:r>
              <a:t>services/api/src/main/java/io/citypulse/workspace/application/ChainReceiptService.java</a:t>
            </a:r>
          </a:p>
          <a:p>
            <a:r>
              <a:t>https://github.com/manikantbindass/CityPulse/blob/370e60164da719fc506bd69c2796fb59823cc4ba/services/api/src/main/java/io/citypulse/workspace/application/ChainReceiptService.java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CSRF is retained except for explicit bearer API requests; invalid credentials still fail authorization. Session tokens are not in browser storage. Nonce CSP, strict parsing, minimized logs, runtime DB grants and dependency scans provide layers. No penetration test, professional contract audit or certification is claimed.</a:t>
            </a:r>
          </a:p>
          <a:p/>
          <a:p>
            <a:r>
              <a:t>Application snapshot: 370e60164da719fc506bd69c2796fb59823cc4ba</a:t>
            </a:r>
          </a:p>
          <a:p>
            <a:r>
              <a:t>Evidence date: 2026-10-30</a:t>
            </a:r>
          </a:p>
          <a:p>
            <a:r>
              <a:t>Sources:</a:t>
            </a:r>
          </a:p>
          <a:p>
            <a:r>
              <a:t>docs/security/architecture.md</a:t>
            </a:r>
          </a:p>
          <a:p>
            <a:r>
              <a:t>https://github.com/manikantbindass/CityPulse/blob/370e60164da719fc506bd69c2796fb59823cc4ba/docs/security/architecture.md</a:t>
            </a:r>
          </a:p>
          <a:p>
            <a:r>
              <a:t>docs/security/threat-model.md</a:t>
            </a:r>
          </a:p>
          <a:p>
            <a:r>
              <a:t>https://github.com/manikantbindass/CityPulse/blob/370e60164da719fc506bd69c2796fb59823cc4ba/docs/security/threat-model.md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Fargate workloads, HTTPS ALB, managed data, EFS and private S3 are code-level designs. Counts default to zero pending bootstrap, but data/network resources would still cost money after apply. Internal HTTP, broad NAT egress and writable ephemeral cloud roots are documented hardening gaps. SQS has no connected consumer.</a:t>
            </a:r>
          </a:p>
          <a:p/>
          <a:p>
            <a:r>
              <a:t>Application snapshot: 370e60164da719fc506bd69c2796fb59823cc4ba</a:t>
            </a:r>
          </a:p>
          <a:p>
            <a:r>
              <a:t>Evidence date: 2026-10-30</a:t>
            </a:r>
          </a:p>
          <a:p>
            <a:r>
              <a:t>Sources:</a:t>
            </a:r>
          </a:p>
          <a:p>
            <a:r>
              <a:t>infrastructure/terraform/main.tf.json</a:t>
            </a:r>
          </a:p>
          <a:p>
            <a:r>
              <a:t>https://github.com/manikantbindass/CityPulse/blob/370e60164da719fc506bd69c2796fb59823cc4ba/infrastructure/terraform/main.tf.json</a:t>
            </a:r>
          </a:p>
          <a:p>
            <a:r>
              <a:t>docs/operations/deployment.md</a:t>
            </a:r>
          </a:p>
          <a:p>
            <a:r>
              <a:t>https://github.com/manikantbindass/CityPulse/blob/370e60164da719fc506bd69c2796fb59823cc4ba/docs/operations/deployment.md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four API tasks with ten connections each, budget up to forty runtime connections plus operational headroom. EFS is persistence, not concurrent SQLite safety. Durable job metadata/leases/outbox and queue consumers precede horizontal AI scaling. RPO/RTO are targets, not measured recovery guarantees.</a:t>
            </a:r>
          </a:p>
          <a:p/>
          <a:p>
            <a:r>
              <a:t>Application snapshot: 370e60164da719fc506bd69c2796fb59823cc4ba</a:t>
            </a:r>
          </a:p>
          <a:p>
            <a:r>
              <a:t>Evidence date: 2026-10-30</a:t>
            </a:r>
          </a:p>
          <a:p>
            <a:r>
              <a:t>Sources:</a:t>
            </a:r>
          </a:p>
          <a:p>
            <a:r>
              <a:t>docs/operations/scaling.md</a:t>
            </a:r>
          </a:p>
          <a:p>
            <a:r>
              <a:t>https://github.com/manikantbindass/CityPulse/blob/370e60164da719fc506bd69c2796fb59823cc4ba/docs/operations/scaling.md</a:t>
            </a:r>
          </a:p>
          <a:p>
            <a:r>
              <a:t>docs/operations/recovery.md</a:t>
            </a:r>
          </a:p>
          <a:p>
            <a:r>
              <a:t>https://github.com/manikantbindass/CityPulse/blob/370e60164da719fc506bd69c2796fb59823cc4ba/docs/operations/recovery.md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Main requires nine application/security/platform jobs. Manual packaging is separate from automatic provisioning. Compose verifies actual API/AI scrapes and spans stored in Tempo. CloudWatch is a configured ECS path, not a deployed logging service. Proposed SLOs are not attained service levels.</a:t>
            </a:r>
          </a:p>
          <a:p/>
          <a:p>
            <a:r>
              <a:t>Application snapshot: 370e60164da719fc506bd69c2796fb59823cc4ba</a:t>
            </a:r>
          </a:p>
          <a:p>
            <a:r>
              <a:t>Evidence date: 2026-10-30</a:t>
            </a:r>
          </a:p>
          <a:p>
            <a:r>
              <a:t>Sources:</a:t>
            </a:r>
          </a:p>
          <a:p>
            <a:r>
              <a:t>.github/workflows/ci.yml</a:t>
            </a:r>
          </a:p>
          <a:p>
            <a:r>
              <a:t>https://github.com/manikantbindass/CityPulse/blob/370e60164da719fc506bd69c2796fb59823cc4ba/.github/workflows/ci.yml</a:t>
            </a:r>
          </a:p>
          <a:p>
            <a:r>
              <a:t>.github/workflows/security.yml</a:t>
            </a:r>
          </a:p>
          <a:p>
            <a:r>
              <a:t>https://github.com/manikantbindass/CityPulse/blob/370e60164da719fc506bd69c2796fb59823cc4ba/.github/workflows/security.yml</a:t>
            </a:r>
          </a:p>
          <a:p>
            <a:r>
              <a:t>scripts/monitoring_smoke.py</a:t>
            </a:r>
          </a:p>
          <a:p>
            <a:r>
              <a:t>https://github.com/manikantbindass/CityPulse/blob/370e60164da719fc506bd69c2796fb59823cc4ba/scripts/monitoring_smoke.py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counts have revision-linked CI evidence in the report. Linux Java has zero skips; local Docker tests skip because the engine was unavailable. Browser tests include accessibility and theme persistence. Zero fixable HIGH/CRITICAL findings is a scoped scan gate, not a clean bill of security. These counts are the verified earlier 2385ea7 CI baseline. The candidate discovers 30 Java tests; eight are skipped locally without Docker, while 22 execute. The new whole-stack browser scenario must be verified in candidate CI.</a:t>
            </a:r>
          </a:p>
          <a:p/>
          <a:p>
            <a:r>
              <a:t>Application snapshot: 370e60164da719fc506bd69c2796fb59823cc4ba</a:t>
            </a:r>
          </a:p>
          <a:p>
            <a:r>
              <a:t>Evidence date: 2026-10-30</a:t>
            </a:r>
          </a:p>
          <a:p>
            <a:r>
              <a:t>Sources:</a:t>
            </a:r>
          </a:p>
          <a:p>
            <a:r>
              <a:t>docs/reports/source/evidence.json (companion editable source in this delivery)</a:t>
            </a:r>
          </a:p>
          <a:p>
            <a:r>
              <a:t>apps/web/e2e/theme.spec.ts</a:t>
            </a:r>
          </a:p>
          <a:p>
            <a:r>
              <a:t>https://github.com/manikantbindass/CityPulse/blob/370e60164da719fc506bd69c2796fb59823cc4ba/apps/web/e2e/theme.spec.ts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ingestion/replay, an owned evidence session, a forecast job, a constrained scenario and an independent digest comparison. Keep failure paths visible: absent counterpart, invalid authorization, solver infeasibility and unmatched receipt. Human review remains the decision boundary.</a:t>
            </a:r>
          </a:p>
          <a:p/>
          <a:p>
            <a:r>
              <a:t>Application snapshot: 370e60164da719fc506bd69c2796fb59823cc4ba</a:t>
            </a:r>
          </a:p>
          <a:p>
            <a:r>
              <a:t>Evidence date: 2026-10-30</a:t>
            </a:r>
          </a:p>
          <a:p>
            <a:r>
              <a:t>Sources:</a:t>
            </a:r>
          </a:p>
          <a:p>
            <a:r>
              <a:t>scripts/smoke.py</a:t>
            </a:r>
          </a:p>
          <a:p>
            <a:r>
              <a:t>https://github.com/manikantbindass/CityPulse/blob/370e60164da719fc506bd69c2796fb59823cc4ba/scripts/smoke.py</a:t>
            </a:r>
          </a:p>
          <a:p>
            <a:r>
              <a:t>docs/decision-engine.md</a:t>
            </a:r>
          </a:p>
          <a:p>
            <a:r>
              <a:t>https://github.com/manikantbindass/CityPulse/blob/370e60164da719fc506bd69c2796fb59823cc4ba/docs/decision-engine.md</a:t>
            </a:r>
          </a:p>
          <a:p>
            <a:r>
              <a:t>docs/pulseai.md</a:t>
            </a:r>
          </a:p>
          <a:p>
            <a:r>
              <a:t>https://github.com/manikantbindass/CityPulse/blob/370e60164da719fc506bd69c2796fb59823cc4ba/docs/pulseai.md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k6 run is twenty seconds at one arrival per second, with twenty-one observed requests. It excludes Next, Java, DB and external network. It is not saturation or production SLO evidence. Local solver benchmarks cover three sizes with three repeats each; raw data is retained. Interval coverage and portal-theme tests exposed useful limitations rather than just confirming expected behavior.</a:t>
            </a:r>
          </a:p>
          <a:p/>
          <a:p>
            <a:r>
              <a:t>Application snapshot: 370e60164da719fc506bd69c2796fb59823cc4ba</a:t>
            </a:r>
          </a:p>
          <a:p>
            <a:r>
              <a:t>Evidence date: 2026-10-30</a:t>
            </a:r>
          </a:p>
          <a:p>
            <a:r>
              <a:t>Sources:</a:t>
            </a:r>
          </a:p>
          <a:p>
            <a:r>
              <a:t>docs/reports/operations/k6-local-ai.json</a:t>
            </a:r>
          </a:p>
          <a:p>
            <a:r>
              <a:t>https://github.com/manikantbindass/CityPulse/blob/370e60164da719fc506bd69c2796fb59823cc4ba/docs/reports/operations/k6-local-ai.json</a:t>
            </a:r>
          </a:p>
          <a:p>
            <a:r>
              <a:t>docs/reports/decision-evaluation.json</a:t>
            </a:r>
          </a:p>
          <a:p>
            <a:r>
              <a:t>https://github.com/manikantbindass/CityPulse/blob/370e60164da719fc506bd69c2796fb59823cc4ba/docs/reports/decision-evaluation.json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General business rows require owner policy for mixed-owner tenants. Historical documents lagged implementation, so this report/deck use a code-first hierarchy. A Hardhat development advisory and deprecated Jackson bridge remain disclosed. Avoid promising profit, real-time intelligence, mainnet operation or certification.</a:t>
            </a:r>
          </a:p>
          <a:p/>
          <a:p>
            <a:r>
              <a:t>Application snapshot: 370e60164da719fc506bd69c2796fb59823cc4ba</a:t>
            </a:r>
          </a:p>
          <a:p>
            <a:r>
              <a:t>Evidence date: 2026-10-30</a:t>
            </a:r>
          </a:p>
          <a:p>
            <a:r>
              <a:t>Sources:</a:t>
            </a:r>
          </a:p>
          <a:p>
            <a:r>
              <a:t>docs/api/backend.md</a:t>
            </a:r>
          </a:p>
          <a:p>
            <a:r>
              <a:t>https://github.com/manikantbindass/CityPulse/blob/370e60164da719fc506bd69c2796fb59823cc4ba/docs/api/backend.md</a:t>
            </a:r>
          </a:p>
          <a:p>
            <a:r>
              <a:t>docs/security/verification.md</a:t>
            </a:r>
          </a:p>
          <a:p>
            <a:r>
              <a:t>https://github.com/manikantbindass/CityPulse/blob/370e60164da719fc506bd69c2796fb59823cc4ba/docs/security/verification.md</a:t>
            </a:r>
          </a:p>
          <a:p>
            <a:r>
              <a:t>docs/operations/scaling.md</a:t>
            </a:r>
          </a:p>
          <a:p>
            <a:r>
              <a:t>https://github.com/manikantbindass/CityPulse/blob/370e60164da719fc506bd69c2796fb59823cc4ba/docs/operations/scaling.md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three groups are future work, not deployed modules. Queue consumers and Kubernetes require measured need. Add multi-horizon calibration and field evaluation before expanding model complexity. Real provider cadence/completeness and a responsible decision owner are essential acceptance inputs.</a:t>
            </a:r>
          </a:p>
          <a:p/>
          <a:p>
            <a:r>
              <a:t>Application snapshot: 370e60164da719fc506bd69c2796fb59823cc4ba</a:t>
            </a:r>
          </a:p>
          <a:p>
            <a:r>
              <a:t>Evidence date: 2026-10-30</a:t>
            </a:r>
          </a:p>
          <a:p>
            <a:r>
              <a:t>Sources:</a:t>
            </a:r>
          </a:p>
          <a:p>
            <a:r>
              <a:t>README.md</a:t>
            </a:r>
          </a:p>
          <a:p>
            <a:r>
              <a:t>https://github.com/manikantbindass/CityPulse/blob/370e60164da719fc506bd69c2796fb59823cc4ba/README.md</a:t>
            </a:r>
          </a:p>
          <a:p>
            <a:r>
              <a:t>docs/operations/scaling.md</a:t>
            </a:r>
          </a:p>
          <a:p>
            <a:r>
              <a:t>https://github.com/manikantbindass/CityPulse/blob/370e60164da719fc506bd69c2796fb59823cc4ba/docs/operations/scaling.md</a:t>
            </a:r>
          </a:p>
          <a:p>
            <a:r>
              <a:t>docs/model-card.md</a:t>
            </a:r>
          </a:p>
          <a:p>
            <a:r>
              <a:t>https://github.com/manikantbindass/CityPulse/blob/370e60164da719fc506bd69c2796fb59823cc4ba/docs/model-card.md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implemented integration, not a list of technologies alone. The value is that an analyst can inspect sources and assumptions and reproduce a scenario. The project does not claim operational city adoption, production uptime, independent audit or guaranteed outcomes.</a:t>
            </a:r>
          </a:p>
          <a:p/>
          <a:p>
            <a:r>
              <a:t>Application snapshot: 370e60164da719fc506bd69c2796fb59823cc4ba</a:t>
            </a:r>
          </a:p>
          <a:p>
            <a:r>
              <a:t>Evidence date: 2026-10-30</a:t>
            </a:r>
          </a:p>
          <a:p>
            <a:r>
              <a:t>Sources:</a:t>
            </a:r>
          </a:p>
          <a:p>
            <a:r>
              <a:t>docs/reports/source/report.json (companion editable source in this delivery)</a:t>
            </a:r>
          </a:p>
          <a:p>
            <a:r>
              <a:t>README.md</a:t>
            </a:r>
          </a:p>
          <a:p>
            <a:r>
              <a:t>https://github.com/manikantbindass/CityPulse/blob/370e60164da719fc506bd69c2796fb59823cc4ba/README.md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Invite questions about data compatibility, uncertainty, tenant/owner policy, optimization objectives, source-truth limits and the next pilot. The QR and text URL point to the actual GitHub repository. Speaker notes and the companion PDF provide implementation sources and verification limitations.</a:t>
            </a:r>
          </a:p>
          <a:p/>
          <a:p>
            <a:r>
              <a:t>Application snapshot: 370e60164da719fc506bd69c2796fb59823cc4ba</a:t>
            </a:r>
          </a:p>
          <a:p>
            <a:r>
              <a:t>Evidence date: 2026-10-30</a:t>
            </a:r>
          </a:p>
          <a:p>
            <a:r>
              <a:t>Sources:</a:t>
            </a:r>
          </a:p>
          <a:p>
            <a:r>
              <a:t>README.md</a:t>
            </a:r>
          </a:p>
          <a:p>
            <a:r>
              <a:t>https://github.com/manikantbindass/CityPulse/blob/370e60164da719fc506bd69c2796fb59823cc4ba/README.md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chart" Target="../charts/char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3.png"/><Relationship Id="rId4" Type="http://schemas.openxmlformats.org/officeDocument/2006/relationships/chart" Target="../charts/char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chart" Target="../charts/char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640080" y="1234440"/>
            <a:ext cx="10972800" cy="1097280"/>
          </a:xfrm>
          <a:prstGeom prst="rect">
            <a:avLst/>
          </a:prstGeom>
          <a:noFill/>
        </p:spPr>
        <p:txBody>
          <a:bodyPr wrap="square" lIns="0" rIns="0" tIns="0" bIns="0">
            <a:spAutoFit/>
          </a:bodyPr>
          <a:lstStyle/>
          <a:p>
            <a:pPr>
              <a:lnSpc>
                <a:spcPct val="112000"/>
              </a:lnSpc>
              <a:spcAft>
                <a:spcPts val="700"/>
              </a:spcAft>
              <a:defRPr sz="5800" b="1">
                <a:solidFill>
                  <a:srgbClr val="67E8F9"/>
                </a:solidFill>
                <a:latin typeface="Arial"/>
              </a:defRPr>
            </a:pPr>
            <a:r>
              <a:t>CITYPULSE</a:t>
            </a:r>
          </a:p>
        </p:txBody>
      </p:sp>
      <p:sp>
        <p:nvSpPr>
          <p:cNvPr id="3" name="TextBox 2"/>
          <p:cNvSpPr txBox="1"/>
          <p:nvPr/>
        </p:nvSpPr>
        <p:spPr>
          <a:xfrm>
            <a:off x="667512" y="2651760"/>
            <a:ext cx="10881360" cy="1280160"/>
          </a:xfrm>
          <a:prstGeom prst="rect">
            <a:avLst/>
          </a:prstGeom>
          <a:noFill/>
        </p:spPr>
        <p:txBody>
          <a:bodyPr wrap="square" lIns="0" rIns="0" tIns="0" bIns="0">
            <a:spAutoFit/>
          </a:bodyPr>
          <a:lstStyle/>
          <a:p>
            <a:pPr>
              <a:lnSpc>
                <a:spcPct val="112000"/>
              </a:lnSpc>
              <a:spcAft>
                <a:spcPts val="700"/>
              </a:spcAft>
              <a:defRPr sz="3000" b="0">
                <a:solidFill>
                  <a:srgbClr val="E8EDF5"/>
                </a:solidFill>
                <a:latin typeface="Arial"/>
              </a:defRPr>
            </a:pPr>
            <a:r>
              <a:t>AI-Powered Urban Intelligence</a:t>
            </a:r>
          </a:p>
          <a:p>
            <a:pPr>
              <a:lnSpc>
                <a:spcPct val="112000"/>
              </a:lnSpc>
              <a:spcAft>
                <a:spcPts val="700"/>
              </a:spcAft>
              <a:defRPr sz="3000" b="0">
                <a:solidFill>
                  <a:srgbClr val="E8EDF5"/>
                </a:solidFill>
                <a:latin typeface="Arial"/>
              </a:defRPr>
            </a:pPr>
            <a:r>
              <a:t>&amp; Blockchain Analytics</a:t>
            </a:r>
          </a:p>
        </p:txBody>
      </p:sp>
      <p:cxnSp>
        <p:nvCxnSpPr>
          <p:cNvPr id="4" name="Connector 3"/>
          <p:cNvCxnSpPr/>
          <p:nvPr/>
        </p:nvCxnSpPr>
        <p:spPr>
          <a:xfrm>
            <a:off x="685800" y="4343400"/>
            <a:ext cx="2971800" cy="0"/>
          </a:xfrm>
          <a:prstGeom prst="line">
            <a:avLst/>
          </a:prstGeom>
          <a:ln w="38100">
            <a:solidFill>
              <a:srgbClr val="B7A5F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85800" y="4709160"/>
            <a:ext cx="9692640" cy="1005840"/>
          </a:xfrm>
          <a:prstGeom prst="rect">
            <a:avLst/>
          </a:prstGeom>
          <a:noFill/>
        </p:spPr>
        <p:txBody>
          <a:bodyPr wrap="square" lIns="0" rIns="0" tIns="0" bIns="0">
            <a:spAutoFit/>
          </a:bodyPr>
          <a:lstStyle/>
          <a:p>
            <a:pPr>
              <a:lnSpc>
                <a:spcPct val="112000"/>
              </a:lnSpc>
              <a:spcAft>
                <a:spcPts val="700"/>
              </a:spcAft>
              <a:defRPr sz="2300" b="0">
                <a:solidFill>
                  <a:srgbClr val="E8EDF5"/>
                </a:solidFill>
                <a:latin typeface="Arial"/>
              </a:defRPr>
            </a:pPr>
            <a:r>
              <a:t>Predict Demand. Optimize Supply.</a:t>
            </a:r>
          </a:p>
          <a:p>
            <a:pPr>
              <a:lnSpc>
                <a:spcPct val="112000"/>
              </a:lnSpc>
              <a:spcAft>
                <a:spcPts val="700"/>
              </a:spcAft>
              <a:defRPr sz="2300" b="0">
                <a:solidFill>
                  <a:srgbClr val="E8EDF5"/>
                </a:solidFill>
                <a:latin typeface="Arial"/>
              </a:defRPr>
            </a:pPr>
            <a:r>
              <a:t>Build Smarter Cities.</a:t>
            </a:r>
          </a:p>
        </p:txBody>
      </p:sp>
      <p:sp>
        <p:nvSpPr>
          <p:cNvPr id="6" name="TextBox 5"/>
          <p:cNvSpPr txBox="1"/>
          <p:nvPr/>
        </p:nvSpPr>
        <p:spPr>
          <a:xfrm>
            <a:off x="685800" y="6172200"/>
            <a:ext cx="10515600" cy="274320"/>
          </a:xfrm>
          <a:prstGeom prst="rect">
            <a:avLst/>
          </a:prstGeom>
          <a:noFill/>
        </p:spPr>
        <p:txBody>
          <a:bodyPr wrap="square" lIns="0" rIns="0" tIns="0" bIns="0">
            <a:spAutoFit/>
          </a:bodyPr>
          <a:lstStyle/>
          <a:p>
            <a:pPr>
              <a:lnSpc>
                <a:spcPct val="112000"/>
              </a:lnSpc>
              <a:spcAft>
                <a:spcPts val="700"/>
              </a:spcAft>
              <a:defRPr sz="1400" b="0">
                <a:solidFill>
                  <a:srgbClr val="A6B4C9"/>
                </a:solidFill>
                <a:latin typeface="Arial"/>
              </a:defRPr>
            </a:pPr>
            <a:r>
              <a:t>https://github.com/manikantbindass/CityPulse</a:t>
            </a:r>
          </a:p>
        </p:txBody>
      </p:sp>
    </p:spTree>
  </p:cSld>
  <p:clrMapOvr>
    <a:masterClrMapping/>
  </p:clrMapOvr>
  <p:transition spd="fast">
    <p:fade/>
  </p:transition>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One-minute project overview</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02 / 33</a:t>
            </a:r>
          </a:p>
        </p:txBody>
      </p:sp>
      <p:sp>
        <p:nvSpPr>
          <p:cNvPr id="6" name="TextBox 5"/>
          <p:cNvSpPr txBox="1"/>
          <p:nvPr/>
        </p:nvSpPr>
        <p:spPr>
          <a:xfrm>
            <a:off x="64008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417319" y="1828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Urban evidence with geography, time and provenance</a:t>
            </a:r>
          </a:p>
        </p:txBody>
      </p:sp>
      <p:sp>
        <p:nvSpPr>
          <p:cNvPr id="8" name="TextBox 7"/>
          <p:cNvSpPr txBox="1"/>
          <p:nvPr/>
        </p:nvSpPr>
        <p:spPr>
          <a:xfrm>
            <a:off x="640080" y="2971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417319" y="2971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Forecasts and constrained scenarios, with explicit limits</a:t>
            </a:r>
          </a:p>
        </p:txBody>
      </p:sp>
      <p:sp>
        <p:nvSpPr>
          <p:cNvPr id="10" name="TextBox 9"/>
          <p:cNvSpPr txBox="1"/>
          <p:nvPr/>
        </p:nvSpPr>
        <p:spPr>
          <a:xfrm>
            <a:off x="640080" y="4114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417319" y="4114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A working local/CI platform; no production claim</a:t>
            </a:r>
          </a:p>
        </p:txBody>
      </p:sp>
    </p:spTree>
  </p:cSld>
  <p:clrMapOvr>
    <a:masterClrMapping/>
  </p:clrMapOvr>
  <p:transition spd="fast">
    <p:fade/>
  </p:transition>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Urban supply and demand problem</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03 / 33</a:t>
            </a:r>
          </a:p>
        </p:txBody>
      </p:sp>
      <p:sp>
        <p:nvSpPr>
          <p:cNvPr id="6" name="TextBox 5"/>
          <p:cNvSpPr txBox="1"/>
          <p:nvPr/>
        </p:nvSpPr>
        <p:spPr>
          <a:xfrm>
            <a:off x="64008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417319" y="1828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Different units and time windows distort comparisons</a:t>
            </a:r>
          </a:p>
        </p:txBody>
      </p:sp>
      <p:sp>
        <p:nvSpPr>
          <p:cNvPr id="8" name="TextBox 7"/>
          <p:cNvSpPr txBox="1"/>
          <p:nvPr/>
        </p:nvSpPr>
        <p:spPr>
          <a:xfrm>
            <a:off x="640080" y="2971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417319" y="2971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Missing observations can look like zero</a:t>
            </a:r>
          </a:p>
        </p:txBody>
      </p:sp>
      <p:sp>
        <p:nvSpPr>
          <p:cNvPr id="10" name="TextBox 9"/>
          <p:cNvSpPr txBox="1"/>
          <p:nvPr/>
        </p:nvSpPr>
        <p:spPr>
          <a:xfrm>
            <a:off x="640080" y="4114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417319" y="4114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A recommendation can lose its source and assumptions</a:t>
            </a:r>
          </a:p>
        </p:txBody>
      </p:sp>
    </p:spTree>
  </p:cSld>
  <p:clrMapOvr>
    <a:masterClrMapping/>
  </p:clrMapOvr>
  <p:transition spd="fast">
    <p:fade/>
  </p:transition>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Limits of disconnected analysis</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04 / 33</a:t>
            </a:r>
          </a:p>
        </p:txBody>
      </p:sp>
      <p:sp>
        <p:nvSpPr>
          <p:cNvPr id="6" name="TextBox 5"/>
          <p:cNvSpPr txBox="1"/>
          <p:nvPr/>
        </p:nvSpPr>
        <p:spPr>
          <a:xfrm>
            <a:off x="64008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417319" y="1828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GIS explains where; a notebook predicts what may happen</a:t>
            </a:r>
          </a:p>
        </p:txBody>
      </p:sp>
      <p:sp>
        <p:nvSpPr>
          <p:cNvPr id="8" name="TextBox 7"/>
          <p:cNvSpPr txBox="1"/>
          <p:nvPr/>
        </p:nvSpPr>
        <p:spPr>
          <a:xfrm>
            <a:off x="640080" y="2971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417319" y="2971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An allocation script needs policy constraints</a:t>
            </a:r>
          </a:p>
        </p:txBody>
      </p:sp>
      <p:sp>
        <p:nvSpPr>
          <p:cNvPr id="10" name="TextBox 9"/>
          <p:cNvSpPr txBox="1"/>
          <p:nvPr/>
        </p:nvSpPr>
        <p:spPr>
          <a:xfrm>
            <a:off x="640080" y="4114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417319" y="4114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Exports often need a reconstructable evidence trail</a:t>
            </a:r>
          </a:p>
        </p:txBody>
      </p:sp>
    </p:spTree>
  </p:cSld>
  <p:clrMapOvr>
    <a:masterClrMapping/>
  </p:clrMapOvr>
  <p:transition spd="fast">
    <p:fade/>
  </p:transition>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CityPulse proposed solution</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05 / 33</a:t>
            </a:r>
          </a:p>
        </p:txBody>
      </p:sp>
      <p:sp>
        <p:nvSpPr>
          <p:cNvPr id="6" name="TextBox 5"/>
          <p:cNvSpPr txBox="1"/>
          <p:nvPr/>
        </p:nvSpPr>
        <p:spPr>
          <a:xfrm>
            <a:off x="640080" y="1691640"/>
            <a:ext cx="10789920" cy="64008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Observe compatible records</a:t>
            </a:r>
          </a:p>
        </p:txBody>
      </p:sp>
      <p:sp>
        <p:nvSpPr>
          <p:cNvPr id="7" name="TextBox 6"/>
          <p:cNvSpPr txBox="1"/>
          <p:nvPr/>
        </p:nvSpPr>
        <p:spPr>
          <a:xfrm>
            <a:off x="640080" y="2743200"/>
            <a:ext cx="2286000" cy="731520"/>
          </a:xfrm>
          <a:prstGeom prst="rect">
            <a:avLst/>
          </a:prstGeom>
          <a:noFill/>
        </p:spPr>
        <p:txBody>
          <a:bodyPr wrap="square" lIns="0" rIns="0" tIns="0" bIns="0">
            <a:spAutoFit/>
          </a:bodyPr>
          <a:lstStyle/>
          <a:p>
            <a:pPr>
              <a:lnSpc>
                <a:spcPct val="112000"/>
              </a:lnSpc>
              <a:spcAft>
                <a:spcPts val="700"/>
              </a:spcAft>
              <a:defRPr sz="4200" b="1">
                <a:solidFill>
                  <a:srgbClr val="67E8F9"/>
                </a:solidFill>
                <a:latin typeface="Arial"/>
              </a:defRPr>
            </a:pPr>
            <a:r>
              <a:t>01</a:t>
            </a:r>
          </a:p>
        </p:txBody>
      </p:sp>
      <p:sp>
        <p:nvSpPr>
          <p:cNvPr id="8" name="TextBox 7"/>
          <p:cNvSpPr txBox="1"/>
          <p:nvPr/>
        </p:nvSpPr>
        <p:spPr>
          <a:xfrm>
            <a:off x="640080" y="3657600"/>
            <a:ext cx="2286000" cy="548640"/>
          </a:xfrm>
          <a:prstGeom prst="rect">
            <a:avLst/>
          </a:prstGeom>
          <a:noFill/>
        </p:spPr>
        <p:txBody>
          <a:bodyPr wrap="square" lIns="0" rIns="0" tIns="0" bIns="0">
            <a:spAutoFit/>
          </a:bodyPr>
          <a:lstStyle/>
          <a:p>
            <a:pPr>
              <a:lnSpc>
                <a:spcPct val="112000"/>
              </a:lnSpc>
              <a:spcAft>
                <a:spcPts val="700"/>
              </a:spcAft>
              <a:defRPr sz="2700" b="1">
                <a:solidFill>
                  <a:srgbClr val="E8EDF5"/>
                </a:solidFill>
                <a:latin typeface="Arial"/>
              </a:defRPr>
            </a:pPr>
            <a:r>
              <a:t>Observe</a:t>
            </a:r>
          </a:p>
        </p:txBody>
      </p:sp>
      <p:sp>
        <p:nvSpPr>
          <p:cNvPr id="9" name="TextBox 8"/>
          <p:cNvSpPr txBox="1"/>
          <p:nvPr/>
        </p:nvSpPr>
        <p:spPr>
          <a:xfrm>
            <a:off x="640080" y="4434840"/>
            <a:ext cx="2286000" cy="1005840"/>
          </a:xfrm>
          <a:prstGeom prst="rect">
            <a:avLst/>
          </a:prstGeom>
          <a:noFill/>
        </p:spPr>
        <p:txBody>
          <a:bodyPr wrap="square" lIns="0" rIns="0" tIns="0" bIns="0">
            <a:spAutoFit/>
          </a:bodyPr>
          <a:lstStyle/>
          <a:p>
            <a:pPr>
              <a:lnSpc>
                <a:spcPct val="112000"/>
              </a:lnSpc>
              <a:spcAft>
                <a:spcPts val="700"/>
              </a:spcAft>
              <a:defRPr sz="1900" b="0">
                <a:solidFill>
                  <a:srgbClr val="A6B4C9"/>
                </a:solidFill>
                <a:latin typeface="Arial"/>
              </a:defRPr>
            </a:pPr>
            <a:r>
              <a:t>Compatible evidence</a:t>
            </a:r>
          </a:p>
        </p:txBody>
      </p:sp>
      <p:cxnSp>
        <p:nvCxnSpPr>
          <p:cNvPr id="10" name="Connector 9"/>
          <p:cNvCxnSpPr/>
          <p:nvPr/>
        </p:nvCxnSpPr>
        <p:spPr>
          <a:xfrm>
            <a:off x="3017520" y="3246120"/>
            <a:ext cx="320040" cy="0"/>
          </a:xfrm>
          <a:prstGeom prst="line">
            <a:avLst/>
          </a:prstGeom>
          <a:ln w="25400">
            <a:solidFill>
              <a:srgbClr val="B7A5FF"/>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474720" y="2743200"/>
            <a:ext cx="2286000" cy="731520"/>
          </a:xfrm>
          <a:prstGeom prst="rect">
            <a:avLst/>
          </a:prstGeom>
          <a:noFill/>
        </p:spPr>
        <p:txBody>
          <a:bodyPr wrap="square" lIns="0" rIns="0" tIns="0" bIns="0">
            <a:spAutoFit/>
          </a:bodyPr>
          <a:lstStyle/>
          <a:p>
            <a:pPr>
              <a:lnSpc>
                <a:spcPct val="112000"/>
              </a:lnSpc>
              <a:spcAft>
                <a:spcPts val="700"/>
              </a:spcAft>
              <a:defRPr sz="4200" b="1">
                <a:solidFill>
                  <a:srgbClr val="67E8F9"/>
                </a:solidFill>
                <a:latin typeface="Arial"/>
              </a:defRPr>
            </a:pPr>
            <a:r>
              <a:t>02</a:t>
            </a:r>
          </a:p>
        </p:txBody>
      </p:sp>
      <p:sp>
        <p:nvSpPr>
          <p:cNvPr id="12" name="TextBox 11"/>
          <p:cNvSpPr txBox="1"/>
          <p:nvPr/>
        </p:nvSpPr>
        <p:spPr>
          <a:xfrm>
            <a:off x="3474720" y="3657600"/>
            <a:ext cx="2286000" cy="548640"/>
          </a:xfrm>
          <a:prstGeom prst="rect">
            <a:avLst/>
          </a:prstGeom>
          <a:noFill/>
        </p:spPr>
        <p:txBody>
          <a:bodyPr wrap="square" lIns="0" rIns="0" tIns="0" bIns="0">
            <a:spAutoFit/>
          </a:bodyPr>
          <a:lstStyle/>
          <a:p>
            <a:pPr>
              <a:lnSpc>
                <a:spcPct val="112000"/>
              </a:lnSpc>
              <a:spcAft>
                <a:spcPts val="700"/>
              </a:spcAft>
              <a:defRPr sz="2700" b="1">
                <a:solidFill>
                  <a:srgbClr val="E8EDF5"/>
                </a:solidFill>
                <a:latin typeface="Arial"/>
              </a:defRPr>
            </a:pPr>
            <a:r>
              <a:t>Forecast</a:t>
            </a:r>
          </a:p>
        </p:txBody>
      </p:sp>
      <p:sp>
        <p:nvSpPr>
          <p:cNvPr id="13" name="TextBox 12"/>
          <p:cNvSpPr txBox="1"/>
          <p:nvPr/>
        </p:nvSpPr>
        <p:spPr>
          <a:xfrm>
            <a:off x="3474720" y="4434840"/>
            <a:ext cx="2286000" cy="1005840"/>
          </a:xfrm>
          <a:prstGeom prst="rect">
            <a:avLst/>
          </a:prstGeom>
          <a:noFill/>
        </p:spPr>
        <p:txBody>
          <a:bodyPr wrap="square" lIns="0" rIns="0" tIns="0" bIns="0">
            <a:spAutoFit/>
          </a:bodyPr>
          <a:lstStyle/>
          <a:p>
            <a:pPr>
              <a:lnSpc>
                <a:spcPct val="112000"/>
              </a:lnSpc>
              <a:spcAft>
                <a:spcPts val="700"/>
              </a:spcAft>
              <a:defRPr sz="1900" b="0">
                <a:solidFill>
                  <a:srgbClr val="A6B4C9"/>
                </a:solidFill>
                <a:latin typeface="Arial"/>
              </a:defRPr>
            </a:pPr>
            <a:r>
              <a:t>Named methods</a:t>
            </a:r>
          </a:p>
        </p:txBody>
      </p:sp>
      <p:cxnSp>
        <p:nvCxnSpPr>
          <p:cNvPr id="14" name="Connector 13"/>
          <p:cNvCxnSpPr/>
          <p:nvPr/>
        </p:nvCxnSpPr>
        <p:spPr>
          <a:xfrm>
            <a:off x="5852160" y="3246120"/>
            <a:ext cx="320040" cy="0"/>
          </a:xfrm>
          <a:prstGeom prst="line">
            <a:avLst/>
          </a:prstGeom>
          <a:ln w="25400">
            <a:solidFill>
              <a:srgbClr val="B7A5FF"/>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309360" y="2743200"/>
            <a:ext cx="2286000" cy="731520"/>
          </a:xfrm>
          <a:prstGeom prst="rect">
            <a:avLst/>
          </a:prstGeom>
          <a:noFill/>
        </p:spPr>
        <p:txBody>
          <a:bodyPr wrap="square" lIns="0" rIns="0" tIns="0" bIns="0">
            <a:spAutoFit/>
          </a:bodyPr>
          <a:lstStyle/>
          <a:p>
            <a:pPr>
              <a:lnSpc>
                <a:spcPct val="112000"/>
              </a:lnSpc>
              <a:spcAft>
                <a:spcPts val="700"/>
              </a:spcAft>
              <a:defRPr sz="4200" b="1">
                <a:solidFill>
                  <a:srgbClr val="67E8F9"/>
                </a:solidFill>
                <a:latin typeface="Arial"/>
              </a:defRPr>
            </a:pPr>
            <a:r>
              <a:t>03</a:t>
            </a:r>
          </a:p>
        </p:txBody>
      </p:sp>
      <p:sp>
        <p:nvSpPr>
          <p:cNvPr id="16" name="TextBox 15"/>
          <p:cNvSpPr txBox="1"/>
          <p:nvPr/>
        </p:nvSpPr>
        <p:spPr>
          <a:xfrm>
            <a:off x="6309360" y="3657600"/>
            <a:ext cx="2286000" cy="548640"/>
          </a:xfrm>
          <a:prstGeom prst="rect">
            <a:avLst/>
          </a:prstGeom>
          <a:noFill/>
        </p:spPr>
        <p:txBody>
          <a:bodyPr wrap="square" lIns="0" rIns="0" tIns="0" bIns="0">
            <a:spAutoFit/>
          </a:bodyPr>
          <a:lstStyle/>
          <a:p>
            <a:pPr>
              <a:lnSpc>
                <a:spcPct val="112000"/>
              </a:lnSpc>
              <a:spcAft>
                <a:spcPts val="700"/>
              </a:spcAft>
              <a:defRPr sz="2700" b="1">
                <a:solidFill>
                  <a:srgbClr val="E8EDF5"/>
                </a:solidFill>
                <a:latin typeface="Arial"/>
              </a:defRPr>
            </a:pPr>
            <a:r>
              <a:t>Simulate</a:t>
            </a:r>
          </a:p>
        </p:txBody>
      </p:sp>
      <p:sp>
        <p:nvSpPr>
          <p:cNvPr id="17" name="TextBox 16"/>
          <p:cNvSpPr txBox="1"/>
          <p:nvPr/>
        </p:nvSpPr>
        <p:spPr>
          <a:xfrm>
            <a:off x="6309360" y="4434840"/>
            <a:ext cx="2286000" cy="1005840"/>
          </a:xfrm>
          <a:prstGeom prst="rect">
            <a:avLst/>
          </a:prstGeom>
          <a:noFill/>
        </p:spPr>
        <p:txBody>
          <a:bodyPr wrap="square" lIns="0" rIns="0" tIns="0" bIns="0">
            <a:spAutoFit/>
          </a:bodyPr>
          <a:lstStyle/>
          <a:p>
            <a:pPr>
              <a:lnSpc>
                <a:spcPct val="112000"/>
              </a:lnSpc>
              <a:spcAft>
                <a:spcPts val="700"/>
              </a:spcAft>
              <a:defRPr sz="1900" b="0">
                <a:solidFill>
                  <a:srgbClr val="A6B4C9"/>
                </a:solidFill>
                <a:latin typeface="Arial"/>
              </a:defRPr>
            </a:pPr>
            <a:r>
              <a:t>Explicit constraints</a:t>
            </a:r>
          </a:p>
        </p:txBody>
      </p:sp>
      <p:cxnSp>
        <p:nvCxnSpPr>
          <p:cNvPr id="18" name="Connector 17"/>
          <p:cNvCxnSpPr/>
          <p:nvPr/>
        </p:nvCxnSpPr>
        <p:spPr>
          <a:xfrm>
            <a:off x="8686800" y="3246120"/>
            <a:ext cx="320040" cy="0"/>
          </a:xfrm>
          <a:prstGeom prst="line">
            <a:avLst/>
          </a:prstGeom>
          <a:ln w="25400">
            <a:solidFill>
              <a:srgbClr val="B7A5FF"/>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9144000" y="2743200"/>
            <a:ext cx="2286000" cy="731520"/>
          </a:xfrm>
          <a:prstGeom prst="rect">
            <a:avLst/>
          </a:prstGeom>
          <a:noFill/>
        </p:spPr>
        <p:txBody>
          <a:bodyPr wrap="square" lIns="0" rIns="0" tIns="0" bIns="0">
            <a:spAutoFit/>
          </a:bodyPr>
          <a:lstStyle/>
          <a:p>
            <a:pPr>
              <a:lnSpc>
                <a:spcPct val="112000"/>
              </a:lnSpc>
              <a:spcAft>
                <a:spcPts val="700"/>
              </a:spcAft>
              <a:defRPr sz="4200" b="1">
                <a:solidFill>
                  <a:srgbClr val="67E8F9"/>
                </a:solidFill>
                <a:latin typeface="Arial"/>
              </a:defRPr>
            </a:pPr>
            <a:r>
              <a:t>04</a:t>
            </a:r>
          </a:p>
        </p:txBody>
      </p:sp>
      <p:sp>
        <p:nvSpPr>
          <p:cNvPr id="20" name="TextBox 19"/>
          <p:cNvSpPr txBox="1"/>
          <p:nvPr/>
        </p:nvSpPr>
        <p:spPr>
          <a:xfrm>
            <a:off x="9144000" y="3657600"/>
            <a:ext cx="2286000" cy="548640"/>
          </a:xfrm>
          <a:prstGeom prst="rect">
            <a:avLst/>
          </a:prstGeom>
          <a:noFill/>
        </p:spPr>
        <p:txBody>
          <a:bodyPr wrap="square" lIns="0" rIns="0" tIns="0" bIns="0">
            <a:spAutoFit/>
          </a:bodyPr>
          <a:lstStyle/>
          <a:p>
            <a:pPr>
              <a:lnSpc>
                <a:spcPct val="112000"/>
              </a:lnSpc>
              <a:spcAft>
                <a:spcPts val="700"/>
              </a:spcAft>
              <a:defRPr sz="2700" b="1">
                <a:solidFill>
                  <a:srgbClr val="E8EDF5"/>
                </a:solidFill>
                <a:latin typeface="Arial"/>
              </a:defRPr>
            </a:pPr>
            <a:r>
              <a:t>Verify</a:t>
            </a:r>
          </a:p>
        </p:txBody>
      </p:sp>
      <p:sp>
        <p:nvSpPr>
          <p:cNvPr id="21" name="TextBox 20"/>
          <p:cNvSpPr txBox="1"/>
          <p:nvPr/>
        </p:nvSpPr>
        <p:spPr>
          <a:xfrm>
            <a:off x="9144000" y="4434840"/>
            <a:ext cx="2286000" cy="1005840"/>
          </a:xfrm>
          <a:prstGeom prst="rect">
            <a:avLst/>
          </a:prstGeom>
          <a:noFill/>
        </p:spPr>
        <p:txBody>
          <a:bodyPr wrap="square" lIns="0" rIns="0" tIns="0" bIns="0">
            <a:spAutoFit/>
          </a:bodyPr>
          <a:lstStyle/>
          <a:p>
            <a:pPr>
              <a:lnSpc>
                <a:spcPct val="112000"/>
              </a:lnSpc>
              <a:spcAft>
                <a:spcPts val="700"/>
              </a:spcAft>
              <a:defRPr sz="1900" b="0">
                <a:solidFill>
                  <a:srgbClr val="A6B4C9"/>
                </a:solidFill>
                <a:latin typeface="Arial"/>
              </a:defRPr>
            </a:pPr>
            <a:r>
              <a:t>Digest and provenance</a:t>
            </a:r>
          </a:p>
        </p:txBody>
      </p:sp>
      <p:sp>
        <p:nvSpPr>
          <p:cNvPr id="22" name="TextBox 21"/>
          <p:cNvSpPr txBox="1"/>
          <p:nvPr/>
        </p:nvSpPr>
        <p:spPr>
          <a:xfrm>
            <a:off x="640080" y="5669280"/>
            <a:ext cx="10698480" cy="457200"/>
          </a:xfrm>
          <a:prstGeom prst="rect">
            <a:avLst/>
          </a:prstGeom>
          <a:noFill/>
        </p:spPr>
        <p:txBody>
          <a:bodyPr wrap="square" lIns="0" rIns="0" tIns="0" bIns="0">
            <a:spAutoFit/>
          </a:bodyPr>
          <a:lstStyle/>
          <a:p>
            <a:pPr>
              <a:lnSpc>
                <a:spcPct val="112000"/>
              </a:lnSpc>
              <a:spcAft>
                <a:spcPts val="700"/>
              </a:spcAft>
              <a:defRPr sz="1800" b="0">
                <a:solidFill>
                  <a:srgbClr val="B7A5FF"/>
                </a:solidFill>
                <a:latin typeface="Arial"/>
              </a:defRPr>
            </a:pPr>
            <a:r>
              <a:t>Human review remains the decision boundary</a:t>
            </a:r>
          </a:p>
        </p:txBody>
      </p:sp>
    </p:spTree>
  </p:cSld>
  <p:clrMapOvr>
    <a:masterClrMapping/>
  </p:clrMapOvr>
  <p:transition spd="fast">
    <p:fade/>
  </p:transition>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Product vision and objectives</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06 / 33</a:t>
            </a:r>
          </a:p>
        </p:txBody>
      </p:sp>
      <p:sp>
        <p:nvSpPr>
          <p:cNvPr id="6" name="TextBox 5"/>
          <p:cNvSpPr txBox="1"/>
          <p:nvPr/>
        </p:nvSpPr>
        <p:spPr>
          <a:xfrm>
            <a:off x="64008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417319" y="1828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Reconstruct a result from source records and fingerprints</a:t>
            </a:r>
          </a:p>
        </p:txBody>
      </p:sp>
      <p:sp>
        <p:nvSpPr>
          <p:cNvPr id="8" name="TextBox 7"/>
          <p:cNvSpPr txBox="1"/>
          <p:nvPr/>
        </p:nvSpPr>
        <p:spPr>
          <a:xfrm>
            <a:off x="640080" y="2971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417319" y="2971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Keep authorization independent of UI and model instructions</a:t>
            </a:r>
          </a:p>
        </p:txBody>
      </p:sp>
      <p:sp>
        <p:nvSpPr>
          <p:cNvPr id="10" name="TextBox 9"/>
          <p:cNvSpPr txBox="1"/>
          <p:nvPr/>
        </p:nvSpPr>
        <p:spPr>
          <a:xfrm>
            <a:off x="640080" y="4114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417319" y="4114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Measure methods against transparent baselines</a:t>
            </a:r>
          </a:p>
        </p:txBody>
      </p:sp>
    </p:spTree>
  </p:cSld>
  <p:clrMapOvr>
    <a:masterClrMapping/>
  </p:clrMapOvr>
  <p:transition spd="fast">
    <p:fade/>
  </p:transition>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Users and business applications</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07 / 33</a:t>
            </a:r>
          </a:p>
        </p:txBody>
      </p:sp>
      <p:sp>
        <p:nvSpPr>
          <p:cNvPr id="6" name="TextBox 5"/>
          <p:cNvSpPr txBox="1"/>
          <p:nvPr/>
        </p:nvSpPr>
        <p:spPr>
          <a:xfrm>
            <a:off x="64008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417319" y="1828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Analysts and planners: compare evidence and coverage</a:t>
            </a:r>
          </a:p>
        </p:txBody>
      </p:sp>
      <p:sp>
        <p:nvSpPr>
          <p:cNvPr id="8" name="TextBox 7"/>
          <p:cNvSpPr txBox="1"/>
          <p:nvPr/>
        </p:nvSpPr>
        <p:spPr>
          <a:xfrm>
            <a:off x="640080" y="2971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417319" y="2971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Businesses and providers: inspect and publish permitted data</a:t>
            </a:r>
          </a:p>
        </p:txBody>
      </p:sp>
      <p:sp>
        <p:nvSpPr>
          <p:cNvPr id="10" name="TextBox 9"/>
          <p:cNvSpPr txBox="1"/>
          <p:nvPr/>
        </p:nvSpPr>
        <p:spPr>
          <a:xfrm>
            <a:off x="640080" y="4114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417319" y="4114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Administrators and citizens: role-appropriate access</a:t>
            </a:r>
          </a:p>
        </p:txBody>
      </p:sp>
    </p:spTree>
  </p:cSld>
  <p:clrMapOvr>
    <a:masterClrMapping/>
  </p:clrMapOvr>
  <p:transition spd="fast">
    <p:fade/>
  </p:transition>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Core features</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08 / 33</a:t>
            </a:r>
          </a:p>
        </p:txBody>
      </p:sp>
      <p:sp>
        <p:nvSpPr>
          <p:cNvPr id="6" name="TextBox 5"/>
          <p:cNvSpPr txBox="1"/>
          <p:nvPr/>
        </p:nvSpPr>
        <p:spPr>
          <a:xfrm>
            <a:off x="64008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417319" y="1828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Geospatial registry, ingestion and historical analytics</a:t>
            </a:r>
          </a:p>
        </p:txBody>
      </p:sp>
      <p:sp>
        <p:nvSpPr>
          <p:cNvPr id="8" name="TextBox 7"/>
          <p:cNvSpPr txBox="1"/>
          <p:nvPr/>
        </p:nvSpPr>
        <p:spPr>
          <a:xfrm>
            <a:off x="640080" y="2971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417319" y="2971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Forecast jobs, opportunity scores and saved scenarios</a:t>
            </a:r>
          </a:p>
        </p:txBody>
      </p:sp>
      <p:sp>
        <p:nvSpPr>
          <p:cNvPr id="10" name="TextBox 9"/>
          <p:cNvSpPr txBox="1"/>
          <p:nvPr/>
        </p:nvSpPr>
        <p:spPr>
          <a:xfrm>
            <a:off x="640080" y="4114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417319" y="4114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PulseAI evidence and local content attestations</a:t>
            </a:r>
          </a:p>
        </p:txBody>
      </p:sp>
    </p:spTree>
  </p:cSld>
  <p:clrMapOvr>
    <a:masterClrMapping/>
  </p:clrMapOvr>
  <p:transition spd="fast">
    <p:fade/>
  </p:transition>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Working product demonstration</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09 / 33</a:t>
            </a:r>
          </a:p>
        </p:txBody>
      </p:sp>
      <p:sp>
        <p:nvSpPr>
          <p:cNvPr id="6" name="TextBox 5"/>
          <p:cNvSpPr txBox="1"/>
          <p:nvPr/>
        </p:nvSpPr>
        <p:spPr>
          <a:xfrm>
            <a:off x="59436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371600" y="1828800"/>
            <a:ext cx="2331720" cy="1097280"/>
          </a:xfrm>
          <a:prstGeom prst="rect">
            <a:avLst/>
          </a:prstGeom>
          <a:noFill/>
        </p:spPr>
        <p:txBody>
          <a:bodyPr wrap="square" lIns="0" rIns="0" tIns="0" bIns="0">
            <a:spAutoFit/>
          </a:bodyPr>
          <a:lstStyle/>
          <a:p>
            <a:pPr>
              <a:lnSpc>
                <a:spcPct val="112000"/>
              </a:lnSpc>
              <a:spcAft>
                <a:spcPts val="700"/>
              </a:spcAft>
              <a:defRPr sz="1900" b="0">
                <a:solidFill>
                  <a:srgbClr val="E8EDF5"/>
                </a:solidFill>
                <a:latin typeface="Arial"/>
              </a:defRPr>
            </a:pPr>
            <a:r>
              <a:t>Actual local application</a:t>
            </a:r>
          </a:p>
        </p:txBody>
      </p:sp>
      <p:sp>
        <p:nvSpPr>
          <p:cNvPr id="8" name="TextBox 7"/>
          <p:cNvSpPr txBox="1"/>
          <p:nvPr/>
        </p:nvSpPr>
        <p:spPr>
          <a:xfrm>
            <a:off x="594360" y="306324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371600" y="3063240"/>
            <a:ext cx="2331720" cy="1097280"/>
          </a:xfrm>
          <a:prstGeom prst="rect">
            <a:avLst/>
          </a:prstGeom>
          <a:noFill/>
        </p:spPr>
        <p:txBody>
          <a:bodyPr wrap="square" lIns="0" rIns="0" tIns="0" bIns="0">
            <a:spAutoFit/>
          </a:bodyPr>
          <a:lstStyle/>
          <a:p>
            <a:pPr>
              <a:lnSpc>
                <a:spcPct val="112000"/>
              </a:lnSpc>
              <a:spcAft>
                <a:spcPts val="700"/>
              </a:spcAft>
              <a:defRPr sz="1900" b="0">
                <a:solidFill>
                  <a:srgbClr val="E8EDF5"/>
                </a:solidFill>
                <a:latin typeface="Arial"/>
              </a:defRPr>
            </a:pPr>
            <a:r>
              <a:t>Clearly labeled synthetic data</a:t>
            </a:r>
          </a:p>
        </p:txBody>
      </p:sp>
      <p:pic>
        <p:nvPicPr>
          <p:cNvPr id="10" name="Picture 9" descr="readme-dashboard.png"/>
          <p:cNvPicPr>
            <a:picLocks noChangeAspect="1"/>
          </p:cNvPicPr>
          <p:nvPr/>
        </p:nvPicPr>
        <p:blipFill>
          <a:blip r:embed="rId3"/>
          <a:stretch>
            <a:fillRect/>
          </a:stretch>
        </p:blipFill>
        <p:spPr>
          <a:xfrm>
            <a:off x="4569256" y="1645920"/>
            <a:ext cx="6452006" cy="4480560"/>
          </a:xfrm>
          <a:prstGeom prst="rect">
            <a:avLst/>
          </a:prstGeom>
        </p:spPr>
      </p:pic>
    </p:spTree>
  </p:cSld>
  <p:clrMapOvr>
    <a:masterClrMapping/>
  </p:clrMapOvr>
  <p:transition spd="fast">
    <p:fade/>
  </p:transition>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Technology stack</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10 / 33</a:t>
            </a:r>
          </a:p>
        </p:txBody>
      </p:sp>
      <p:sp>
        <p:nvSpPr>
          <p:cNvPr id="6" name="TextBox 5"/>
          <p:cNvSpPr txBox="1"/>
          <p:nvPr/>
        </p:nvSpPr>
        <p:spPr>
          <a:xfrm>
            <a:off x="64008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417319" y="1828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Next.js + TypeScript for the web workspace</a:t>
            </a:r>
          </a:p>
        </p:txBody>
      </p:sp>
      <p:sp>
        <p:nvSpPr>
          <p:cNvPr id="8" name="TextBox 7"/>
          <p:cNvSpPr txBox="1"/>
          <p:nvPr/>
        </p:nvSpPr>
        <p:spPr>
          <a:xfrm>
            <a:off x="640080" y="2971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417319" y="2971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Java 21 / Spring Boot 4 for canonical business operations</a:t>
            </a:r>
          </a:p>
        </p:txBody>
      </p:sp>
      <p:sp>
        <p:nvSpPr>
          <p:cNvPr id="10" name="TextBox 9"/>
          <p:cNvSpPr txBox="1"/>
          <p:nvPr/>
        </p:nvSpPr>
        <p:spPr>
          <a:xfrm>
            <a:off x="640080" y="4114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417319" y="4114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FastAPI / SciPy / scikit-learn for numerical isolation</a:t>
            </a:r>
          </a:p>
        </p:txBody>
      </p:sp>
    </p:spTree>
  </p:cSld>
  <p:clrMapOvr>
    <a:masterClrMapping/>
  </p:clrMapOvr>
  <p:transition spd="fast">
    <p:fade/>
  </p:transition>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System architecture</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11 / 33</a:t>
            </a:r>
          </a:p>
        </p:txBody>
      </p:sp>
      <p:sp>
        <p:nvSpPr>
          <p:cNvPr id="6" name="TextBox 5"/>
          <p:cNvSpPr txBox="1"/>
          <p:nvPr/>
        </p:nvSpPr>
        <p:spPr>
          <a:xfrm>
            <a:off x="59436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371600" y="182880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Browser identity resolves at the Next server boundary</a:t>
            </a:r>
          </a:p>
        </p:txBody>
      </p:sp>
      <p:sp>
        <p:nvSpPr>
          <p:cNvPr id="8" name="TextBox 7"/>
          <p:cNvSpPr txBox="1"/>
          <p:nvPr/>
        </p:nvSpPr>
        <p:spPr>
          <a:xfrm>
            <a:off x="594360" y="315468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371600" y="315468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Spring authorizes and persists; Python computes</a:t>
            </a:r>
          </a:p>
        </p:txBody>
      </p:sp>
      <p:cxnSp>
        <p:nvCxnSpPr>
          <p:cNvPr id="10" name="Connector 9"/>
          <p:cNvCxnSpPr/>
          <p:nvPr/>
        </p:nvCxnSpPr>
        <p:spPr>
          <a:xfrm>
            <a:off x="6309359" y="2093976"/>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851392" y="2093976"/>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85531" y="2450591"/>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5143500" y="2610611"/>
            <a:ext cx="2542031"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143500" y="2610611"/>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309359" y="3127248"/>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5143500" y="2642615"/>
            <a:ext cx="0" cy="128017"/>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5143500" y="2642615"/>
            <a:ext cx="5084064"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0227564" y="2642615"/>
            <a:ext cx="0" cy="128017"/>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143500" y="3483863"/>
            <a:ext cx="0" cy="160021"/>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143500" y="3643884"/>
            <a:ext cx="0"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143500" y="3643884"/>
            <a:ext cx="0" cy="16002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309359" y="4160520"/>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3977639"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iagram label: Browser"/>
          <p:cNvSpPr txBox="1"/>
          <p:nvPr/>
        </p:nvSpPr>
        <p:spPr>
          <a:xfrm>
            <a:off x="4087368"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Browser</a:t>
            </a:r>
          </a:p>
        </p:txBody>
      </p:sp>
      <p:sp>
        <p:nvSpPr>
          <p:cNvPr id="25" name="Rectangle 24"/>
          <p:cNvSpPr/>
          <p:nvPr/>
        </p:nvSpPr>
        <p:spPr>
          <a:xfrm>
            <a:off x="6519671"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iagram label: Next.js BFF"/>
          <p:cNvSpPr txBox="1"/>
          <p:nvPr/>
        </p:nvSpPr>
        <p:spPr>
          <a:xfrm>
            <a:off x="6629399"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Next.js BFF</a:t>
            </a:r>
          </a:p>
        </p:txBody>
      </p:sp>
      <p:sp>
        <p:nvSpPr>
          <p:cNvPr id="27" name="Rectangle 26"/>
          <p:cNvSpPr/>
          <p:nvPr/>
        </p:nvSpPr>
        <p:spPr>
          <a:xfrm>
            <a:off x="9061704"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iagram label: OIDC provider"/>
          <p:cNvSpPr txBox="1"/>
          <p:nvPr/>
        </p:nvSpPr>
        <p:spPr>
          <a:xfrm>
            <a:off x="9171432"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OIDC provider</a:t>
            </a:r>
          </a:p>
        </p:txBody>
      </p:sp>
      <p:sp>
        <p:nvSpPr>
          <p:cNvPr id="29" name="Rectangle 28"/>
          <p:cNvSpPr/>
          <p:nvPr/>
        </p:nvSpPr>
        <p:spPr>
          <a:xfrm>
            <a:off x="3977639"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Diagram label: Spring API"/>
          <p:cNvSpPr txBox="1"/>
          <p:nvPr/>
        </p:nvSpPr>
        <p:spPr>
          <a:xfrm>
            <a:off x="4087368"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Spring API</a:t>
            </a:r>
          </a:p>
        </p:txBody>
      </p:sp>
      <p:sp>
        <p:nvSpPr>
          <p:cNvPr id="31" name="Rectangle 30"/>
          <p:cNvSpPr/>
          <p:nvPr/>
        </p:nvSpPr>
        <p:spPr>
          <a:xfrm>
            <a:off x="6519671"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Diagram label: PostgreSQL/PostGIS"/>
          <p:cNvSpPr txBox="1"/>
          <p:nvPr/>
        </p:nvSpPr>
        <p:spPr>
          <a:xfrm>
            <a:off x="6629399"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PostgreSQL / PostGIS</a:t>
            </a:r>
          </a:p>
        </p:txBody>
      </p:sp>
      <p:sp>
        <p:nvSpPr>
          <p:cNvPr id="33" name="Rectangle 32"/>
          <p:cNvSpPr/>
          <p:nvPr/>
        </p:nvSpPr>
        <p:spPr>
          <a:xfrm>
            <a:off x="9061704"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Diagram label: Redis"/>
          <p:cNvSpPr txBox="1"/>
          <p:nvPr/>
        </p:nvSpPr>
        <p:spPr>
          <a:xfrm>
            <a:off x="9171432"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Redis</a:t>
            </a:r>
          </a:p>
        </p:txBody>
      </p:sp>
      <p:sp>
        <p:nvSpPr>
          <p:cNvPr id="35" name="Rectangle 34"/>
          <p:cNvSpPr/>
          <p:nvPr/>
        </p:nvSpPr>
        <p:spPr>
          <a:xfrm>
            <a:off x="3977639"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Diagram label: FastAPI / SciPy"/>
          <p:cNvSpPr txBox="1"/>
          <p:nvPr/>
        </p:nvSpPr>
        <p:spPr>
          <a:xfrm>
            <a:off x="4087368"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FastAPI  /  SciPy</a:t>
            </a:r>
          </a:p>
        </p:txBody>
      </p:sp>
      <p:sp>
        <p:nvSpPr>
          <p:cNvPr id="37" name="Rectangle 36"/>
          <p:cNvSpPr/>
          <p:nvPr/>
        </p:nvSpPr>
        <p:spPr>
          <a:xfrm>
            <a:off x="6519671"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Diagram label: AI state and models"/>
          <p:cNvSpPr txBox="1"/>
          <p:nvPr/>
        </p:nvSpPr>
        <p:spPr>
          <a:xfrm>
            <a:off x="6629399"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AI state and models</a:t>
            </a:r>
          </a:p>
        </p:txBody>
      </p:sp>
      <p:sp>
        <p:nvSpPr>
          <p:cNvPr id="39" name="Rectangle 38"/>
          <p:cNvSpPr/>
          <p:nvPr/>
        </p:nvSpPr>
        <p:spPr>
          <a:xfrm>
            <a:off x="9061704"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Diagram label: Local EVM"/>
          <p:cNvSpPr txBox="1"/>
          <p:nvPr/>
        </p:nvSpPr>
        <p:spPr>
          <a:xfrm>
            <a:off x="9171432"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Local EVM</a:t>
            </a:r>
          </a:p>
        </p:txBody>
      </p:sp>
    </p:spTree>
  </p:cSld>
  <p:clrMapOvr>
    <a:masterClrMapping/>
  </p:clrMapOvr>
  <p:transition spd="fast">
    <p:fade/>
  </p:transition>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Frontend architecture and design</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12 / 33</a:t>
            </a:r>
          </a:p>
        </p:txBody>
      </p:sp>
      <p:sp>
        <p:nvSpPr>
          <p:cNvPr id="6" name="TextBox 5"/>
          <p:cNvSpPr txBox="1"/>
          <p:nvPr/>
        </p:nvSpPr>
        <p:spPr>
          <a:xfrm>
            <a:off x="59436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371600" y="1828800"/>
            <a:ext cx="2331720" cy="1097280"/>
          </a:xfrm>
          <a:prstGeom prst="rect">
            <a:avLst/>
          </a:prstGeom>
          <a:noFill/>
        </p:spPr>
        <p:txBody>
          <a:bodyPr wrap="square" lIns="0" rIns="0" tIns="0" bIns="0">
            <a:spAutoFit/>
          </a:bodyPr>
          <a:lstStyle/>
          <a:p>
            <a:pPr>
              <a:lnSpc>
                <a:spcPct val="112000"/>
              </a:lnSpc>
              <a:spcAft>
                <a:spcPts val="700"/>
              </a:spcAft>
              <a:defRPr sz="1900" b="0">
                <a:solidFill>
                  <a:srgbClr val="E8EDF5"/>
                </a:solidFill>
                <a:latin typeface="Arial"/>
              </a:defRPr>
            </a:pPr>
            <a:r>
              <a:t>Typed routes, query state and local preferences</a:t>
            </a:r>
          </a:p>
        </p:txBody>
      </p:sp>
      <p:sp>
        <p:nvSpPr>
          <p:cNvPr id="8" name="TextBox 7"/>
          <p:cNvSpPr txBox="1"/>
          <p:nvPr/>
        </p:nvSpPr>
        <p:spPr>
          <a:xfrm>
            <a:off x="594360" y="306324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371600" y="3063240"/>
            <a:ext cx="2331720" cy="1097280"/>
          </a:xfrm>
          <a:prstGeom prst="rect">
            <a:avLst/>
          </a:prstGeom>
          <a:noFill/>
        </p:spPr>
        <p:txBody>
          <a:bodyPr wrap="square" lIns="0" rIns="0" tIns="0" bIns="0">
            <a:spAutoFit/>
          </a:bodyPr>
          <a:lstStyle/>
          <a:p>
            <a:pPr>
              <a:lnSpc>
                <a:spcPct val="112000"/>
              </a:lnSpc>
              <a:spcAft>
                <a:spcPts val="700"/>
              </a:spcAft>
              <a:defRPr sz="1900" b="0">
                <a:solidFill>
                  <a:srgbClr val="E8EDF5"/>
                </a:solidFill>
                <a:latin typeface="Arial"/>
              </a:defRPr>
            </a:pPr>
            <a:r>
              <a:t>Charts/maps with table and keyboard alternatives</a:t>
            </a:r>
          </a:p>
        </p:txBody>
      </p:sp>
      <p:sp>
        <p:nvSpPr>
          <p:cNvPr id="10" name="TextBox 9"/>
          <p:cNvSpPr txBox="1"/>
          <p:nvPr/>
        </p:nvSpPr>
        <p:spPr>
          <a:xfrm>
            <a:off x="594360" y="429768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371600" y="4297680"/>
            <a:ext cx="2331720" cy="1097280"/>
          </a:xfrm>
          <a:prstGeom prst="rect">
            <a:avLst/>
          </a:prstGeom>
          <a:noFill/>
        </p:spPr>
        <p:txBody>
          <a:bodyPr wrap="square" lIns="0" rIns="0" tIns="0" bIns="0">
            <a:spAutoFit/>
          </a:bodyPr>
          <a:lstStyle/>
          <a:p>
            <a:pPr>
              <a:lnSpc>
                <a:spcPct val="112000"/>
              </a:lnSpc>
              <a:spcAft>
                <a:spcPts val="700"/>
              </a:spcAft>
              <a:defRPr sz="1900" b="0">
                <a:solidFill>
                  <a:srgbClr val="E8EDF5"/>
                </a:solidFill>
                <a:latin typeface="Arial"/>
              </a:defRPr>
            </a:pPr>
            <a:r>
              <a:t>One theme for workspace, portals and notifications</a:t>
            </a:r>
          </a:p>
        </p:txBody>
      </p:sp>
      <p:pic>
        <p:nvPicPr>
          <p:cNvPr id="12" name="Picture 11" descr="settings-dark.png"/>
          <p:cNvPicPr>
            <a:picLocks noChangeAspect="1"/>
          </p:cNvPicPr>
          <p:nvPr/>
        </p:nvPicPr>
        <p:blipFill>
          <a:blip r:embed="rId3"/>
          <a:stretch>
            <a:fillRect/>
          </a:stretch>
        </p:blipFill>
        <p:spPr>
          <a:xfrm>
            <a:off x="4569256" y="1645920"/>
            <a:ext cx="6452006" cy="4480560"/>
          </a:xfrm>
          <a:prstGeom prst="rect">
            <a:avLst/>
          </a:prstGeom>
        </p:spPr>
      </p:pic>
    </p:spTree>
  </p:cSld>
  <p:clrMapOvr>
    <a:masterClrMapping/>
  </p:clrMapOvr>
  <p:transition spd="fast">
    <p:fade/>
  </p:transition>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Java Spring Boot backend</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13 / 33</a:t>
            </a:r>
          </a:p>
        </p:txBody>
      </p:sp>
      <p:sp>
        <p:nvSpPr>
          <p:cNvPr id="6" name="TextBox 5"/>
          <p:cNvSpPr txBox="1"/>
          <p:nvPr/>
        </p:nvSpPr>
        <p:spPr>
          <a:xfrm>
            <a:off x="640080" y="1691640"/>
            <a:ext cx="10789920" cy="64008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Controllers validate; services enforce policy and transactions</a:t>
            </a:r>
          </a:p>
        </p:txBody>
      </p:sp>
      <p:sp>
        <p:nvSpPr>
          <p:cNvPr id="7" name="TextBox 6"/>
          <p:cNvSpPr txBox="1"/>
          <p:nvPr/>
        </p:nvSpPr>
        <p:spPr>
          <a:xfrm>
            <a:off x="640080" y="2743200"/>
            <a:ext cx="2286000" cy="731520"/>
          </a:xfrm>
          <a:prstGeom prst="rect">
            <a:avLst/>
          </a:prstGeom>
          <a:noFill/>
        </p:spPr>
        <p:txBody>
          <a:bodyPr wrap="square" lIns="0" rIns="0" tIns="0" bIns="0">
            <a:spAutoFit/>
          </a:bodyPr>
          <a:lstStyle/>
          <a:p>
            <a:pPr>
              <a:lnSpc>
                <a:spcPct val="112000"/>
              </a:lnSpc>
              <a:spcAft>
                <a:spcPts val="700"/>
              </a:spcAft>
              <a:defRPr sz="4200" b="1">
                <a:solidFill>
                  <a:srgbClr val="67E8F9"/>
                </a:solidFill>
                <a:latin typeface="Arial"/>
              </a:defRPr>
            </a:pPr>
            <a:r>
              <a:t>01</a:t>
            </a:r>
          </a:p>
        </p:txBody>
      </p:sp>
      <p:sp>
        <p:nvSpPr>
          <p:cNvPr id="8" name="TextBox 7"/>
          <p:cNvSpPr txBox="1"/>
          <p:nvPr/>
        </p:nvSpPr>
        <p:spPr>
          <a:xfrm>
            <a:off x="640080" y="3657600"/>
            <a:ext cx="2286000" cy="548640"/>
          </a:xfrm>
          <a:prstGeom prst="rect">
            <a:avLst/>
          </a:prstGeom>
          <a:noFill/>
        </p:spPr>
        <p:txBody>
          <a:bodyPr wrap="square" lIns="0" rIns="0" tIns="0" bIns="0">
            <a:spAutoFit/>
          </a:bodyPr>
          <a:lstStyle/>
          <a:p>
            <a:pPr>
              <a:lnSpc>
                <a:spcPct val="112000"/>
              </a:lnSpc>
              <a:spcAft>
                <a:spcPts val="700"/>
              </a:spcAft>
              <a:defRPr sz="2700" b="1">
                <a:solidFill>
                  <a:srgbClr val="E8EDF5"/>
                </a:solidFill>
                <a:latin typeface="Arial"/>
              </a:defRPr>
            </a:pPr>
            <a:r>
              <a:t>Authenticate</a:t>
            </a:r>
          </a:p>
        </p:txBody>
      </p:sp>
      <p:sp>
        <p:nvSpPr>
          <p:cNvPr id="9" name="TextBox 8"/>
          <p:cNvSpPr txBox="1"/>
          <p:nvPr/>
        </p:nvSpPr>
        <p:spPr>
          <a:xfrm>
            <a:off x="640080" y="4434840"/>
            <a:ext cx="2286000" cy="1005840"/>
          </a:xfrm>
          <a:prstGeom prst="rect">
            <a:avLst/>
          </a:prstGeom>
          <a:noFill/>
        </p:spPr>
        <p:txBody>
          <a:bodyPr wrap="square" lIns="0" rIns="0" tIns="0" bIns="0">
            <a:spAutoFit/>
          </a:bodyPr>
          <a:lstStyle/>
          <a:p>
            <a:pPr>
              <a:lnSpc>
                <a:spcPct val="112000"/>
              </a:lnSpc>
              <a:spcAft>
                <a:spcPts val="700"/>
              </a:spcAft>
              <a:defRPr sz="1900" b="0">
                <a:solidFill>
                  <a:srgbClr val="A6B4C9"/>
                </a:solidFill>
                <a:latin typeface="Arial"/>
              </a:defRPr>
            </a:pPr>
            <a:r>
              <a:t>Token and membership</a:t>
            </a:r>
          </a:p>
        </p:txBody>
      </p:sp>
      <p:cxnSp>
        <p:nvCxnSpPr>
          <p:cNvPr id="10" name="Connector 9"/>
          <p:cNvCxnSpPr/>
          <p:nvPr/>
        </p:nvCxnSpPr>
        <p:spPr>
          <a:xfrm>
            <a:off x="3017520" y="3246120"/>
            <a:ext cx="320040" cy="0"/>
          </a:xfrm>
          <a:prstGeom prst="line">
            <a:avLst/>
          </a:prstGeom>
          <a:ln w="25400">
            <a:solidFill>
              <a:srgbClr val="B7A5FF"/>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474720" y="2743200"/>
            <a:ext cx="2286000" cy="731520"/>
          </a:xfrm>
          <a:prstGeom prst="rect">
            <a:avLst/>
          </a:prstGeom>
          <a:noFill/>
        </p:spPr>
        <p:txBody>
          <a:bodyPr wrap="square" lIns="0" rIns="0" tIns="0" bIns="0">
            <a:spAutoFit/>
          </a:bodyPr>
          <a:lstStyle/>
          <a:p>
            <a:pPr>
              <a:lnSpc>
                <a:spcPct val="112000"/>
              </a:lnSpc>
              <a:spcAft>
                <a:spcPts val="700"/>
              </a:spcAft>
              <a:defRPr sz="4200" b="1">
                <a:solidFill>
                  <a:srgbClr val="67E8F9"/>
                </a:solidFill>
                <a:latin typeface="Arial"/>
              </a:defRPr>
            </a:pPr>
            <a:r>
              <a:t>02</a:t>
            </a:r>
          </a:p>
        </p:txBody>
      </p:sp>
      <p:sp>
        <p:nvSpPr>
          <p:cNvPr id="12" name="TextBox 11"/>
          <p:cNvSpPr txBox="1"/>
          <p:nvPr/>
        </p:nvSpPr>
        <p:spPr>
          <a:xfrm>
            <a:off x="3474720" y="3657600"/>
            <a:ext cx="2286000" cy="548640"/>
          </a:xfrm>
          <a:prstGeom prst="rect">
            <a:avLst/>
          </a:prstGeom>
          <a:noFill/>
        </p:spPr>
        <p:txBody>
          <a:bodyPr wrap="square" lIns="0" rIns="0" tIns="0" bIns="0">
            <a:spAutoFit/>
          </a:bodyPr>
          <a:lstStyle/>
          <a:p>
            <a:pPr>
              <a:lnSpc>
                <a:spcPct val="112000"/>
              </a:lnSpc>
              <a:spcAft>
                <a:spcPts val="700"/>
              </a:spcAft>
              <a:defRPr sz="2700" b="1">
                <a:solidFill>
                  <a:srgbClr val="E8EDF5"/>
                </a:solidFill>
                <a:latin typeface="Arial"/>
              </a:defRPr>
            </a:pPr>
            <a:r>
              <a:t>Authorize</a:t>
            </a:r>
          </a:p>
        </p:txBody>
      </p:sp>
      <p:sp>
        <p:nvSpPr>
          <p:cNvPr id="13" name="TextBox 12"/>
          <p:cNvSpPr txBox="1"/>
          <p:nvPr/>
        </p:nvSpPr>
        <p:spPr>
          <a:xfrm>
            <a:off x="3474720" y="4434840"/>
            <a:ext cx="2286000" cy="1005840"/>
          </a:xfrm>
          <a:prstGeom prst="rect">
            <a:avLst/>
          </a:prstGeom>
          <a:noFill/>
        </p:spPr>
        <p:txBody>
          <a:bodyPr wrap="square" lIns="0" rIns="0" tIns="0" bIns="0">
            <a:spAutoFit/>
          </a:bodyPr>
          <a:lstStyle/>
          <a:p>
            <a:pPr>
              <a:lnSpc>
                <a:spcPct val="112000"/>
              </a:lnSpc>
              <a:spcAft>
                <a:spcPts val="700"/>
              </a:spcAft>
              <a:defRPr sz="1900" b="0">
                <a:solidFill>
                  <a:srgbClr val="A6B4C9"/>
                </a:solidFill>
                <a:latin typeface="Arial"/>
              </a:defRPr>
            </a:pPr>
            <a:r>
              <a:t>Tenant and scopes</a:t>
            </a:r>
          </a:p>
        </p:txBody>
      </p:sp>
      <p:cxnSp>
        <p:nvCxnSpPr>
          <p:cNvPr id="14" name="Connector 13"/>
          <p:cNvCxnSpPr/>
          <p:nvPr/>
        </p:nvCxnSpPr>
        <p:spPr>
          <a:xfrm>
            <a:off x="5852160" y="3246120"/>
            <a:ext cx="320040" cy="0"/>
          </a:xfrm>
          <a:prstGeom prst="line">
            <a:avLst/>
          </a:prstGeom>
          <a:ln w="25400">
            <a:solidFill>
              <a:srgbClr val="B7A5FF"/>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309360" y="2743200"/>
            <a:ext cx="2286000" cy="731520"/>
          </a:xfrm>
          <a:prstGeom prst="rect">
            <a:avLst/>
          </a:prstGeom>
          <a:noFill/>
        </p:spPr>
        <p:txBody>
          <a:bodyPr wrap="square" lIns="0" rIns="0" tIns="0" bIns="0">
            <a:spAutoFit/>
          </a:bodyPr>
          <a:lstStyle/>
          <a:p>
            <a:pPr>
              <a:lnSpc>
                <a:spcPct val="112000"/>
              </a:lnSpc>
              <a:spcAft>
                <a:spcPts val="700"/>
              </a:spcAft>
              <a:defRPr sz="4200" b="1">
                <a:solidFill>
                  <a:srgbClr val="67E8F9"/>
                </a:solidFill>
                <a:latin typeface="Arial"/>
              </a:defRPr>
            </a:pPr>
            <a:r>
              <a:t>03</a:t>
            </a:r>
          </a:p>
        </p:txBody>
      </p:sp>
      <p:sp>
        <p:nvSpPr>
          <p:cNvPr id="16" name="TextBox 15"/>
          <p:cNvSpPr txBox="1"/>
          <p:nvPr/>
        </p:nvSpPr>
        <p:spPr>
          <a:xfrm>
            <a:off x="6309360" y="3657600"/>
            <a:ext cx="2286000" cy="548640"/>
          </a:xfrm>
          <a:prstGeom prst="rect">
            <a:avLst/>
          </a:prstGeom>
          <a:noFill/>
        </p:spPr>
        <p:txBody>
          <a:bodyPr wrap="square" lIns="0" rIns="0" tIns="0" bIns="0">
            <a:spAutoFit/>
          </a:bodyPr>
          <a:lstStyle/>
          <a:p>
            <a:pPr>
              <a:lnSpc>
                <a:spcPct val="112000"/>
              </a:lnSpc>
              <a:spcAft>
                <a:spcPts val="700"/>
              </a:spcAft>
              <a:defRPr sz="2700" b="1">
                <a:solidFill>
                  <a:srgbClr val="E8EDF5"/>
                </a:solidFill>
                <a:latin typeface="Arial"/>
              </a:defRPr>
            </a:pPr>
            <a:r>
              <a:t>Transact</a:t>
            </a:r>
          </a:p>
        </p:txBody>
      </p:sp>
      <p:sp>
        <p:nvSpPr>
          <p:cNvPr id="17" name="TextBox 16"/>
          <p:cNvSpPr txBox="1"/>
          <p:nvPr/>
        </p:nvSpPr>
        <p:spPr>
          <a:xfrm>
            <a:off x="6309360" y="4434840"/>
            <a:ext cx="2286000" cy="1005840"/>
          </a:xfrm>
          <a:prstGeom prst="rect">
            <a:avLst/>
          </a:prstGeom>
          <a:noFill/>
        </p:spPr>
        <p:txBody>
          <a:bodyPr wrap="square" lIns="0" rIns="0" tIns="0" bIns="0">
            <a:spAutoFit/>
          </a:bodyPr>
          <a:lstStyle/>
          <a:p>
            <a:pPr>
              <a:lnSpc>
                <a:spcPct val="112000"/>
              </a:lnSpc>
              <a:spcAft>
                <a:spcPts val="700"/>
              </a:spcAft>
              <a:defRPr sz="1900" b="0">
                <a:solidFill>
                  <a:srgbClr val="A6B4C9"/>
                </a:solidFill>
                <a:latin typeface="Arial"/>
              </a:defRPr>
            </a:pPr>
            <a:r>
              <a:t>Validate and persist</a:t>
            </a:r>
          </a:p>
        </p:txBody>
      </p:sp>
      <p:cxnSp>
        <p:nvCxnSpPr>
          <p:cNvPr id="18" name="Connector 17"/>
          <p:cNvCxnSpPr/>
          <p:nvPr/>
        </p:nvCxnSpPr>
        <p:spPr>
          <a:xfrm>
            <a:off x="8686800" y="3246120"/>
            <a:ext cx="320040" cy="0"/>
          </a:xfrm>
          <a:prstGeom prst="line">
            <a:avLst/>
          </a:prstGeom>
          <a:ln w="25400">
            <a:solidFill>
              <a:srgbClr val="B7A5FF"/>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9144000" y="2743200"/>
            <a:ext cx="2286000" cy="731520"/>
          </a:xfrm>
          <a:prstGeom prst="rect">
            <a:avLst/>
          </a:prstGeom>
          <a:noFill/>
        </p:spPr>
        <p:txBody>
          <a:bodyPr wrap="square" lIns="0" rIns="0" tIns="0" bIns="0">
            <a:spAutoFit/>
          </a:bodyPr>
          <a:lstStyle/>
          <a:p>
            <a:pPr>
              <a:lnSpc>
                <a:spcPct val="112000"/>
              </a:lnSpc>
              <a:spcAft>
                <a:spcPts val="700"/>
              </a:spcAft>
              <a:defRPr sz="4200" b="1">
                <a:solidFill>
                  <a:srgbClr val="67E8F9"/>
                </a:solidFill>
                <a:latin typeface="Arial"/>
              </a:defRPr>
            </a:pPr>
            <a:r>
              <a:t>04</a:t>
            </a:r>
          </a:p>
        </p:txBody>
      </p:sp>
      <p:sp>
        <p:nvSpPr>
          <p:cNvPr id="20" name="TextBox 19"/>
          <p:cNvSpPr txBox="1"/>
          <p:nvPr/>
        </p:nvSpPr>
        <p:spPr>
          <a:xfrm>
            <a:off x="9144000" y="3657600"/>
            <a:ext cx="2286000" cy="548640"/>
          </a:xfrm>
          <a:prstGeom prst="rect">
            <a:avLst/>
          </a:prstGeom>
          <a:noFill/>
        </p:spPr>
        <p:txBody>
          <a:bodyPr wrap="square" lIns="0" rIns="0" tIns="0" bIns="0">
            <a:spAutoFit/>
          </a:bodyPr>
          <a:lstStyle/>
          <a:p>
            <a:pPr>
              <a:lnSpc>
                <a:spcPct val="112000"/>
              </a:lnSpc>
              <a:spcAft>
                <a:spcPts val="700"/>
              </a:spcAft>
              <a:defRPr sz="2700" b="1">
                <a:solidFill>
                  <a:srgbClr val="E8EDF5"/>
                </a:solidFill>
                <a:latin typeface="Arial"/>
              </a:defRPr>
            </a:pPr>
            <a:r>
              <a:t>Explain</a:t>
            </a:r>
          </a:p>
        </p:txBody>
      </p:sp>
      <p:sp>
        <p:nvSpPr>
          <p:cNvPr id="21" name="TextBox 20"/>
          <p:cNvSpPr txBox="1"/>
          <p:nvPr/>
        </p:nvSpPr>
        <p:spPr>
          <a:xfrm>
            <a:off x="9144000" y="4434840"/>
            <a:ext cx="2286000" cy="1005840"/>
          </a:xfrm>
          <a:prstGeom prst="rect">
            <a:avLst/>
          </a:prstGeom>
          <a:noFill/>
        </p:spPr>
        <p:txBody>
          <a:bodyPr wrap="square" lIns="0" rIns="0" tIns="0" bIns="0">
            <a:spAutoFit/>
          </a:bodyPr>
          <a:lstStyle/>
          <a:p>
            <a:pPr>
              <a:lnSpc>
                <a:spcPct val="112000"/>
              </a:lnSpc>
              <a:spcAft>
                <a:spcPts val="700"/>
              </a:spcAft>
              <a:defRPr sz="1900" b="0">
                <a:solidFill>
                  <a:srgbClr val="A6B4C9"/>
                </a:solidFill>
                <a:latin typeface="Arial"/>
              </a:defRPr>
            </a:pPr>
            <a:r>
              <a:t>Safe typed response</a:t>
            </a:r>
          </a:p>
        </p:txBody>
      </p:sp>
      <p:sp>
        <p:nvSpPr>
          <p:cNvPr id="22" name="TextBox 21"/>
          <p:cNvSpPr txBox="1"/>
          <p:nvPr/>
        </p:nvSpPr>
        <p:spPr>
          <a:xfrm>
            <a:off x="640080" y="5669280"/>
            <a:ext cx="10698480" cy="457200"/>
          </a:xfrm>
          <a:prstGeom prst="rect">
            <a:avLst/>
          </a:prstGeom>
          <a:noFill/>
        </p:spPr>
        <p:txBody>
          <a:bodyPr wrap="square" lIns="0" rIns="0" tIns="0" bIns="0">
            <a:spAutoFit/>
          </a:bodyPr>
          <a:lstStyle/>
          <a:p>
            <a:pPr>
              <a:lnSpc>
                <a:spcPct val="112000"/>
              </a:lnSpc>
              <a:spcAft>
                <a:spcPts val="700"/>
              </a:spcAft>
              <a:defRPr sz="1800" b="0">
                <a:solidFill>
                  <a:srgbClr val="B7A5FF"/>
                </a:solidFill>
                <a:latin typeface="Arial"/>
              </a:defRPr>
            </a:pPr>
            <a:r>
              <a:t>Human review remains the decision boundary</a:t>
            </a:r>
          </a:p>
        </p:txBody>
      </p:sp>
    </p:spTree>
  </p:cSld>
  <p:clrMapOvr>
    <a:masterClrMapping/>
  </p:clrMapOvr>
  <p:transition spd="fast">
    <p:fade/>
  </p:transition>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Database and PostGIS architecture</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14 / 33</a:t>
            </a:r>
          </a:p>
        </p:txBody>
      </p:sp>
      <p:sp>
        <p:nvSpPr>
          <p:cNvPr id="6" name="TextBox 5"/>
          <p:cNvSpPr txBox="1"/>
          <p:nvPr/>
        </p:nvSpPr>
        <p:spPr>
          <a:xfrm>
            <a:off x="59436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371600" y="182880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WGS84 boundaries and longitude-first points</a:t>
            </a:r>
          </a:p>
        </p:txBody>
      </p:sp>
      <p:sp>
        <p:nvSpPr>
          <p:cNvPr id="8" name="TextBox 7"/>
          <p:cNvSpPr txBox="1"/>
          <p:nvPr/>
        </p:nvSpPr>
        <p:spPr>
          <a:xfrm>
            <a:off x="594360" y="315468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371600" y="315468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Separate flow observations, stock snapshots and provenance</a:t>
            </a:r>
          </a:p>
        </p:txBody>
      </p:sp>
      <p:sp>
        <p:nvSpPr>
          <p:cNvPr id="10" name="TextBox 9"/>
          <p:cNvSpPr txBox="1"/>
          <p:nvPr/>
        </p:nvSpPr>
        <p:spPr>
          <a:xfrm>
            <a:off x="594360" y="448056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371600" y="448056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Composite references protect sensitive tenant relationships</a:t>
            </a:r>
          </a:p>
        </p:txBody>
      </p:sp>
      <p:cxnSp>
        <p:nvCxnSpPr>
          <p:cNvPr id="12" name="Connector 11"/>
          <p:cNvCxnSpPr/>
          <p:nvPr/>
        </p:nvCxnSpPr>
        <p:spPr>
          <a:xfrm>
            <a:off x="6309359" y="2093976"/>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851392" y="2093976"/>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143500" y="2450591"/>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5143500" y="2610611"/>
            <a:ext cx="0"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143500" y="2610611"/>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851392" y="3127248"/>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5143500" y="2642615"/>
            <a:ext cx="0" cy="128017"/>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143500" y="2642615"/>
            <a:ext cx="5084064"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0227564" y="2642615"/>
            <a:ext cx="0" cy="128017"/>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143500" y="2450591"/>
            <a:ext cx="0" cy="128017"/>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3849624" y="2578608"/>
            <a:ext cx="1293876"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849624" y="2578608"/>
            <a:ext cx="0" cy="2130551"/>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849624" y="4709159"/>
            <a:ext cx="1293876"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143500" y="4709159"/>
            <a:ext cx="0" cy="128016"/>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5143500" y="2450591"/>
            <a:ext cx="0" cy="128017"/>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a:off x="3849624" y="2578608"/>
            <a:ext cx="1293876"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849624" y="2578608"/>
            <a:ext cx="0" cy="2130551"/>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849624" y="4709159"/>
            <a:ext cx="3835907"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7685531" y="4709159"/>
            <a:ext cx="0" cy="128016"/>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143500" y="2450591"/>
            <a:ext cx="0" cy="128017"/>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a:off x="3849624" y="2578608"/>
            <a:ext cx="1293876"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849624" y="2578608"/>
            <a:ext cx="0" cy="109728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849624" y="3675888"/>
            <a:ext cx="1293876"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143500" y="3675888"/>
            <a:ext cx="0" cy="128016"/>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143500" y="2450591"/>
            <a:ext cx="0" cy="128017"/>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3849624" y="2578608"/>
            <a:ext cx="1293876"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3849624" y="2578608"/>
            <a:ext cx="0" cy="109728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3849624" y="3675888"/>
            <a:ext cx="6377940"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227564" y="3675888"/>
            <a:ext cx="0" cy="128016"/>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sp>
        <p:nvSpPr>
          <p:cNvPr id="41" name="Rectangle 40"/>
          <p:cNvSpPr/>
          <p:nvPr/>
        </p:nvSpPr>
        <p:spPr>
          <a:xfrm>
            <a:off x="3977639"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Diagram label: tenant / user_account"/>
          <p:cNvSpPr txBox="1"/>
          <p:nvPr/>
        </p:nvSpPr>
        <p:spPr>
          <a:xfrm>
            <a:off x="4087368"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tenant  /  user_account</a:t>
            </a:r>
          </a:p>
        </p:txBody>
      </p:sp>
      <p:sp>
        <p:nvSpPr>
          <p:cNvPr id="43" name="Rectangle 42"/>
          <p:cNvSpPr/>
          <p:nvPr/>
        </p:nvSpPr>
        <p:spPr>
          <a:xfrm>
            <a:off x="6519671"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Diagram label: tenant_city / city"/>
          <p:cNvSpPr txBox="1"/>
          <p:nvPr/>
        </p:nvSpPr>
        <p:spPr>
          <a:xfrm>
            <a:off x="6629399"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tenant_city  /  city</a:t>
            </a:r>
          </a:p>
        </p:txBody>
      </p:sp>
      <p:sp>
        <p:nvSpPr>
          <p:cNvPr id="45" name="Rectangle 44"/>
          <p:cNvSpPr/>
          <p:nvPr/>
        </p:nvSpPr>
        <p:spPr>
          <a:xfrm>
            <a:off x="9061704"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Diagram label: zone / geographic_area"/>
          <p:cNvSpPr txBox="1"/>
          <p:nvPr/>
        </p:nvSpPr>
        <p:spPr>
          <a:xfrm>
            <a:off x="9171432"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zone  /</a:t>
            </a:r>
          </a:p>
          <a:p>
            <a:pPr>
              <a:lnSpc>
                <a:spcPct val="112000"/>
              </a:lnSpc>
              <a:spcAft>
                <a:spcPts val="700"/>
              </a:spcAft>
              <a:defRPr sz="1500" b="1">
                <a:solidFill>
                  <a:srgbClr val="E8EDF5"/>
                </a:solidFill>
                <a:latin typeface="Arial"/>
              </a:defRPr>
            </a:pPr>
            <a:r>
              <a:t>geographic_area</a:t>
            </a:r>
          </a:p>
        </p:txBody>
      </p:sp>
      <p:sp>
        <p:nvSpPr>
          <p:cNvPr id="47" name="Rectangle 46"/>
          <p:cNvSpPr/>
          <p:nvPr/>
        </p:nvSpPr>
        <p:spPr>
          <a:xfrm>
            <a:off x="3977639"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Diagram label: business"/>
          <p:cNvSpPr txBox="1"/>
          <p:nvPr/>
        </p:nvSpPr>
        <p:spPr>
          <a:xfrm>
            <a:off x="4087368"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business</a:t>
            </a:r>
          </a:p>
        </p:txBody>
      </p:sp>
      <p:sp>
        <p:nvSpPr>
          <p:cNvPr id="49" name="Rectangle 48"/>
          <p:cNvSpPr/>
          <p:nvPr/>
        </p:nvSpPr>
        <p:spPr>
          <a:xfrm>
            <a:off x="6519671"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Diagram label: source_metadata"/>
          <p:cNvSpPr txBox="1"/>
          <p:nvPr/>
        </p:nvSpPr>
        <p:spPr>
          <a:xfrm>
            <a:off x="6629399"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source_metadata</a:t>
            </a:r>
          </a:p>
        </p:txBody>
      </p:sp>
      <p:sp>
        <p:nvSpPr>
          <p:cNvPr id="51" name="Rectangle 50"/>
          <p:cNvSpPr/>
          <p:nvPr/>
        </p:nvSpPr>
        <p:spPr>
          <a:xfrm>
            <a:off x="9061704"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Diagram label: observation / inventory"/>
          <p:cNvSpPr txBox="1"/>
          <p:nvPr/>
        </p:nvSpPr>
        <p:spPr>
          <a:xfrm>
            <a:off x="9171432"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observation  /</a:t>
            </a:r>
          </a:p>
          <a:p>
            <a:pPr>
              <a:lnSpc>
                <a:spcPct val="112000"/>
              </a:lnSpc>
              <a:spcAft>
                <a:spcPts val="700"/>
              </a:spcAft>
              <a:defRPr sz="1500" b="1">
                <a:solidFill>
                  <a:srgbClr val="E8EDF5"/>
                </a:solidFill>
                <a:latin typeface="Arial"/>
              </a:defRPr>
            </a:pPr>
            <a:r>
              <a:t>inventory</a:t>
            </a:r>
          </a:p>
        </p:txBody>
      </p:sp>
      <p:sp>
        <p:nvSpPr>
          <p:cNvPr id="53" name="Rectangle 52"/>
          <p:cNvSpPr/>
          <p:nvPr/>
        </p:nvSpPr>
        <p:spPr>
          <a:xfrm>
            <a:off x="3977639"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Diagram label: operation_receipt"/>
          <p:cNvSpPr txBox="1"/>
          <p:nvPr/>
        </p:nvSpPr>
        <p:spPr>
          <a:xfrm>
            <a:off x="4087368"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operation_receipt</a:t>
            </a:r>
          </a:p>
        </p:txBody>
      </p:sp>
      <p:sp>
        <p:nvSpPr>
          <p:cNvPr id="55" name="Rectangle 54"/>
          <p:cNvSpPr/>
          <p:nvPr/>
        </p:nvSpPr>
        <p:spPr>
          <a:xfrm>
            <a:off x="6519671"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Diagram label: forecast_result"/>
          <p:cNvSpPr txBox="1"/>
          <p:nvPr/>
        </p:nvSpPr>
        <p:spPr>
          <a:xfrm>
            <a:off x="6629399"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forecast_result</a:t>
            </a:r>
          </a:p>
        </p:txBody>
      </p:sp>
      <p:sp>
        <p:nvSpPr>
          <p:cNvPr id="57" name="Rectangle 56"/>
          <p:cNvSpPr/>
          <p:nvPr/>
        </p:nvSpPr>
        <p:spPr>
          <a:xfrm>
            <a:off x="9061704"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Diagram label: audit_event"/>
          <p:cNvSpPr txBox="1"/>
          <p:nvPr/>
        </p:nvSpPr>
        <p:spPr>
          <a:xfrm>
            <a:off x="9171432"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audit_event</a:t>
            </a:r>
          </a:p>
        </p:txBody>
      </p:sp>
      <p:sp>
        <p:nvSpPr>
          <p:cNvPr id="59" name="Rectangle 58"/>
          <p:cNvSpPr/>
          <p:nvPr/>
        </p:nvSpPr>
        <p:spPr>
          <a:xfrm>
            <a:off x="3977639" y="4837175"/>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Diagram label: pulseai_session/message"/>
          <p:cNvSpPr txBox="1"/>
          <p:nvPr/>
        </p:nvSpPr>
        <p:spPr>
          <a:xfrm>
            <a:off x="4087368" y="4928615"/>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pulseai_session /</a:t>
            </a:r>
          </a:p>
          <a:p>
            <a:pPr>
              <a:lnSpc>
                <a:spcPct val="112000"/>
              </a:lnSpc>
              <a:spcAft>
                <a:spcPts val="700"/>
              </a:spcAft>
              <a:defRPr sz="1500" b="1">
                <a:solidFill>
                  <a:srgbClr val="E8EDF5"/>
                </a:solidFill>
                <a:latin typeface="Arial"/>
              </a:defRPr>
            </a:pPr>
            <a:r>
              <a:t>message</a:t>
            </a:r>
          </a:p>
        </p:txBody>
      </p:sp>
      <p:sp>
        <p:nvSpPr>
          <p:cNvPr id="61" name="Rectangle 60"/>
          <p:cNvSpPr/>
          <p:nvPr/>
        </p:nvSpPr>
        <p:spPr>
          <a:xfrm>
            <a:off x="6519671" y="4837175"/>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Diagram label: decision_snapshot/scenario"/>
          <p:cNvSpPr txBox="1"/>
          <p:nvPr/>
        </p:nvSpPr>
        <p:spPr>
          <a:xfrm>
            <a:off x="6629399" y="4928615"/>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decision_snapshot /</a:t>
            </a:r>
          </a:p>
          <a:p>
            <a:pPr>
              <a:lnSpc>
                <a:spcPct val="112000"/>
              </a:lnSpc>
              <a:spcAft>
                <a:spcPts val="700"/>
              </a:spcAft>
              <a:defRPr sz="1500" b="1">
                <a:solidFill>
                  <a:srgbClr val="E8EDF5"/>
                </a:solidFill>
                <a:latin typeface="Arial"/>
              </a:defRPr>
            </a:pPr>
            <a:r>
              <a:t>scenario</a:t>
            </a:r>
          </a:p>
        </p:txBody>
      </p:sp>
      <p:sp>
        <p:nvSpPr>
          <p:cNvPr id="63" name="Rectangle 62"/>
          <p:cNvSpPr/>
          <p:nvPr/>
        </p:nvSpPr>
        <p:spPr>
          <a:xfrm>
            <a:off x="9061704" y="4837175"/>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Diagram label: verification_request"/>
          <p:cNvSpPr txBox="1"/>
          <p:nvPr/>
        </p:nvSpPr>
        <p:spPr>
          <a:xfrm>
            <a:off x="9171432" y="4928615"/>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verification_request</a:t>
            </a:r>
          </a:p>
        </p:txBody>
      </p:sp>
    </p:spTree>
  </p:cSld>
  <p:clrMapOvr>
    <a:masterClrMapping/>
  </p:clrMapOvr>
  <p:transition spd="fast">
    <p:fade/>
  </p:transition>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Data ingestion and processing</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15 / 33</a:t>
            </a:r>
          </a:p>
        </p:txBody>
      </p:sp>
      <p:sp>
        <p:nvSpPr>
          <p:cNvPr id="6" name="TextBox 5"/>
          <p:cNvSpPr txBox="1"/>
          <p:nvPr/>
        </p:nvSpPr>
        <p:spPr>
          <a:xfrm>
            <a:off x="59436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371600" y="182880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CSV, JSON and Point GeoJSON</a:t>
            </a:r>
          </a:p>
        </p:txBody>
      </p:sp>
      <p:sp>
        <p:nvSpPr>
          <p:cNvPr id="8" name="TextBox 7"/>
          <p:cNvSpPr txBox="1"/>
          <p:nvPr/>
        </p:nvSpPr>
        <p:spPr>
          <a:xfrm>
            <a:off x="594360" y="315468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371600" y="315468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Validate, normalize, deduplicate and score quality</a:t>
            </a:r>
          </a:p>
        </p:txBody>
      </p:sp>
      <p:sp>
        <p:nvSpPr>
          <p:cNvPr id="10" name="TextBox 9"/>
          <p:cNvSpPr txBox="1"/>
          <p:nvPr/>
        </p:nvSpPr>
        <p:spPr>
          <a:xfrm>
            <a:off x="594360" y="448056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371600" y="448056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Checkpoint locally; publish with scoped replay receipts</a:t>
            </a:r>
          </a:p>
        </p:txBody>
      </p:sp>
      <p:cxnSp>
        <p:nvCxnSpPr>
          <p:cNvPr id="12" name="Connector 11"/>
          <p:cNvCxnSpPr/>
          <p:nvPr/>
        </p:nvCxnSpPr>
        <p:spPr>
          <a:xfrm>
            <a:off x="6309359" y="2093976"/>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851392" y="2093976"/>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227564" y="2450591"/>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5143500" y="2610611"/>
            <a:ext cx="5084064"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143500" y="2610611"/>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309359" y="3127248"/>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851392" y="3127248"/>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0227564" y="3483863"/>
            <a:ext cx="0" cy="160021"/>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5143500" y="3643884"/>
            <a:ext cx="5084064"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143500" y="3643884"/>
            <a:ext cx="0" cy="16002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685531" y="2450591"/>
            <a:ext cx="0" cy="128017"/>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3849624" y="2578608"/>
            <a:ext cx="3835907"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849624" y="2578608"/>
            <a:ext cx="0" cy="109728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849624" y="3675888"/>
            <a:ext cx="3835907"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7685531" y="3675888"/>
            <a:ext cx="0" cy="128016"/>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5143500" y="3675888"/>
            <a:ext cx="0" cy="128016"/>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143500" y="3675888"/>
            <a:ext cx="5084064"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10227564" y="3675888"/>
            <a:ext cx="0" cy="128016"/>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3977639"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Diagram label: CSV / JSON / GeoJSON"/>
          <p:cNvSpPr txBox="1"/>
          <p:nvPr/>
        </p:nvSpPr>
        <p:spPr>
          <a:xfrm>
            <a:off x="4087368"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CSV  /  JSON  /</a:t>
            </a:r>
          </a:p>
          <a:p>
            <a:pPr>
              <a:lnSpc>
                <a:spcPct val="112000"/>
              </a:lnSpc>
              <a:spcAft>
                <a:spcPts val="700"/>
              </a:spcAft>
              <a:defRPr sz="1500" b="1">
                <a:solidFill>
                  <a:srgbClr val="E8EDF5"/>
                </a:solidFill>
                <a:latin typeface="Arial"/>
              </a:defRPr>
            </a:pPr>
            <a:r>
              <a:t>GeoJSON</a:t>
            </a:r>
          </a:p>
        </p:txBody>
      </p:sp>
      <p:sp>
        <p:nvSpPr>
          <p:cNvPr id="32" name="Rectangle 31"/>
          <p:cNvSpPr/>
          <p:nvPr/>
        </p:nvSpPr>
        <p:spPr>
          <a:xfrm>
            <a:off x="6519671"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Diagram label: Parse and validate"/>
          <p:cNvSpPr txBox="1"/>
          <p:nvPr/>
        </p:nvSpPr>
        <p:spPr>
          <a:xfrm>
            <a:off x="6629399"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Parse and validate</a:t>
            </a:r>
          </a:p>
        </p:txBody>
      </p:sp>
      <p:sp>
        <p:nvSpPr>
          <p:cNvPr id="34" name="Rectangle 33"/>
          <p:cNvSpPr/>
          <p:nvPr/>
        </p:nvSpPr>
        <p:spPr>
          <a:xfrm>
            <a:off x="9061704"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Diagram label: Clean and normalize"/>
          <p:cNvSpPr txBox="1"/>
          <p:nvPr/>
        </p:nvSpPr>
        <p:spPr>
          <a:xfrm>
            <a:off x="9171432"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Clean and normalize</a:t>
            </a:r>
          </a:p>
        </p:txBody>
      </p:sp>
      <p:sp>
        <p:nvSpPr>
          <p:cNvPr id="36" name="Rectangle 35"/>
          <p:cNvSpPr/>
          <p:nvPr/>
        </p:nvSpPr>
        <p:spPr>
          <a:xfrm>
            <a:off x="3977639"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Diagram label: Deduplicate / quality"/>
          <p:cNvSpPr txBox="1"/>
          <p:nvPr/>
        </p:nvSpPr>
        <p:spPr>
          <a:xfrm>
            <a:off x="4087368"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Deduplicate  /  quality</a:t>
            </a:r>
          </a:p>
        </p:txBody>
      </p:sp>
      <p:sp>
        <p:nvSpPr>
          <p:cNvPr id="38" name="Rectangle 37"/>
          <p:cNvSpPr/>
          <p:nvPr/>
        </p:nvSpPr>
        <p:spPr>
          <a:xfrm>
            <a:off x="6519671"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Diagram label: Durable local output"/>
          <p:cNvSpPr txBox="1"/>
          <p:nvPr/>
        </p:nvSpPr>
        <p:spPr>
          <a:xfrm>
            <a:off x="6629399"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Durable local output</a:t>
            </a:r>
          </a:p>
        </p:txBody>
      </p:sp>
      <p:sp>
        <p:nvSpPr>
          <p:cNvPr id="40" name="Rectangle 39"/>
          <p:cNvSpPr/>
          <p:nvPr/>
        </p:nvSpPr>
        <p:spPr>
          <a:xfrm>
            <a:off x="9061704"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Diagram label: API publication"/>
          <p:cNvSpPr txBox="1"/>
          <p:nvPr/>
        </p:nvSpPr>
        <p:spPr>
          <a:xfrm>
            <a:off x="9171432"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API publication</a:t>
            </a:r>
          </a:p>
        </p:txBody>
      </p:sp>
      <p:sp>
        <p:nvSpPr>
          <p:cNvPr id="42" name="Rectangle 41"/>
          <p:cNvSpPr/>
          <p:nvPr/>
        </p:nvSpPr>
        <p:spPr>
          <a:xfrm>
            <a:off x="3977639"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Diagram label: PostGIS"/>
          <p:cNvSpPr txBox="1"/>
          <p:nvPr/>
        </p:nvSpPr>
        <p:spPr>
          <a:xfrm>
            <a:off x="4087368"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PostGIS</a:t>
            </a:r>
          </a:p>
        </p:txBody>
      </p:sp>
      <p:sp>
        <p:nvSpPr>
          <p:cNvPr id="44" name="Rectangle 43"/>
          <p:cNvSpPr/>
          <p:nvPr/>
        </p:nvSpPr>
        <p:spPr>
          <a:xfrm>
            <a:off x="6519671"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Diagram label: Reject / dead letter"/>
          <p:cNvSpPr txBox="1"/>
          <p:nvPr/>
        </p:nvSpPr>
        <p:spPr>
          <a:xfrm>
            <a:off x="6629399"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Reject  /  dead letter</a:t>
            </a:r>
          </a:p>
        </p:txBody>
      </p:sp>
      <p:sp>
        <p:nvSpPr>
          <p:cNvPr id="46" name="Rectangle 45"/>
          <p:cNvSpPr/>
          <p:nvPr/>
        </p:nvSpPr>
        <p:spPr>
          <a:xfrm>
            <a:off x="9061704"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Diagram label: Analytical queries"/>
          <p:cNvSpPr txBox="1"/>
          <p:nvPr/>
        </p:nvSpPr>
        <p:spPr>
          <a:xfrm>
            <a:off x="9171432"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Analytical queries</a:t>
            </a:r>
          </a:p>
        </p:txBody>
      </p:sp>
    </p:spTree>
  </p:cSld>
  <p:clrMapOvr>
    <a:masterClrMapping/>
  </p:clrMapOvr>
  <p:transition spd="fast">
    <p:fade/>
  </p:transition>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AI/ML forecasting workflow</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16 / 33</a:t>
            </a:r>
          </a:p>
        </p:txBody>
      </p:sp>
      <p:sp>
        <p:nvSpPr>
          <p:cNvPr id="6" name="TextBox 5"/>
          <p:cNvSpPr txBox="1"/>
          <p:nvPr/>
        </p:nvSpPr>
        <p:spPr>
          <a:xfrm>
            <a:off x="59436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371600" y="182880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Past-only lag and weekday features</a:t>
            </a:r>
          </a:p>
        </p:txBody>
      </p:sp>
      <p:sp>
        <p:nvSpPr>
          <p:cNvPr id="8" name="TextBox 7"/>
          <p:cNvSpPr txBox="1"/>
          <p:nvPr/>
        </p:nvSpPr>
        <p:spPr>
          <a:xfrm>
            <a:off x="594360" y="315468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371600" y="315468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Chronological train / validation / test</a:t>
            </a:r>
          </a:p>
        </p:txBody>
      </p:sp>
      <p:sp>
        <p:nvSpPr>
          <p:cNvPr id="10" name="TextBox 9"/>
          <p:cNvSpPr txBox="1"/>
          <p:nvPr/>
        </p:nvSpPr>
        <p:spPr>
          <a:xfrm>
            <a:off x="594360" y="448056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371600" y="448056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Versioned JSON artifacts, fallback and rollback</a:t>
            </a:r>
          </a:p>
        </p:txBody>
      </p:sp>
      <p:cxnSp>
        <p:nvCxnSpPr>
          <p:cNvPr id="12" name="Connector 11"/>
          <p:cNvCxnSpPr/>
          <p:nvPr/>
        </p:nvCxnSpPr>
        <p:spPr>
          <a:xfrm>
            <a:off x="6309359" y="2093976"/>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851392" y="2093976"/>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227564" y="2450591"/>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5143500" y="2610611"/>
            <a:ext cx="5084064"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143500" y="2610611"/>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309359" y="3127248"/>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851392" y="3127248"/>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7685531" y="3483863"/>
            <a:ext cx="0" cy="160021"/>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5143500" y="3643884"/>
            <a:ext cx="2542031"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143500" y="3643884"/>
            <a:ext cx="0" cy="16002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309359" y="4160520"/>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851392" y="4160520"/>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3977639"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iagram label: Synthetic daily rows"/>
          <p:cNvSpPr txBox="1"/>
          <p:nvPr/>
        </p:nvSpPr>
        <p:spPr>
          <a:xfrm>
            <a:off x="4087368"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Synthetic daily rows</a:t>
            </a:r>
          </a:p>
        </p:txBody>
      </p:sp>
      <p:sp>
        <p:nvSpPr>
          <p:cNvPr id="26" name="Rectangle 25"/>
          <p:cNvSpPr/>
          <p:nvPr/>
        </p:nvSpPr>
        <p:spPr>
          <a:xfrm>
            <a:off x="6519671"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Diagram label: Chronological split"/>
          <p:cNvSpPr txBox="1"/>
          <p:nvPr/>
        </p:nvSpPr>
        <p:spPr>
          <a:xfrm>
            <a:off x="6629399"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Chronological split</a:t>
            </a:r>
          </a:p>
        </p:txBody>
      </p:sp>
      <p:sp>
        <p:nvSpPr>
          <p:cNvPr id="28" name="Rectangle 27"/>
          <p:cNvSpPr/>
          <p:nvPr/>
        </p:nvSpPr>
        <p:spPr>
          <a:xfrm>
            <a:off x="9061704"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Diagram label: Past-only features"/>
          <p:cNvSpPr txBox="1"/>
          <p:nvPr/>
        </p:nvSpPr>
        <p:spPr>
          <a:xfrm>
            <a:off x="9171432"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Past-only features</a:t>
            </a:r>
          </a:p>
        </p:txBody>
      </p:sp>
      <p:sp>
        <p:nvSpPr>
          <p:cNvPr id="30" name="Rectangle 29"/>
          <p:cNvSpPr/>
          <p:nvPr/>
        </p:nvSpPr>
        <p:spPr>
          <a:xfrm>
            <a:off x="3977639"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Diagram label: Four candidates"/>
          <p:cNvSpPr txBox="1"/>
          <p:nvPr/>
        </p:nvSpPr>
        <p:spPr>
          <a:xfrm>
            <a:off x="4087368"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Four candidates</a:t>
            </a:r>
          </a:p>
        </p:txBody>
      </p:sp>
      <p:sp>
        <p:nvSpPr>
          <p:cNvPr id="32" name="Rectangle 31"/>
          <p:cNvSpPr/>
          <p:nvPr/>
        </p:nvSpPr>
        <p:spPr>
          <a:xfrm>
            <a:off x="6519671"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Diagram label: Validation selection"/>
          <p:cNvSpPr txBox="1"/>
          <p:nvPr/>
        </p:nvSpPr>
        <p:spPr>
          <a:xfrm>
            <a:off x="6629399"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Validation selection</a:t>
            </a:r>
          </a:p>
        </p:txBody>
      </p:sp>
      <p:sp>
        <p:nvSpPr>
          <p:cNvPr id="34" name="Rectangle 33"/>
          <p:cNvSpPr/>
          <p:nvPr/>
        </p:nvSpPr>
        <p:spPr>
          <a:xfrm>
            <a:off x="9061704"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Diagram label: Held-out one-step test"/>
          <p:cNvSpPr txBox="1"/>
          <p:nvPr/>
        </p:nvSpPr>
        <p:spPr>
          <a:xfrm>
            <a:off x="9171432"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Held-out one-step test</a:t>
            </a:r>
          </a:p>
        </p:txBody>
      </p:sp>
      <p:sp>
        <p:nvSpPr>
          <p:cNvPr id="36" name="Rectangle 35"/>
          <p:cNvSpPr/>
          <p:nvPr/>
        </p:nvSpPr>
        <p:spPr>
          <a:xfrm>
            <a:off x="3977639"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Diagram label: Versioned JSON artifact"/>
          <p:cNvSpPr txBox="1"/>
          <p:nvPr/>
        </p:nvSpPr>
        <p:spPr>
          <a:xfrm>
            <a:off x="4087368"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Versioned JSON artifact</a:t>
            </a:r>
          </a:p>
        </p:txBody>
      </p:sp>
      <p:sp>
        <p:nvSpPr>
          <p:cNvPr id="38" name="Rectangle 37"/>
          <p:cNvSpPr/>
          <p:nvPr/>
        </p:nvSpPr>
        <p:spPr>
          <a:xfrm>
            <a:off x="6519671"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Diagram label: Bounded inference"/>
          <p:cNvSpPr txBox="1"/>
          <p:nvPr/>
        </p:nvSpPr>
        <p:spPr>
          <a:xfrm>
            <a:off x="6629399"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Bounded inference</a:t>
            </a:r>
          </a:p>
        </p:txBody>
      </p:sp>
      <p:sp>
        <p:nvSpPr>
          <p:cNvPr id="40" name="Rectangle 39"/>
          <p:cNvSpPr/>
          <p:nvPr/>
        </p:nvSpPr>
        <p:spPr>
          <a:xfrm>
            <a:off x="9061704"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Diagram label: Diagnostics / review"/>
          <p:cNvSpPr txBox="1"/>
          <p:nvPr/>
        </p:nvSpPr>
        <p:spPr>
          <a:xfrm>
            <a:off x="9171432"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Diagnostics  /  review</a:t>
            </a:r>
          </a:p>
        </p:txBody>
      </p:sp>
    </p:spTree>
  </p:cSld>
  <p:clrMapOvr>
    <a:masterClrMapping/>
  </p:clrMapOvr>
  <p:transition spd="fast">
    <p:fade/>
  </p:transition>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Actual model evaluation</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17 / 33</a:t>
            </a:r>
          </a:p>
        </p:txBody>
      </p:sp>
      <p:graphicFrame>
        <p:nvGraphicFramePr>
          <p:cNvPr id="6" name="Chart 5"/>
          <p:cNvGraphicFramePr>
            <a:graphicFrameLocks noGrp="1"/>
          </p:cNvGraphicFramePr>
          <p:nvPr/>
        </p:nvGraphicFramePr>
        <p:xfrm>
          <a:off x="640080" y="1874519"/>
          <a:ext cx="7863840" cy="3977639"/>
        </p:xfrm>
        <a:graphic>
          <a:graphicData uri="http://schemas.openxmlformats.org/drawingml/2006/chart">
            <c:chart xmlns:c="http://schemas.openxmlformats.org/drawingml/2006/chart" r:id="rId3"/>
          </a:graphicData>
        </a:graphic>
      </p:graphicFrame>
      <p:sp>
        <p:nvSpPr>
          <p:cNvPr id="7" name="TextBox 6"/>
          <p:cNvSpPr txBox="1"/>
          <p:nvPr/>
        </p:nvSpPr>
        <p:spPr>
          <a:xfrm>
            <a:off x="8823960" y="2103120"/>
            <a:ext cx="2651760" cy="1463040"/>
          </a:xfrm>
          <a:prstGeom prst="rect">
            <a:avLst/>
          </a:prstGeom>
          <a:noFill/>
        </p:spPr>
        <p:txBody>
          <a:bodyPr wrap="square" lIns="0" rIns="0" tIns="0" bIns="0">
            <a:spAutoFit/>
          </a:bodyPr>
          <a:lstStyle/>
          <a:p>
            <a:pPr>
              <a:lnSpc>
                <a:spcPct val="112000"/>
              </a:lnSpc>
              <a:spcAft>
                <a:spcPts val="700"/>
              </a:spcAft>
              <a:defRPr sz="2600" b="1">
                <a:solidFill>
                  <a:srgbClr val="67E8F9"/>
                </a:solidFill>
                <a:latin typeface="Arial"/>
              </a:defRPr>
            </a:pPr>
            <a:r>
              <a:t>Synthetic</a:t>
            </a:r>
          </a:p>
          <a:p>
            <a:pPr>
              <a:lnSpc>
                <a:spcPct val="112000"/>
              </a:lnSpc>
              <a:spcAft>
                <a:spcPts val="700"/>
              </a:spcAft>
              <a:defRPr sz="2600" b="1">
                <a:solidFill>
                  <a:srgbClr val="67E8F9"/>
                </a:solidFill>
                <a:latin typeface="Arial"/>
              </a:defRPr>
            </a:pPr>
            <a:r>
              <a:t>held-out</a:t>
            </a:r>
          </a:p>
          <a:p>
            <a:pPr>
              <a:lnSpc>
                <a:spcPct val="112000"/>
              </a:lnSpc>
              <a:spcAft>
                <a:spcPts val="700"/>
              </a:spcAft>
              <a:defRPr sz="2600" b="1">
                <a:solidFill>
                  <a:srgbClr val="67E8F9"/>
                </a:solidFill>
                <a:latin typeface="Arial"/>
              </a:defRPr>
            </a:pPr>
            <a:r>
              <a:t>one-step MAE</a:t>
            </a:r>
          </a:p>
        </p:txBody>
      </p:sp>
      <p:sp>
        <p:nvSpPr>
          <p:cNvPr id="8" name="TextBox 7"/>
          <p:cNvSpPr txBox="1"/>
          <p:nvPr/>
        </p:nvSpPr>
        <p:spPr>
          <a:xfrm>
            <a:off x="8823960" y="3931920"/>
            <a:ext cx="2468880" cy="1143000"/>
          </a:xfrm>
          <a:prstGeom prst="rect">
            <a:avLst/>
          </a:prstGeom>
          <a:noFill/>
        </p:spPr>
        <p:txBody>
          <a:bodyPr wrap="square" lIns="0" rIns="0" tIns="0" bIns="0">
            <a:spAutoFit/>
          </a:bodyPr>
          <a:lstStyle/>
          <a:p>
            <a:pPr>
              <a:lnSpc>
                <a:spcPct val="112000"/>
              </a:lnSpc>
              <a:spcAft>
                <a:spcPts val="700"/>
              </a:spcAft>
              <a:defRPr sz="1800" b="0">
                <a:solidFill>
                  <a:srgbClr val="A6B4C9"/>
                </a:solidFill>
                <a:latin typeface="Arial"/>
              </a:defRPr>
            </a:pPr>
            <a:r>
              <a:t>Compare within segment.</a:t>
            </a:r>
          </a:p>
          <a:p>
            <a:pPr>
              <a:lnSpc>
                <a:spcPct val="112000"/>
              </a:lnSpc>
              <a:spcAft>
                <a:spcPts val="700"/>
              </a:spcAft>
              <a:defRPr sz="1800" b="0">
                <a:solidFill>
                  <a:srgbClr val="A6B4C9"/>
                </a:solidFill>
                <a:latin typeface="Arial"/>
              </a:defRPr>
            </a:pPr>
            <a:r>
              <a:t>No real-city accuracy claim.</a:t>
            </a:r>
          </a:p>
        </p:txBody>
      </p:sp>
      <p:sp>
        <p:nvSpPr>
          <p:cNvPr id="9" name="TextBox 8"/>
          <p:cNvSpPr txBox="1"/>
          <p:nvPr/>
        </p:nvSpPr>
        <p:spPr>
          <a:xfrm>
            <a:off x="685800" y="5989320"/>
            <a:ext cx="10789920" cy="274320"/>
          </a:xfrm>
          <a:prstGeom prst="rect">
            <a:avLst/>
          </a:prstGeom>
          <a:noFill/>
        </p:spPr>
        <p:txBody>
          <a:bodyPr wrap="square" lIns="0" rIns="0" tIns="0" bIns="0">
            <a:spAutoFit/>
          </a:bodyPr>
          <a:lstStyle/>
          <a:p>
            <a:pPr>
              <a:lnSpc>
                <a:spcPct val="112000"/>
              </a:lnSpc>
              <a:spcAft>
                <a:spcPts val="700"/>
              </a:spcAft>
              <a:defRPr sz="1300" b="0">
                <a:solidFill>
                  <a:srgbClr val="A6B4C9"/>
                </a:solidFill>
                <a:latin typeface="Arial"/>
              </a:defRPr>
            </a:pPr>
            <a:r>
              <a:t>AMS/BLR = Amsterdam/Bengaluru; C/N = central/north; G/M = groceries/mobility</a:t>
            </a:r>
          </a:p>
        </p:txBody>
      </p:sp>
    </p:spTree>
  </p:cSld>
  <p:clrMapOvr>
    <a:masterClrMapping/>
  </p:clrMapOvr>
  <p:transition spd="fast">
    <p:fade/>
  </p:transition>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City maps and demand forecasts</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18 / 33</a:t>
            </a:r>
          </a:p>
        </p:txBody>
      </p:sp>
      <p:pic>
        <p:nvPicPr>
          <p:cNvPr id="6" name="Picture 5" descr="explorer.png"/>
          <p:cNvPicPr>
            <a:picLocks noChangeAspect="1"/>
          </p:cNvPicPr>
          <p:nvPr/>
        </p:nvPicPr>
        <p:blipFill>
          <a:blip r:embed="rId3"/>
          <a:stretch>
            <a:fillRect/>
          </a:stretch>
        </p:blipFill>
        <p:spPr>
          <a:xfrm>
            <a:off x="640080" y="1998979"/>
            <a:ext cx="5303520" cy="3683000"/>
          </a:xfrm>
          <a:prstGeom prst="rect">
            <a:avLst/>
          </a:prstGeom>
        </p:spPr>
      </p:pic>
      <p:graphicFrame>
        <p:nvGraphicFramePr>
          <p:cNvPr id="7" name="Chart 6"/>
          <p:cNvGraphicFramePr>
            <a:graphicFrameLocks noGrp="1"/>
          </p:cNvGraphicFramePr>
          <p:nvPr/>
        </p:nvGraphicFramePr>
        <p:xfrm>
          <a:off x="6217920" y="1828800"/>
          <a:ext cx="5349240" cy="3794760"/>
        </p:xfrm>
        <a:graphic>
          <a:graphicData uri="http://schemas.openxmlformats.org/drawingml/2006/chart">
            <c:chart xmlns:c="http://schemas.openxmlformats.org/drawingml/2006/chart" r:id="rId4"/>
          </a:graphicData>
        </a:graphic>
      </p:graphicFrame>
      <p:sp>
        <p:nvSpPr>
          <p:cNvPr id="8" name="TextBox 7"/>
          <p:cNvSpPr txBox="1"/>
          <p:nvPr/>
        </p:nvSpPr>
        <p:spPr>
          <a:xfrm>
            <a:off x="685800" y="5943600"/>
            <a:ext cx="10881360" cy="365760"/>
          </a:xfrm>
          <a:prstGeom prst="rect">
            <a:avLst/>
          </a:prstGeom>
          <a:noFill/>
        </p:spPr>
        <p:txBody>
          <a:bodyPr wrap="square" lIns="0" rIns="0" tIns="0" bIns="0">
            <a:spAutoFit/>
          </a:bodyPr>
          <a:lstStyle/>
          <a:p>
            <a:pPr>
              <a:lnSpc>
                <a:spcPct val="112000"/>
              </a:lnSpc>
              <a:spcAft>
                <a:spcPts val="700"/>
              </a:spcAft>
              <a:defRPr sz="1600" b="0">
                <a:solidFill>
                  <a:srgbClr val="A6B4C9"/>
                </a:solidFill>
                <a:latin typeface="Arial"/>
              </a:defRPr>
            </a:pPr>
            <a:r>
              <a:t>Synthetic daily demand units, Jul–Aug 2025; residual intervals are diagnostic</a:t>
            </a:r>
          </a:p>
        </p:txBody>
      </p:sp>
    </p:spTree>
  </p:cSld>
  <p:clrMapOvr>
    <a:masterClrMapping/>
  </p:clrMapOvr>
  <p:transition spd="fast">
    <p:fade/>
  </p:transition>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Business opportunity engine</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19 / 33</a:t>
            </a:r>
          </a:p>
        </p:txBody>
      </p:sp>
      <p:sp>
        <p:nvSpPr>
          <p:cNvPr id="6" name="TextBox 5"/>
          <p:cNvSpPr txBox="1"/>
          <p:nvPr/>
        </p:nvSpPr>
        <p:spPr>
          <a:xfrm>
            <a:off x="59436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371600" y="1828800"/>
            <a:ext cx="2331720" cy="1097280"/>
          </a:xfrm>
          <a:prstGeom prst="rect">
            <a:avLst/>
          </a:prstGeom>
          <a:noFill/>
        </p:spPr>
        <p:txBody>
          <a:bodyPr wrap="square" lIns="0" rIns="0" tIns="0" bIns="0">
            <a:spAutoFit/>
          </a:bodyPr>
          <a:lstStyle/>
          <a:p>
            <a:pPr>
              <a:lnSpc>
                <a:spcPct val="112000"/>
              </a:lnSpc>
              <a:spcAft>
                <a:spcPts val="700"/>
              </a:spcAft>
              <a:defRPr sz="1900" b="0">
                <a:solidFill>
                  <a:srgbClr val="E8EDF5"/>
                </a:solidFill>
                <a:latin typeface="Arial"/>
              </a:defRPr>
            </a:pPr>
            <a:r>
              <a:t>Configurable scores expose assumptions</a:t>
            </a:r>
          </a:p>
        </p:txBody>
      </p:sp>
      <p:sp>
        <p:nvSpPr>
          <p:cNvPr id="8" name="TextBox 7"/>
          <p:cNvSpPr txBox="1"/>
          <p:nvPr/>
        </p:nvSpPr>
        <p:spPr>
          <a:xfrm>
            <a:off x="594360" y="306324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371600" y="3063240"/>
            <a:ext cx="2331720" cy="1097280"/>
          </a:xfrm>
          <a:prstGeom prst="rect">
            <a:avLst/>
          </a:prstGeom>
          <a:noFill/>
        </p:spPr>
        <p:txBody>
          <a:bodyPr wrap="square" lIns="0" rIns="0" tIns="0" bIns="0">
            <a:spAutoFit/>
          </a:bodyPr>
          <a:lstStyle/>
          <a:p>
            <a:pPr>
              <a:lnSpc>
                <a:spcPct val="112000"/>
              </a:lnSpc>
              <a:spcAft>
                <a:spcPts val="700"/>
              </a:spcAft>
              <a:defRPr sz="1900" b="0">
                <a:solidFill>
                  <a:srgbClr val="E8EDF5"/>
                </a:solidFill>
                <a:latin typeface="Arial"/>
              </a:defRPr>
            </a:pPr>
            <a:r>
              <a:t>Budget, stock, capacity, lanes and coverage are explicit</a:t>
            </a:r>
          </a:p>
        </p:txBody>
      </p:sp>
      <p:sp>
        <p:nvSpPr>
          <p:cNvPr id="10" name="TextBox 9"/>
          <p:cNvSpPr txBox="1"/>
          <p:nvPr/>
        </p:nvSpPr>
        <p:spPr>
          <a:xfrm>
            <a:off x="594360" y="429768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371600" y="4297680"/>
            <a:ext cx="2331720" cy="1097280"/>
          </a:xfrm>
          <a:prstGeom prst="rect">
            <a:avLst/>
          </a:prstGeom>
          <a:noFill/>
        </p:spPr>
        <p:txBody>
          <a:bodyPr wrap="square" lIns="0" rIns="0" tIns="0" bIns="0">
            <a:spAutoFit/>
          </a:bodyPr>
          <a:lstStyle/>
          <a:p>
            <a:pPr>
              <a:lnSpc>
                <a:spcPct val="112000"/>
              </a:lnSpc>
              <a:spcAft>
                <a:spcPts val="700"/>
              </a:spcAft>
              <a:defRPr sz="1900" b="0">
                <a:solidFill>
                  <a:srgbClr val="E8EDF5"/>
                </a:solidFill>
                <a:latin typeface="Arial"/>
              </a:defRPr>
            </a:pPr>
            <a:r>
              <a:t>Infeasibility is a result; no plan dispatch occurs</a:t>
            </a:r>
          </a:p>
        </p:txBody>
      </p:sp>
      <p:pic>
        <p:nvPicPr>
          <p:cNvPr id="12" name="Picture 11" descr="readme-decision.png"/>
          <p:cNvPicPr>
            <a:picLocks noChangeAspect="1"/>
          </p:cNvPicPr>
          <p:nvPr/>
        </p:nvPicPr>
        <p:blipFill>
          <a:blip r:embed="rId3"/>
          <a:stretch>
            <a:fillRect/>
          </a:stretch>
        </p:blipFill>
        <p:spPr>
          <a:xfrm>
            <a:off x="4569256" y="1645920"/>
            <a:ext cx="6452006" cy="4480560"/>
          </a:xfrm>
          <a:prstGeom prst="rect">
            <a:avLst/>
          </a:prstGeom>
        </p:spPr>
      </p:pic>
    </p:spTree>
  </p:cSld>
  <p:clrMapOvr>
    <a:masterClrMapping/>
  </p:clrMapOvr>
  <p:transition spd="fast">
    <p:fade/>
  </p:transition>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PulseAI conversational analyst</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20 / 33</a:t>
            </a:r>
          </a:p>
        </p:txBody>
      </p:sp>
      <p:sp>
        <p:nvSpPr>
          <p:cNvPr id="6" name="TextBox 5"/>
          <p:cNvSpPr txBox="1"/>
          <p:nvPr/>
        </p:nvSpPr>
        <p:spPr>
          <a:xfrm>
            <a:off x="59436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371600" y="182880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Read-only tools retrieve permitted records</a:t>
            </a:r>
          </a:p>
        </p:txBody>
      </p:sp>
      <p:sp>
        <p:nvSpPr>
          <p:cNvPr id="8" name="TextBox 7"/>
          <p:cNvSpPr txBox="1"/>
          <p:nvPr/>
        </p:nvSpPr>
        <p:spPr>
          <a:xfrm>
            <a:off x="594360" y="315468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371600" y="315468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An optional model selects allowed statement IDs</a:t>
            </a:r>
          </a:p>
        </p:txBody>
      </p:sp>
      <p:sp>
        <p:nvSpPr>
          <p:cNvPr id="10" name="TextBox 9"/>
          <p:cNvSpPr txBox="1"/>
          <p:nvPr/>
        </p:nvSpPr>
        <p:spPr>
          <a:xfrm>
            <a:off x="594360" y="448056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371600" y="448056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Java constructs factual prose and citations</a:t>
            </a:r>
          </a:p>
        </p:txBody>
      </p:sp>
      <p:cxnSp>
        <p:nvCxnSpPr>
          <p:cNvPr id="12" name="Connector 11"/>
          <p:cNvCxnSpPr/>
          <p:nvPr/>
        </p:nvCxnSpPr>
        <p:spPr>
          <a:xfrm>
            <a:off x="6309359" y="2093976"/>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851392" y="2093976"/>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227564" y="2450591"/>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5143500" y="2610611"/>
            <a:ext cx="5084064"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143500" y="2610611"/>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309359" y="3127248"/>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851392" y="3127248"/>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0227564" y="3483863"/>
            <a:ext cx="0" cy="160021"/>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5143500" y="3643884"/>
            <a:ext cx="5084064"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143500" y="3643884"/>
            <a:ext cx="0" cy="16002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6309359" y="4160520"/>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5143500" y="3675888"/>
            <a:ext cx="0" cy="128016"/>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5143500" y="3675888"/>
            <a:ext cx="5084064"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0227564" y="3675888"/>
            <a:ext cx="0" cy="128016"/>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3977639"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Diagram label: Bounded question + filters"/>
          <p:cNvSpPr txBox="1"/>
          <p:nvPr/>
        </p:nvSpPr>
        <p:spPr>
          <a:xfrm>
            <a:off x="4087368"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Bounded question +</a:t>
            </a:r>
          </a:p>
          <a:p>
            <a:pPr>
              <a:lnSpc>
                <a:spcPct val="112000"/>
              </a:lnSpc>
              <a:spcAft>
                <a:spcPts val="700"/>
              </a:spcAft>
              <a:defRPr sz="1500" b="1">
                <a:solidFill>
                  <a:srgbClr val="E8EDF5"/>
                </a:solidFill>
                <a:latin typeface="Arial"/>
              </a:defRPr>
            </a:pPr>
            <a:r>
              <a:t>filters</a:t>
            </a:r>
          </a:p>
        </p:txBody>
      </p:sp>
      <p:sp>
        <p:nvSpPr>
          <p:cNvPr id="28" name="Rectangle 27"/>
          <p:cNvSpPr/>
          <p:nvPr/>
        </p:nvSpPr>
        <p:spPr>
          <a:xfrm>
            <a:off x="6519671"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Diagram label: Spring policy"/>
          <p:cNvSpPr txBox="1"/>
          <p:nvPr/>
        </p:nvSpPr>
        <p:spPr>
          <a:xfrm>
            <a:off x="6629399"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Spring policy</a:t>
            </a:r>
          </a:p>
        </p:txBody>
      </p:sp>
      <p:sp>
        <p:nvSpPr>
          <p:cNvPr id="30" name="Rectangle 29"/>
          <p:cNvSpPr/>
          <p:nvPr/>
        </p:nvSpPr>
        <p:spPr>
          <a:xfrm>
            <a:off x="9061704"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Diagram label: Fixed read-only tools"/>
          <p:cNvSpPr txBox="1"/>
          <p:nvPr/>
        </p:nvSpPr>
        <p:spPr>
          <a:xfrm>
            <a:off x="9171432"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Fixed read-only tools</a:t>
            </a:r>
          </a:p>
        </p:txBody>
      </p:sp>
      <p:sp>
        <p:nvSpPr>
          <p:cNvPr id="32" name="Rectangle 31"/>
          <p:cNvSpPr/>
          <p:nvPr/>
        </p:nvSpPr>
        <p:spPr>
          <a:xfrm>
            <a:off x="3977639"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Diagram label: Verified statements"/>
          <p:cNvSpPr txBox="1"/>
          <p:nvPr/>
        </p:nvSpPr>
        <p:spPr>
          <a:xfrm>
            <a:off x="4087368"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Verified statements</a:t>
            </a:r>
          </a:p>
        </p:txBody>
      </p:sp>
      <p:sp>
        <p:nvSpPr>
          <p:cNvPr id="34" name="Rectangle 33"/>
          <p:cNvSpPr/>
          <p:nvPr/>
        </p:nvSpPr>
        <p:spPr>
          <a:xfrm>
            <a:off x="6519671"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Diagram label: Optional provider"/>
          <p:cNvSpPr txBox="1"/>
          <p:nvPr/>
        </p:nvSpPr>
        <p:spPr>
          <a:xfrm>
            <a:off x="6629399"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Optional provider</a:t>
            </a:r>
          </a:p>
        </p:txBody>
      </p:sp>
      <p:sp>
        <p:nvSpPr>
          <p:cNvPr id="36" name="Rectangle 35"/>
          <p:cNvSpPr/>
          <p:nvPr/>
        </p:nvSpPr>
        <p:spPr>
          <a:xfrm>
            <a:off x="9061704"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Diagram label: Validate ID selection"/>
          <p:cNvSpPr txBox="1"/>
          <p:nvPr/>
        </p:nvSpPr>
        <p:spPr>
          <a:xfrm>
            <a:off x="9171432"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Validate ID selection</a:t>
            </a:r>
          </a:p>
        </p:txBody>
      </p:sp>
      <p:sp>
        <p:nvSpPr>
          <p:cNvPr id="38" name="Rectangle 37"/>
          <p:cNvSpPr/>
          <p:nvPr/>
        </p:nvSpPr>
        <p:spPr>
          <a:xfrm>
            <a:off x="3977639"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Diagram label: Construct answer"/>
          <p:cNvSpPr txBox="1"/>
          <p:nvPr/>
        </p:nvSpPr>
        <p:spPr>
          <a:xfrm>
            <a:off x="4087368"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Construct answer</a:t>
            </a:r>
          </a:p>
        </p:txBody>
      </p:sp>
      <p:sp>
        <p:nvSpPr>
          <p:cNvPr id="40" name="Rectangle 39"/>
          <p:cNvSpPr/>
          <p:nvPr/>
        </p:nvSpPr>
        <p:spPr>
          <a:xfrm>
            <a:off x="6519671"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Diagram label: Evidence fallback"/>
          <p:cNvSpPr txBox="1"/>
          <p:nvPr/>
        </p:nvSpPr>
        <p:spPr>
          <a:xfrm>
            <a:off x="6629399"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Evidence fallback</a:t>
            </a:r>
          </a:p>
        </p:txBody>
      </p:sp>
      <p:sp>
        <p:nvSpPr>
          <p:cNvPr id="42" name="Rectangle 41"/>
          <p:cNvSpPr/>
          <p:nvPr/>
        </p:nvSpPr>
        <p:spPr>
          <a:xfrm>
            <a:off x="9061704"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Diagram label: Owned conversation"/>
          <p:cNvSpPr txBox="1"/>
          <p:nvPr/>
        </p:nvSpPr>
        <p:spPr>
          <a:xfrm>
            <a:off x="9171432"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Owned conversation</a:t>
            </a:r>
          </a:p>
        </p:txBody>
      </p:sp>
    </p:spTree>
  </p:cSld>
  <p:clrMapOvr>
    <a:masterClrMapping/>
  </p:clrMapOvr>
  <p:transition spd="fast">
    <p:fade/>
  </p:transition>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Why attest selected content?</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21 / 33</a:t>
            </a:r>
          </a:p>
        </p:txBody>
      </p:sp>
      <p:sp>
        <p:nvSpPr>
          <p:cNvPr id="6" name="TextBox 5"/>
          <p:cNvSpPr txBox="1"/>
          <p:nvPr/>
        </p:nvSpPr>
        <p:spPr>
          <a:xfrm>
            <a:off x="64008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417319" y="1828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Exports and audit evidence need integrity checks</a:t>
            </a:r>
          </a:p>
        </p:txBody>
      </p:sp>
      <p:sp>
        <p:nvSpPr>
          <p:cNvPr id="8" name="TextBox 7"/>
          <p:cNvSpPr txBox="1"/>
          <p:nvPr/>
        </p:nvSpPr>
        <p:spPr>
          <a:xfrm>
            <a:off x="640080" y="2971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417319" y="2971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A digest can be compared independently</a:t>
            </a:r>
          </a:p>
        </p:txBody>
      </p:sp>
      <p:sp>
        <p:nvSpPr>
          <p:cNvPr id="10" name="TextBox 9"/>
          <p:cNvSpPr txBox="1"/>
          <p:nvPr/>
        </p:nvSpPr>
        <p:spPr>
          <a:xfrm>
            <a:off x="640080" y="4114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417319" y="4114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Integrity does not establish observation truth</a:t>
            </a:r>
          </a:p>
        </p:txBody>
      </p:sp>
    </p:spTree>
  </p:cSld>
  <p:clrMapOvr>
    <a:masterClrMapping/>
  </p:clrMapOvr>
  <p:transition spd="fast">
    <p:fade/>
  </p:transition>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Smart contracts and verification</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22 / 33</a:t>
            </a:r>
          </a:p>
        </p:txBody>
      </p:sp>
      <p:sp>
        <p:nvSpPr>
          <p:cNvPr id="6" name="TextBox 5"/>
          <p:cNvSpPr txBox="1"/>
          <p:nvPr/>
        </p:nvSpPr>
        <p:spPr>
          <a:xfrm>
            <a:off x="59436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371600" y="182880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Authorize source and attester role</a:t>
            </a:r>
          </a:p>
        </p:txBody>
      </p:sp>
      <p:sp>
        <p:nvSpPr>
          <p:cNvPr id="8" name="TextBox 7"/>
          <p:cNvSpPr txBox="1"/>
          <p:nvPr/>
        </p:nvSpPr>
        <p:spPr>
          <a:xfrm>
            <a:off x="594360" y="315468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371600" y="315468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Record a unique event digest and receipt</a:t>
            </a:r>
          </a:p>
        </p:txBody>
      </p:sp>
      <p:sp>
        <p:nvSpPr>
          <p:cNvPr id="10" name="TextBox 9"/>
          <p:cNvSpPr txBox="1"/>
          <p:nvPr/>
        </p:nvSpPr>
        <p:spPr>
          <a:xfrm>
            <a:off x="594360" y="448056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371600" y="448056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Compare the original and tampered bytes</a:t>
            </a:r>
          </a:p>
        </p:txBody>
      </p:sp>
      <p:cxnSp>
        <p:nvCxnSpPr>
          <p:cNvPr id="12" name="Connector 11"/>
          <p:cNvCxnSpPr/>
          <p:nvPr/>
        </p:nvCxnSpPr>
        <p:spPr>
          <a:xfrm>
            <a:off x="6309359" y="2093976"/>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227564" y="2450591"/>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5143500" y="2610611"/>
            <a:ext cx="5084064"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5143500" y="2610611"/>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685531" y="2450591"/>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a:off x="5143500" y="2610611"/>
            <a:ext cx="2542031"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5143500" y="2610611"/>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309359" y="3127248"/>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8851392" y="3127248"/>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7685531" y="3483863"/>
            <a:ext cx="0" cy="160021"/>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5143500" y="3643884"/>
            <a:ext cx="2542031"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143500" y="3643884"/>
            <a:ext cx="0" cy="16002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7685531" y="3643884"/>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685531" y="3643884"/>
            <a:ext cx="2542033"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10227564" y="3483863"/>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3977639"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iagram label: Exported bytes"/>
          <p:cNvSpPr txBox="1"/>
          <p:nvPr/>
        </p:nvSpPr>
        <p:spPr>
          <a:xfrm>
            <a:off x="4087368"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Exported bytes</a:t>
            </a:r>
          </a:p>
        </p:txBody>
      </p:sp>
      <p:sp>
        <p:nvSpPr>
          <p:cNvPr id="29" name="Rectangle 28"/>
          <p:cNvSpPr/>
          <p:nvPr/>
        </p:nvSpPr>
        <p:spPr>
          <a:xfrm>
            <a:off x="6519671"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Diagram label: Off-chain digest"/>
          <p:cNvSpPr txBox="1"/>
          <p:nvPr/>
        </p:nvSpPr>
        <p:spPr>
          <a:xfrm>
            <a:off x="6629399"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Off-chain digest</a:t>
            </a:r>
          </a:p>
        </p:txBody>
      </p:sp>
      <p:sp>
        <p:nvSpPr>
          <p:cNvPr id="31" name="Rectangle 30"/>
          <p:cNvSpPr/>
          <p:nvPr/>
        </p:nvSpPr>
        <p:spPr>
          <a:xfrm>
            <a:off x="9061704"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Diagram label: AuthorizedSourceRegistry"/>
          <p:cNvSpPr txBox="1"/>
          <p:nvPr/>
        </p:nvSpPr>
        <p:spPr>
          <a:xfrm>
            <a:off x="9171432"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AuthorizedSource</a:t>
            </a:r>
          </a:p>
          <a:p>
            <a:pPr>
              <a:lnSpc>
                <a:spcPct val="112000"/>
              </a:lnSpc>
              <a:spcAft>
                <a:spcPts val="700"/>
              </a:spcAft>
              <a:defRPr sz="1500" b="1">
                <a:solidFill>
                  <a:srgbClr val="E8EDF5"/>
                </a:solidFill>
                <a:latin typeface="Arial"/>
              </a:defRPr>
            </a:pPr>
            <a:r>
              <a:t>Registry</a:t>
            </a:r>
          </a:p>
        </p:txBody>
      </p:sp>
      <p:sp>
        <p:nvSpPr>
          <p:cNvPr id="33" name="Rectangle 32"/>
          <p:cNvSpPr/>
          <p:nvPr/>
        </p:nvSpPr>
        <p:spPr>
          <a:xfrm>
            <a:off x="3977639"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Diagram label: DatasetAttestationRegistry"/>
          <p:cNvSpPr txBox="1"/>
          <p:nvPr/>
        </p:nvSpPr>
        <p:spPr>
          <a:xfrm>
            <a:off x="4087368"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DatasetAttestation</a:t>
            </a:r>
          </a:p>
          <a:p>
            <a:pPr>
              <a:lnSpc>
                <a:spcPct val="112000"/>
              </a:lnSpc>
              <a:spcAft>
                <a:spcPts val="700"/>
              </a:spcAft>
              <a:defRPr sz="1500" b="1">
                <a:solidFill>
                  <a:srgbClr val="E8EDF5"/>
                </a:solidFill>
                <a:latin typeface="Arial"/>
              </a:defRPr>
            </a:pPr>
            <a:r>
              <a:t>Registry</a:t>
            </a:r>
          </a:p>
        </p:txBody>
      </p:sp>
      <p:sp>
        <p:nvSpPr>
          <p:cNvPr id="35" name="Rectangle 34"/>
          <p:cNvSpPr/>
          <p:nvPr/>
        </p:nvSpPr>
        <p:spPr>
          <a:xfrm>
            <a:off x="6519671"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Diagram label: Receipt / event"/>
          <p:cNvSpPr txBox="1"/>
          <p:nvPr/>
        </p:nvSpPr>
        <p:spPr>
          <a:xfrm>
            <a:off x="6629399"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Receipt  /  event</a:t>
            </a:r>
          </a:p>
        </p:txBody>
      </p:sp>
      <p:sp>
        <p:nvSpPr>
          <p:cNvPr id="37" name="Rectangle 36"/>
          <p:cNvSpPr/>
          <p:nvPr/>
        </p:nvSpPr>
        <p:spPr>
          <a:xfrm>
            <a:off x="9061704"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Diagram label: VerificationRecord"/>
          <p:cNvSpPr txBox="1"/>
          <p:nvPr/>
        </p:nvSpPr>
        <p:spPr>
          <a:xfrm>
            <a:off x="9171432"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VerificationRecord</a:t>
            </a:r>
          </a:p>
        </p:txBody>
      </p:sp>
      <p:sp>
        <p:nvSpPr>
          <p:cNvPr id="39" name="Rectangle 38"/>
          <p:cNvSpPr/>
          <p:nvPr/>
        </p:nvSpPr>
        <p:spPr>
          <a:xfrm>
            <a:off x="3977639"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Diagram label: Java confirmation"/>
          <p:cNvSpPr txBox="1"/>
          <p:nvPr/>
        </p:nvSpPr>
        <p:spPr>
          <a:xfrm>
            <a:off x="4087368"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Java confirmation</a:t>
            </a:r>
          </a:p>
        </p:txBody>
      </p:sp>
      <p:sp>
        <p:nvSpPr>
          <p:cNvPr id="41" name="Rectangle 40"/>
          <p:cNvSpPr/>
          <p:nvPr/>
        </p:nvSpPr>
        <p:spPr>
          <a:xfrm>
            <a:off x="6519671"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Diagram label: Tampered bytes"/>
          <p:cNvSpPr txBox="1"/>
          <p:nvPr/>
        </p:nvSpPr>
        <p:spPr>
          <a:xfrm>
            <a:off x="6629399"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Tampered bytes</a:t>
            </a:r>
          </a:p>
        </p:txBody>
      </p:sp>
    </p:spTree>
  </p:cSld>
  <p:clrMapOvr>
    <a:masterClrMapping/>
  </p:clrMapOvr>
  <p:transition spd="fast">
    <p:fade/>
  </p:transition>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Security, authentication and privacy</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23 / 33</a:t>
            </a:r>
          </a:p>
        </p:txBody>
      </p:sp>
      <p:sp>
        <p:nvSpPr>
          <p:cNvPr id="6" name="TextBox 5"/>
          <p:cNvSpPr txBox="1"/>
          <p:nvPr/>
        </p:nvSpPr>
        <p:spPr>
          <a:xfrm>
            <a:off x="64008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417319" y="1828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OIDC/PKCE, encrypted sessions and current membership</a:t>
            </a:r>
          </a:p>
        </p:txBody>
      </p:sp>
      <p:sp>
        <p:nvSpPr>
          <p:cNvPr id="8" name="TextBox 7"/>
          <p:cNvSpPr txBox="1"/>
          <p:nvPr/>
        </p:nvSpPr>
        <p:spPr>
          <a:xfrm>
            <a:off x="640080" y="2971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417319" y="2971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Tenant/owner predicates, bounded inputs and safe exports</a:t>
            </a:r>
          </a:p>
        </p:txBody>
      </p:sp>
      <p:sp>
        <p:nvSpPr>
          <p:cNvPr id="10" name="TextBox 9"/>
          <p:cNvSpPr txBox="1"/>
          <p:nvPr/>
        </p:nvSpPr>
        <p:spPr>
          <a:xfrm>
            <a:off x="640080" y="4114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417319" y="4114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Real IdP/MFA rollout and external assurance remain pending</a:t>
            </a:r>
          </a:p>
        </p:txBody>
      </p:sp>
    </p:spTree>
  </p:cSld>
  <p:clrMapOvr>
    <a:masterClrMapping/>
  </p:clrMapOvr>
  <p:transition spd="fast">
    <p:fade/>
  </p:transition>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Cloud infrastructure and deployment</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24 / 33</a:t>
            </a:r>
          </a:p>
        </p:txBody>
      </p:sp>
      <p:sp>
        <p:nvSpPr>
          <p:cNvPr id="6" name="TextBox 5"/>
          <p:cNvSpPr txBox="1"/>
          <p:nvPr/>
        </p:nvSpPr>
        <p:spPr>
          <a:xfrm>
            <a:off x="59436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371600" y="182880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Compose is executable and verified in Linux CI</a:t>
            </a:r>
          </a:p>
        </p:txBody>
      </p:sp>
      <p:sp>
        <p:nvSpPr>
          <p:cNvPr id="8" name="TextBox 7"/>
          <p:cNvSpPr txBox="1"/>
          <p:nvPr/>
        </p:nvSpPr>
        <p:spPr>
          <a:xfrm>
            <a:off x="594360" y="315468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371600" y="315468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AWS private ECS/data modules are validated code</a:t>
            </a:r>
          </a:p>
        </p:txBody>
      </p:sp>
      <p:sp>
        <p:nvSpPr>
          <p:cNvPr id="10" name="TextBox 9"/>
          <p:cNvSpPr txBox="1"/>
          <p:nvPr/>
        </p:nvSpPr>
        <p:spPr>
          <a:xfrm>
            <a:off x="594360" y="448056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371600" y="448056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No cloud apply or paid resource provisioning occurred</a:t>
            </a:r>
          </a:p>
        </p:txBody>
      </p:sp>
      <p:cxnSp>
        <p:nvCxnSpPr>
          <p:cNvPr id="12" name="Connector 11"/>
          <p:cNvCxnSpPr/>
          <p:nvPr/>
        </p:nvCxnSpPr>
        <p:spPr>
          <a:xfrm>
            <a:off x="6309359" y="2093976"/>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851392" y="2093976"/>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143500" y="2450591"/>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5143500" y="2610611"/>
            <a:ext cx="0"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143500" y="2610611"/>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851392" y="3127248"/>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0227564" y="3483863"/>
            <a:ext cx="0" cy="160021"/>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5143500" y="3643884"/>
            <a:ext cx="5084064"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143500" y="3643884"/>
            <a:ext cx="0" cy="16002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0227564" y="3483863"/>
            <a:ext cx="0" cy="160021"/>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7685531" y="3643884"/>
            <a:ext cx="2542033"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685531" y="3643884"/>
            <a:ext cx="0" cy="16002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10227564" y="3675888"/>
            <a:ext cx="0" cy="128016"/>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5143500" y="3675888"/>
            <a:ext cx="5084064"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5143500" y="3675888"/>
            <a:ext cx="0" cy="128016"/>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3977639"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iagram label: Local / CI host"/>
          <p:cNvSpPr txBox="1"/>
          <p:nvPr/>
        </p:nvSpPr>
        <p:spPr>
          <a:xfrm>
            <a:off x="4087368"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Local  /  CI host</a:t>
            </a:r>
          </a:p>
        </p:txBody>
      </p:sp>
      <p:sp>
        <p:nvSpPr>
          <p:cNvPr id="29" name="Rectangle 28"/>
          <p:cNvSpPr/>
          <p:nvPr/>
        </p:nvSpPr>
        <p:spPr>
          <a:xfrm>
            <a:off x="6519671"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Diagram label: Web / API / AI"/>
          <p:cNvSpPr txBox="1"/>
          <p:nvPr/>
        </p:nvSpPr>
        <p:spPr>
          <a:xfrm>
            <a:off x="6629399"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Web  /  API  /  AI</a:t>
            </a:r>
          </a:p>
        </p:txBody>
      </p:sp>
      <p:sp>
        <p:nvSpPr>
          <p:cNvPr id="31" name="Rectangle 30"/>
          <p:cNvSpPr/>
          <p:nvPr/>
        </p:nvSpPr>
        <p:spPr>
          <a:xfrm>
            <a:off x="9061704"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Diagram label: PostGIS / Redis"/>
          <p:cNvSpPr txBox="1"/>
          <p:nvPr/>
        </p:nvSpPr>
        <p:spPr>
          <a:xfrm>
            <a:off x="9171432"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PostGIS  /  Redis</a:t>
            </a:r>
          </a:p>
        </p:txBody>
      </p:sp>
      <p:sp>
        <p:nvSpPr>
          <p:cNvPr id="33" name="Rectangle 32"/>
          <p:cNvSpPr/>
          <p:nvPr/>
        </p:nvSpPr>
        <p:spPr>
          <a:xfrm>
            <a:off x="3977639"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Diagram label: Optional telemetry / chain"/>
          <p:cNvSpPr txBox="1"/>
          <p:nvPr/>
        </p:nvSpPr>
        <p:spPr>
          <a:xfrm>
            <a:off x="4087368"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Optional telemetry  /</a:t>
            </a:r>
          </a:p>
          <a:p>
            <a:pPr>
              <a:lnSpc>
                <a:spcPct val="112000"/>
              </a:lnSpc>
              <a:spcAft>
                <a:spcPts val="700"/>
              </a:spcAft>
              <a:defRPr sz="1500" b="1">
                <a:solidFill>
                  <a:srgbClr val="E8EDF5"/>
                </a:solidFill>
                <a:latin typeface="Arial"/>
              </a:defRPr>
            </a:pPr>
            <a:r>
              <a:t>chain</a:t>
            </a:r>
          </a:p>
        </p:txBody>
      </p:sp>
      <p:sp>
        <p:nvSpPr>
          <p:cNvPr id="35" name="Rectangle 34"/>
          <p:cNvSpPr/>
          <p:nvPr/>
        </p:nvSpPr>
        <p:spPr>
          <a:xfrm>
            <a:off x="6519671"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Diagram label: AWS HTTPS ALB"/>
          <p:cNvSpPr txBox="1"/>
          <p:nvPr/>
        </p:nvSpPr>
        <p:spPr>
          <a:xfrm>
            <a:off x="6629399"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AWS HTTPS ALB</a:t>
            </a:r>
          </a:p>
        </p:txBody>
      </p:sp>
      <p:sp>
        <p:nvSpPr>
          <p:cNvPr id="37" name="Rectangle 36"/>
          <p:cNvSpPr/>
          <p:nvPr/>
        </p:nvSpPr>
        <p:spPr>
          <a:xfrm>
            <a:off x="9061704"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Diagram label: Private ECS/Fargate"/>
          <p:cNvSpPr txBox="1"/>
          <p:nvPr/>
        </p:nvSpPr>
        <p:spPr>
          <a:xfrm>
            <a:off x="9171432"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Private ECS / Fargate</a:t>
            </a:r>
          </a:p>
        </p:txBody>
      </p:sp>
      <p:sp>
        <p:nvSpPr>
          <p:cNvPr id="39" name="Rectangle 38"/>
          <p:cNvSpPr/>
          <p:nvPr/>
        </p:nvSpPr>
        <p:spPr>
          <a:xfrm>
            <a:off x="3977639"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Diagram label: Managed data"/>
          <p:cNvSpPr txBox="1"/>
          <p:nvPr/>
        </p:nvSpPr>
        <p:spPr>
          <a:xfrm>
            <a:off x="4087368"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Managed data</a:t>
            </a:r>
          </a:p>
        </p:txBody>
      </p:sp>
      <p:sp>
        <p:nvSpPr>
          <p:cNvPr id="41" name="Rectangle 40"/>
          <p:cNvSpPr/>
          <p:nvPr/>
        </p:nvSpPr>
        <p:spPr>
          <a:xfrm>
            <a:off x="6519671"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Diagram label: EFS and private S3"/>
          <p:cNvSpPr txBox="1"/>
          <p:nvPr/>
        </p:nvSpPr>
        <p:spPr>
          <a:xfrm>
            <a:off x="6629399"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EFS and private S3</a:t>
            </a:r>
          </a:p>
        </p:txBody>
      </p:sp>
      <p:sp>
        <p:nvSpPr>
          <p:cNvPr id="43" name="Rectangle 42"/>
          <p:cNvSpPr/>
          <p:nvPr/>
        </p:nvSpPr>
        <p:spPr>
          <a:xfrm>
            <a:off x="9061704"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Diagram label: Isolated migration task"/>
          <p:cNvSpPr txBox="1"/>
          <p:nvPr/>
        </p:nvSpPr>
        <p:spPr>
          <a:xfrm>
            <a:off x="9171432"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Isolated migration task</a:t>
            </a:r>
          </a:p>
        </p:txBody>
      </p:sp>
    </p:spTree>
  </p:cSld>
  <p:clrMapOvr>
    <a:masterClrMapping/>
  </p:clrMapOvr>
  <p:transition spd="fast">
    <p:fade/>
  </p:transition>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Scalability and reliability</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25 / 33</a:t>
            </a:r>
          </a:p>
        </p:txBody>
      </p:sp>
      <p:sp>
        <p:nvSpPr>
          <p:cNvPr id="6" name="TextBox 5"/>
          <p:cNvSpPr txBox="1"/>
          <p:nvPr/>
        </p:nvSpPr>
        <p:spPr>
          <a:xfrm>
            <a:off x="64008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417319" y="1828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Web/API scale within pool and DB budgets</a:t>
            </a:r>
          </a:p>
        </p:txBody>
      </p:sp>
      <p:sp>
        <p:nvSpPr>
          <p:cNvPr id="8" name="TextBox 7"/>
          <p:cNvSpPr txBox="1"/>
          <p:nvPr/>
        </p:nvSpPr>
        <p:spPr>
          <a:xfrm>
            <a:off x="640080" y="2971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417319" y="2971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SQLite-backed AI remains one writer</a:t>
            </a:r>
          </a:p>
        </p:txBody>
      </p:sp>
      <p:sp>
        <p:nvSpPr>
          <p:cNvPr id="10" name="TextBox 9"/>
          <p:cNvSpPr txBox="1"/>
          <p:nvPr/>
        </p:nvSpPr>
        <p:spPr>
          <a:xfrm>
            <a:off x="640080" y="4114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417319" y="4114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Recovery objectives require an actual restore rehearsal</a:t>
            </a:r>
          </a:p>
        </p:txBody>
      </p:sp>
    </p:spTree>
  </p:cSld>
  <p:clrMapOvr>
    <a:masterClrMapping/>
  </p:clrMapOvr>
  <p:transition spd="fast">
    <p:fade/>
  </p:transition>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CI/CD and monitoring</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26 / 33</a:t>
            </a:r>
          </a:p>
        </p:txBody>
      </p:sp>
      <p:sp>
        <p:nvSpPr>
          <p:cNvPr id="6" name="TextBox 5"/>
          <p:cNvSpPr txBox="1"/>
          <p:nvPr/>
        </p:nvSpPr>
        <p:spPr>
          <a:xfrm>
            <a:off x="59436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371600" y="182880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Build, test, scan and produce CycloneDX inventories</a:t>
            </a:r>
          </a:p>
        </p:txBody>
      </p:sp>
      <p:sp>
        <p:nvSpPr>
          <p:cNvPr id="8" name="TextBox 7"/>
          <p:cNvSpPr txBox="1"/>
          <p:nvPr/>
        </p:nvSpPr>
        <p:spPr>
          <a:xfrm>
            <a:off x="594360" y="315468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371600" y="315468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Private metrics and redacted OpenTelemetry traces</a:t>
            </a:r>
          </a:p>
        </p:txBody>
      </p:sp>
      <p:sp>
        <p:nvSpPr>
          <p:cNvPr id="10" name="TextBox 9"/>
          <p:cNvSpPr txBox="1"/>
          <p:nvPr/>
        </p:nvSpPr>
        <p:spPr>
          <a:xfrm>
            <a:off x="594360" y="448056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371600" y="4480560"/>
            <a:ext cx="2286000" cy="1188720"/>
          </a:xfrm>
          <a:prstGeom prst="rect">
            <a:avLst/>
          </a:prstGeom>
          <a:noFill/>
        </p:spPr>
        <p:txBody>
          <a:bodyPr wrap="square" lIns="0" rIns="0" tIns="0" bIns="0">
            <a:spAutoFit/>
          </a:bodyPr>
          <a:lstStyle/>
          <a:p>
            <a:pPr>
              <a:lnSpc>
                <a:spcPct val="112000"/>
              </a:lnSpc>
              <a:spcAft>
                <a:spcPts val="700"/>
              </a:spcAft>
              <a:defRPr sz="1800" b="0">
                <a:solidFill>
                  <a:srgbClr val="E8EDF5"/>
                </a:solidFill>
                <a:latin typeface="Arial"/>
              </a:defRPr>
            </a:pPr>
            <a:r>
              <a:t>Alert rules exist; pager delivery is not configured</a:t>
            </a:r>
          </a:p>
        </p:txBody>
      </p:sp>
      <p:cxnSp>
        <p:nvCxnSpPr>
          <p:cNvPr id="12" name="Connector 11"/>
          <p:cNvCxnSpPr/>
          <p:nvPr/>
        </p:nvCxnSpPr>
        <p:spPr>
          <a:xfrm>
            <a:off x="5143500" y="2450591"/>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5143500" y="2610611"/>
            <a:ext cx="0"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143500" y="2610611"/>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7685531" y="2450591"/>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5143500" y="2610611"/>
            <a:ext cx="2542031"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5143500" y="2610611"/>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0227564" y="2450591"/>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5143500" y="2610611"/>
            <a:ext cx="5084064"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143500" y="2610611"/>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6309359" y="3127248"/>
            <a:ext cx="210312" cy="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685531" y="2450591"/>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685531" y="2610611"/>
            <a:ext cx="2542033"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0227564" y="2610611"/>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0227564" y="2450591"/>
            <a:ext cx="0" cy="16002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0227564" y="2610611"/>
            <a:ext cx="0"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0227564" y="2610611"/>
            <a:ext cx="0" cy="160021"/>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0227564" y="3483863"/>
            <a:ext cx="0" cy="160021"/>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a:off x="5143500" y="3643884"/>
            <a:ext cx="5084064"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143500" y="3643884"/>
            <a:ext cx="0" cy="16002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0227564" y="3483863"/>
            <a:ext cx="0" cy="160021"/>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a:off x="7685531" y="3643884"/>
            <a:ext cx="2542033" cy="0"/>
          </a:xfrm>
          <a:prstGeom prst="line">
            <a:avLst/>
          </a:prstGeom>
          <a:ln w="12700">
            <a:solidFill>
              <a:srgbClr val="67E8F9"/>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685531" y="3643884"/>
            <a:ext cx="0" cy="160020"/>
          </a:xfrm>
          <a:prstGeom prst="line">
            <a:avLst/>
          </a:prstGeom>
          <a:ln w="12700">
            <a:solidFill>
              <a:srgbClr val="67E8F9"/>
            </a:solidFill>
            <a:tailEnd type="triangle"/>
          </a:ln>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3977639"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Diagram label: Next instrumentation"/>
          <p:cNvSpPr txBox="1"/>
          <p:nvPr/>
        </p:nvSpPr>
        <p:spPr>
          <a:xfrm>
            <a:off x="4087368"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Next instrumentation</a:t>
            </a:r>
          </a:p>
        </p:txBody>
      </p:sp>
      <p:sp>
        <p:nvSpPr>
          <p:cNvPr id="36" name="Rectangle 35"/>
          <p:cNvSpPr/>
          <p:nvPr/>
        </p:nvSpPr>
        <p:spPr>
          <a:xfrm>
            <a:off x="6519671"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Diagram label: Spring / Micrometer"/>
          <p:cNvSpPr txBox="1"/>
          <p:nvPr/>
        </p:nvSpPr>
        <p:spPr>
          <a:xfrm>
            <a:off x="6629399"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Spring  /  Micrometer</a:t>
            </a:r>
          </a:p>
        </p:txBody>
      </p:sp>
      <p:sp>
        <p:nvSpPr>
          <p:cNvPr id="38" name="Rectangle 37"/>
          <p:cNvSpPr/>
          <p:nvPr/>
        </p:nvSpPr>
        <p:spPr>
          <a:xfrm>
            <a:off x="9061704" y="1737360"/>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Diagram label: FastAPI middleware"/>
          <p:cNvSpPr txBox="1"/>
          <p:nvPr/>
        </p:nvSpPr>
        <p:spPr>
          <a:xfrm>
            <a:off x="9171432" y="1828800"/>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FastAPI middleware</a:t>
            </a:r>
          </a:p>
        </p:txBody>
      </p:sp>
      <p:sp>
        <p:nvSpPr>
          <p:cNvPr id="40" name="Rectangle 39"/>
          <p:cNvSpPr/>
          <p:nvPr/>
        </p:nvSpPr>
        <p:spPr>
          <a:xfrm>
            <a:off x="3977639"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Diagram label: OTLP collector"/>
          <p:cNvSpPr txBox="1"/>
          <p:nvPr/>
        </p:nvSpPr>
        <p:spPr>
          <a:xfrm>
            <a:off x="4087368"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OTLP collector</a:t>
            </a:r>
          </a:p>
        </p:txBody>
      </p:sp>
      <p:sp>
        <p:nvSpPr>
          <p:cNvPr id="42" name="Rectangle 41"/>
          <p:cNvSpPr/>
          <p:nvPr/>
        </p:nvSpPr>
        <p:spPr>
          <a:xfrm>
            <a:off x="6519671"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Diagram label: Tempo"/>
          <p:cNvSpPr txBox="1"/>
          <p:nvPr/>
        </p:nvSpPr>
        <p:spPr>
          <a:xfrm>
            <a:off x="6629399"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Tempo</a:t>
            </a:r>
          </a:p>
        </p:txBody>
      </p:sp>
      <p:sp>
        <p:nvSpPr>
          <p:cNvPr id="44" name="Rectangle 43"/>
          <p:cNvSpPr/>
          <p:nvPr/>
        </p:nvSpPr>
        <p:spPr>
          <a:xfrm>
            <a:off x="9061704" y="2770632"/>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Diagram label: Prometheus"/>
          <p:cNvSpPr txBox="1"/>
          <p:nvPr/>
        </p:nvSpPr>
        <p:spPr>
          <a:xfrm>
            <a:off x="9171432" y="2862072"/>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Prometheus</a:t>
            </a:r>
          </a:p>
        </p:txBody>
      </p:sp>
      <p:sp>
        <p:nvSpPr>
          <p:cNvPr id="46" name="Rectangle 45"/>
          <p:cNvSpPr/>
          <p:nvPr/>
        </p:nvSpPr>
        <p:spPr>
          <a:xfrm>
            <a:off x="3977639"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Diagram label: Grafana dashboard"/>
          <p:cNvSpPr txBox="1"/>
          <p:nvPr/>
        </p:nvSpPr>
        <p:spPr>
          <a:xfrm>
            <a:off x="4087368"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Grafana dashboard</a:t>
            </a:r>
          </a:p>
        </p:txBody>
      </p:sp>
      <p:sp>
        <p:nvSpPr>
          <p:cNvPr id="48" name="Rectangle 47"/>
          <p:cNvSpPr/>
          <p:nvPr/>
        </p:nvSpPr>
        <p:spPr>
          <a:xfrm>
            <a:off x="6519671"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Diagram label: Alert rules"/>
          <p:cNvSpPr txBox="1"/>
          <p:nvPr/>
        </p:nvSpPr>
        <p:spPr>
          <a:xfrm>
            <a:off x="6629399"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Alert rules</a:t>
            </a:r>
          </a:p>
        </p:txBody>
      </p:sp>
      <p:sp>
        <p:nvSpPr>
          <p:cNvPr id="50" name="Rectangle 49"/>
          <p:cNvSpPr/>
          <p:nvPr/>
        </p:nvSpPr>
        <p:spPr>
          <a:xfrm>
            <a:off x="9061704" y="3803904"/>
            <a:ext cx="2331720" cy="713232"/>
          </a:xfrm>
          <a:prstGeom prst="rect">
            <a:avLst/>
          </a:prstGeom>
          <a:solidFill>
            <a:srgbClr val="111B2B"/>
          </a:solidFill>
          <a:ln w="10160">
            <a:solidFill>
              <a:srgbClr val="3044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Diagram label: ECS CloudWatch path"/>
          <p:cNvSpPr txBox="1"/>
          <p:nvPr/>
        </p:nvSpPr>
        <p:spPr>
          <a:xfrm>
            <a:off x="9171432" y="3895344"/>
            <a:ext cx="2112263" cy="603504"/>
          </a:xfrm>
          <a:prstGeom prst="rect">
            <a:avLst/>
          </a:prstGeom>
          <a:noFill/>
        </p:spPr>
        <p:txBody>
          <a:bodyPr wrap="square" lIns="0" rIns="0" tIns="0" bIns="0">
            <a:spAutoFit/>
          </a:bodyPr>
          <a:lstStyle/>
          <a:p>
            <a:pPr>
              <a:lnSpc>
                <a:spcPct val="112000"/>
              </a:lnSpc>
              <a:spcAft>
                <a:spcPts val="700"/>
              </a:spcAft>
              <a:defRPr sz="1500" b="1">
                <a:solidFill>
                  <a:srgbClr val="E8EDF5"/>
                </a:solidFill>
                <a:latin typeface="Arial"/>
              </a:defRPr>
            </a:pPr>
            <a:r>
              <a:t>ECS CloudWatch path</a:t>
            </a:r>
          </a:p>
        </p:txBody>
      </p:sp>
    </p:spTree>
  </p:cSld>
  <p:clrMapOvr>
    <a:masterClrMapping/>
  </p:clrMapOvr>
  <p:transition spd="fast">
    <p:fade/>
  </p:transition>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Testing and quality assurance</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27 / 33</a:t>
            </a:r>
          </a:p>
        </p:txBody>
      </p:sp>
      <p:sp>
        <p:nvSpPr>
          <p:cNvPr id="6" name="TextBox 5"/>
          <p:cNvSpPr txBox="1"/>
          <p:nvPr/>
        </p:nvSpPr>
        <p:spPr>
          <a:xfrm>
            <a:off x="731520" y="1783080"/>
            <a:ext cx="3291840" cy="822960"/>
          </a:xfrm>
          <a:prstGeom prst="rect">
            <a:avLst/>
          </a:prstGeom>
          <a:noFill/>
        </p:spPr>
        <p:txBody>
          <a:bodyPr wrap="square" lIns="0" rIns="0" tIns="0" bIns="0">
            <a:spAutoFit/>
          </a:bodyPr>
          <a:lstStyle/>
          <a:p>
            <a:pPr>
              <a:lnSpc>
                <a:spcPct val="112000"/>
              </a:lnSpc>
              <a:spcAft>
                <a:spcPts val="700"/>
              </a:spcAft>
              <a:defRPr sz="5000" b="1">
                <a:solidFill>
                  <a:srgbClr val="67E8F9"/>
                </a:solidFill>
                <a:latin typeface="Arial"/>
              </a:defRPr>
            </a:pPr>
            <a:r>
              <a:t>29</a:t>
            </a:r>
          </a:p>
        </p:txBody>
      </p:sp>
      <p:sp>
        <p:nvSpPr>
          <p:cNvPr id="7" name="TextBox 6"/>
          <p:cNvSpPr txBox="1"/>
          <p:nvPr/>
        </p:nvSpPr>
        <p:spPr>
          <a:xfrm>
            <a:off x="731520" y="2697480"/>
            <a:ext cx="3200400" cy="457200"/>
          </a:xfrm>
          <a:prstGeom prst="rect">
            <a:avLst/>
          </a:prstGeom>
          <a:noFill/>
        </p:spPr>
        <p:txBody>
          <a:bodyPr wrap="square" lIns="0" rIns="0" tIns="0" bIns="0">
            <a:spAutoFit/>
          </a:bodyPr>
          <a:lstStyle/>
          <a:p>
            <a:pPr>
              <a:lnSpc>
                <a:spcPct val="112000"/>
              </a:lnSpc>
              <a:spcAft>
                <a:spcPts val="700"/>
              </a:spcAft>
              <a:defRPr sz="2300" b="0">
                <a:solidFill>
                  <a:srgbClr val="E8EDF5"/>
                </a:solidFill>
                <a:latin typeface="Arial"/>
              </a:defRPr>
            </a:pPr>
            <a:r>
              <a:t>Java</a:t>
            </a:r>
          </a:p>
        </p:txBody>
      </p:sp>
      <p:sp>
        <p:nvSpPr>
          <p:cNvPr id="8" name="TextBox 7"/>
          <p:cNvSpPr txBox="1"/>
          <p:nvPr/>
        </p:nvSpPr>
        <p:spPr>
          <a:xfrm>
            <a:off x="4572000" y="1783080"/>
            <a:ext cx="3291840" cy="822960"/>
          </a:xfrm>
          <a:prstGeom prst="rect">
            <a:avLst/>
          </a:prstGeom>
          <a:noFill/>
        </p:spPr>
        <p:txBody>
          <a:bodyPr wrap="square" lIns="0" rIns="0" tIns="0" bIns="0">
            <a:spAutoFit/>
          </a:bodyPr>
          <a:lstStyle/>
          <a:p>
            <a:pPr>
              <a:lnSpc>
                <a:spcPct val="112000"/>
              </a:lnSpc>
              <a:spcAft>
                <a:spcPts val="700"/>
              </a:spcAft>
              <a:defRPr sz="5000" b="1">
                <a:solidFill>
                  <a:srgbClr val="B7A5FF"/>
                </a:solidFill>
                <a:latin typeface="Arial"/>
              </a:defRPr>
            </a:pPr>
            <a:r>
              <a:t>48</a:t>
            </a:r>
          </a:p>
        </p:txBody>
      </p:sp>
      <p:sp>
        <p:nvSpPr>
          <p:cNvPr id="9" name="TextBox 8"/>
          <p:cNvSpPr txBox="1"/>
          <p:nvPr/>
        </p:nvSpPr>
        <p:spPr>
          <a:xfrm>
            <a:off x="4572000" y="2697480"/>
            <a:ext cx="3200400" cy="457200"/>
          </a:xfrm>
          <a:prstGeom prst="rect">
            <a:avLst/>
          </a:prstGeom>
          <a:noFill/>
        </p:spPr>
        <p:txBody>
          <a:bodyPr wrap="square" lIns="0" rIns="0" tIns="0" bIns="0">
            <a:spAutoFit/>
          </a:bodyPr>
          <a:lstStyle/>
          <a:p>
            <a:pPr>
              <a:lnSpc>
                <a:spcPct val="112000"/>
              </a:lnSpc>
              <a:spcAft>
                <a:spcPts val="700"/>
              </a:spcAft>
              <a:defRPr sz="2300" b="0">
                <a:solidFill>
                  <a:srgbClr val="E8EDF5"/>
                </a:solidFill>
                <a:latin typeface="Arial"/>
              </a:defRPr>
            </a:pPr>
            <a:r>
              <a:t>AI</a:t>
            </a:r>
          </a:p>
        </p:txBody>
      </p:sp>
      <p:sp>
        <p:nvSpPr>
          <p:cNvPr id="10" name="TextBox 9"/>
          <p:cNvSpPr txBox="1"/>
          <p:nvPr/>
        </p:nvSpPr>
        <p:spPr>
          <a:xfrm>
            <a:off x="8412480" y="1783080"/>
            <a:ext cx="3291840" cy="822960"/>
          </a:xfrm>
          <a:prstGeom prst="rect">
            <a:avLst/>
          </a:prstGeom>
          <a:noFill/>
        </p:spPr>
        <p:txBody>
          <a:bodyPr wrap="square" lIns="0" rIns="0" tIns="0" bIns="0">
            <a:spAutoFit/>
          </a:bodyPr>
          <a:lstStyle/>
          <a:p>
            <a:pPr>
              <a:lnSpc>
                <a:spcPct val="112000"/>
              </a:lnSpc>
              <a:spcAft>
                <a:spcPts val="700"/>
              </a:spcAft>
              <a:defRPr sz="5000" b="1">
                <a:solidFill>
                  <a:srgbClr val="67E8F9"/>
                </a:solidFill>
                <a:latin typeface="Arial"/>
              </a:defRPr>
            </a:pPr>
            <a:r>
              <a:t>13</a:t>
            </a:r>
          </a:p>
        </p:txBody>
      </p:sp>
      <p:sp>
        <p:nvSpPr>
          <p:cNvPr id="11" name="TextBox 10"/>
          <p:cNvSpPr txBox="1"/>
          <p:nvPr/>
        </p:nvSpPr>
        <p:spPr>
          <a:xfrm>
            <a:off x="8412480" y="2697480"/>
            <a:ext cx="3200400" cy="457200"/>
          </a:xfrm>
          <a:prstGeom prst="rect">
            <a:avLst/>
          </a:prstGeom>
          <a:noFill/>
        </p:spPr>
        <p:txBody>
          <a:bodyPr wrap="square" lIns="0" rIns="0" tIns="0" bIns="0">
            <a:spAutoFit/>
          </a:bodyPr>
          <a:lstStyle/>
          <a:p>
            <a:pPr>
              <a:lnSpc>
                <a:spcPct val="112000"/>
              </a:lnSpc>
              <a:spcAft>
                <a:spcPts val="700"/>
              </a:spcAft>
              <a:defRPr sz="2300" b="0">
                <a:solidFill>
                  <a:srgbClr val="E8EDF5"/>
                </a:solidFill>
                <a:latin typeface="Arial"/>
              </a:defRPr>
            </a:pPr>
            <a:r>
              <a:t>Web unit</a:t>
            </a:r>
          </a:p>
        </p:txBody>
      </p:sp>
      <p:sp>
        <p:nvSpPr>
          <p:cNvPr id="12" name="TextBox 11"/>
          <p:cNvSpPr txBox="1"/>
          <p:nvPr/>
        </p:nvSpPr>
        <p:spPr>
          <a:xfrm>
            <a:off x="731520" y="3657600"/>
            <a:ext cx="3291840" cy="822960"/>
          </a:xfrm>
          <a:prstGeom prst="rect">
            <a:avLst/>
          </a:prstGeom>
          <a:noFill/>
        </p:spPr>
        <p:txBody>
          <a:bodyPr wrap="square" lIns="0" rIns="0" tIns="0" bIns="0">
            <a:spAutoFit/>
          </a:bodyPr>
          <a:lstStyle/>
          <a:p>
            <a:pPr>
              <a:lnSpc>
                <a:spcPct val="112000"/>
              </a:lnSpc>
              <a:spcAft>
                <a:spcPts val="700"/>
              </a:spcAft>
              <a:defRPr sz="5000" b="1">
                <a:solidFill>
                  <a:srgbClr val="B7A5FF"/>
                </a:solidFill>
                <a:latin typeface="Arial"/>
              </a:defRPr>
            </a:pPr>
            <a:r>
              <a:t>18</a:t>
            </a:r>
          </a:p>
        </p:txBody>
      </p:sp>
      <p:sp>
        <p:nvSpPr>
          <p:cNvPr id="13" name="TextBox 12"/>
          <p:cNvSpPr txBox="1"/>
          <p:nvPr/>
        </p:nvSpPr>
        <p:spPr>
          <a:xfrm>
            <a:off x="731520" y="4572000"/>
            <a:ext cx="3200400" cy="457200"/>
          </a:xfrm>
          <a:prstGeom prst="rect">
            <a:avLst/>
          </a:prstGeom>
          <a:noFill/>
        </p:spPr>
        <p:txBody>
          <a:bodyPr wrap="square" lIns="0" rIns="0" tIns="0" bIns="0">
            <a:spAutoFit/>
          </a:bodyPr>
          <a:lstStyle/>
          <a:p>
            <a:pPr>
              <a:lnSpc>
                <a:spcPct val="112000"/>
              </a:lnSpc>
              <a:spcAft>
                <a:spcPts val="700"/>
              </a:spcAft>
              <a:defRPr sz="2300" b="0">
                <a:solidFill>
                  <a:srgbClr val="E8EDF5"/>
                </a:solidFill>
                <a:latin typeface="Arial"/>
              </a:defRPr>
            </a:pPr>
            <a:r>
              <a:t>Desktop/mobile</a:t>
            </a:r>
          </a:p>
        </p:txBody>
      </p:sp>
      <p:sp>
        <p:nvSpPr>
          <p:cNvPr id="14" name="TextBox 13"/>
          <p:cNvSpPr txBox="1"/>
          <p:nvPr/>
        </p:nvSpPr>
        <p:spPr>
          <a:xfrm>
            <a:off x="4572000" y="3657600"/>
            <a:ext cx="3291840" cy="822960"/>
          </a:xfrm>
          <a:prstGeom prst="rect">
            <a:avLst/>
          </a:prstGeom>
          <a:noFill/>
        </p:spPr>
        <p:txBody>
          <a:bodyPr wrap="square" lIns="0" rIns="0" tIns="0" bIns="0">
            <a:spAutoFit/>
          </a:bodyPr>
          <a:lstStyle/>
          <a:p>
            <a:pPr>
              <a:lnSpc>
                <a:spcPct val="112000"/>
              </a:lnSpc>
              <a:spcAft>
                <a:spcPts val="700"/>
              </a:spcAft>
              <a:defRPr sz="5000" b="1">
                <a:solidFill>
                  <a:srgbClr val="67E8F9"/>
                </a:solidFill>
                <a:latin typeface="Arial"/>
              </a:defRPr>
            </a:pPr>
            <a:r>
              <a:t>6</a:t>
            </a:r>
          </a:p>
        </p:txBody>
      </p:sp>
      <p:sp>
        <p:nvSpPr>
          <p:cNvPr id="15" name="TextBox 14"/>
          <p:cNvSpPr txBox="1"/>
          <p:nvPr/>
        </p:nvSpPr>
        <p:spPr>
          <a:xfrm>
            <a:off x="4572000" y="4572000"/>
            <a:ext cx="3200400" cy="457200"/>
          </a:xfrm>
          <a:prstGeom prst="rect">
            <a:avLst/>
          </a:prstGeom>
          <a:noFill/>
        </p:spPr>
        <p:txBody>
          <a:bodyPr wrap="square" lIns="0" rIns="0" tIns="0" bIns="0">
            <a:spAutoFit/>
          </a:bodyPr>
          <a:lstStyle/>
          <a:p>
            <a:pPr>
              <a:lnSpc>
                <a:spcPct val="112000"/>
              </a:lnSpc>
              <a:spcAft>
                <a:spcPts val="700"/>
              </a:spcAft>
              <a:defRPr sz="2300" b="0">
                <a:solidFill>
                  <a:srgbClr val="E8EDF5"/>
                </a:solidFill>
                <a:latin typeface="Arial"/>
              </a:defRPr>
            </a:pPr>
            <a:r>
              <a:t>Ingestion</a:t>
            </a:r>
          </a:p>
        </p:txBody>
      </p:sp>
      <p:sp>
        <p:nvSpPr>
          <p:cNvPr id="16" name="TextBox 15"/>
          <p:cNvSpPr txBox="1"/>
          <p:nvPr/>
        </p:nvSpPr>
        <p:spPr>
          <a:xfrm>
            <a:off x="8412480" y="3657600"/>
            <a:ext cx="3291840" cy="822960"/>
          </a:xfrm>
          <a:prstGeom prst="rect">
            <a:avLst/>
          </a:prstGeom>
          <a:noFill/>
        </p:spPr>
        <p:txBody>
          <a:bodyPr wrap="square" lIns="0" rIns="0" tIns="0" bIns="0">
            <a:spAutoFit/>
          </a:bodyPr>
          <a:lstStyle/>
          <a:p>
            <a:pPr>
              <a:lnSpc>
                <a:spcPct val="112000"/>
              </a:lnSpc>
              <a:spcAft>
                <a:spcPts val="700"/>
              </a:spcAft>
              <a:defRPr sz="5000" b="1">
                <a:solidFill>
                  <a:srgbClr val="B7A5FF"/>
                </a:solidFill>
                <a:latin typeface="Arial"/>
              </a:defRPr>
            </a:pPr>
            <a:r>
              <a:t>4</a:t>
            </a:r>
          </a:p>
        </p:txBody>
      </p:sp>
      <p:sp>
        <p:nvSpPr>
          <p:cNvPr id="17" name="TextBox 16"/>
          <p:cNvSpPr txBox="1"/>
          <p:nvPr/>
        </p:nvSpPr>
        <p:spPr>
          <a:xfrm>
            <a:off x="8412480" y="4572000"/>
            <a:ext cx="3200400" cy="457200"/>
          </a:xfrm>
          <a:prstGeom prst="rect">
            <a:avLst/>
          </a:prstGeom>
          <a:noFill/>
        </p:spPr>
        <p:txBody>
          <a:bodyPr wrap="square" lIns="0" rIns="0" tIns="0" bIns="0">
            <a:spAutoFit/>
          </a:bodyPr>
          <a:lstStyle/>
          <a:p>
            <a:pPr>
              <a:lnSpc>
                <a:spcPct val="112000"/>
              </a:lnSpc>
              <a:spcAft>
                <a:spcPts val="700"/>
              </a:spcAft>
              <a:defRPr sz="2300" b="0">
                <a:solidFill>
                  <a:srgbClr val="E8EDF5"/>
                </a:solidFill>
                <a:latin typeface="Arial"/>
              </a:defRPr>
            </a:pPr>
            <a:r>
              <a:t>Solidity</a:t>
            </a:r>
          </a:p>
        </p:txBody>
      </p:sp>
      <p:sp>
        <p:nvSpPr>
          <p:cNvPr id="18" name="TextBox 17"/>
          <p:cNvSpPr txBox="1"/>
          <p:nvPr/>
        </p:nvSpPr>
        <p:spPr>
          <a:xfrm>
            <a:off x="731520" y="5943600"/>
            <a:ext cx="10881360" cy="320040"/>
          </a:xfrm>
          <a:prstGeom prst="rect">
            <a:avLst/>
          </a:prstGeom>
          <a:noFill/>
        </p:spPr>
        <p:txBody>
          <a:bodyPr wrap="square" lIns="0" rIns="0" tIns="0" bIns="0">
            <a:spAutoFit/>
          </a:bodyPr>
          <a:lstStyle/>
          <a:p>
            <a:pPr>
              <a:lnSpc>
                <a:spcPct val="112000"/>
              </a:lnSpc>
              <a:spcAft>
                <a:spcPts val="700"/>
              </a:spcAft>
              <a:defRPr sz="1400" b="0">
                <a:solidFill>
                  <a:srgbClr val="A6B4C9"/>
                </a:solidFill>
                <a:latin typeface="Arial"/>
              </a:defRPr>
            </a:pPr>
            <a:r>
              <a:t>Earlier CI baseline 2385ea7; candidate adds a PostGIS regression; current checks are authoritative</a:t>
            </a:r>
          </a:p>
        </p:txBody>
      </p:sp>
    </p:spTree>
  </p:cSld>
  <p:clrMapOvr>
    <a:masterClrMapping/>
  </p:clrMapOvr>
  <p:transition spd="fast">
    <p:fade/>
  </p:transition>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End-to-end user journey</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28 / 33</a:t>
            </a:r>
          </a:p>
        </p:txBody>
      </p:sp>
      <p:sp>
        <p:nvSpPr>
          <p:cNvPr id="6" name="TextBox 5"/>
          <p:cNvSpPr txBox="1"/>
          <p:nvPr/>
        </p:nvSpPr>
        <p:spPr>
          <a:xfrm>
            <a:off x="640080" y="1691640"/>
            <a:ext cx="10789920" cy="64008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Load licensed or synthetic records</a:t>
            </a:r>
          </a:p>
        </p:txBody>
      </p:sp>
      <p:sp>
        <p:nvSpPr>
          <p:cNvPr id="7" name="TextBox 6"/>
          <p:cNvSpPr txBox="1"/>
          <p:nvPr/>
        </p:nvSpPr>
        <p:spPr>
          <a:xfrm>
            <a:off x="640080" y="2743200"/>
            <a:ext cx="2286000" cy="731520"/>
          </a:xfrm>
          <a:prstGeom prst="rect">
            <a:avLst/>
          </a:prstGeom>
          <a:noFill/>
        </p:spPr>
        <p:txBody>
          <a:bodyPr wrap="square" lIns="0" rIns="0" tIns="0" bIns="0">
            <a:spAutoFit/>
          </a:bodyPr>
          <a:lstStyle/>
          <a:p>
            <a:pPr>
              <a:lnSpc>
                <a:spcPct val="112000"/>
              </a:lnSpc>
              <a:spcAft>
                <a:spcPts val="700"/>
              </a:spcAft>
              <a:defRPr sz="4200" b="1">
                <a:solidFill>
                  <a:srgbClr val="67E8F9"/>
                </a:solidFill>
                <a:latin typeface="Arial"/>
              </a:defRPr>
            </a:pPr>
            <a:r>
              <a:t>01</a:t>
            </a:r>
          </a:p>
        </p:txBody>
      </p:sp>
      <p:sp>
        <p:nvSpPr>
          <p:cNvPr id="8" name="TextBox 7"/>
          <p:cNvSpPr txBox="1"/>
          <p:nvPr/>
        </p:nvSpPr>
        <p:spPr>
          <a:xfrm>
            <a:off x="640080" y="3657600"/>
            <a:ext cx="2286000" cy="548640"/>
          </a:xfrm>
          <a:prstGeom prst="rect">
            <a:avLst/>
          </a:prstGeom>
          <a:noFill/>
        </p:spPr>
        <p:txBody>
          <a:bodyPr wrap="square" lIns="0" rIns="0" tIns="0" bIns="0">
            <a:spAutoFit/>
          </a:bodyPr>
          <a:lstStyle/>
          <a:p>
            <a:pPr>
              <a:lnSpc>
                <a:spcPct val="112000"/>
              </a:lnSpc>
              <a:spcAft>
                <a:spcPts val="700"/>
              </a:spcAft>
              <a:defRPr sz="2700" b="1">
                <a:solidFill>
                  <a:srgbClr val="E8EDF5"/>
                </a:solidFill>
                <a:latin typeface="Arial"/>
              </a:defRPr>
            </a:pPr>
            <a:r>
              <a:t>Ingest</a:t>
            </a:r>
          </a:p>
        </p:txBody>
      </p:sp>
      <p:sp>
        <p:nvSpPr>
          <p:cNvPr id="9" name="TextBox 8"/>
          <p:cNvSpPr txBox="1"/>
          <p:nvPr/>
        </p:nvSpPr>
        <p:spPr>
          <a:xfrm>
            <a:off x="640080" y="4434840"/>
            <a:ext cx="2286000" cy="1005840"/>
          </a:xfrm>
          <a:prstGeom prst="rect">
            <a:avLst/>
          </a:prstGeom>
          <a:noFill/>
        </p:spPr>
        <p:txBody>
          <a:bodyPr wrap="square" lIns="0" rIns="0" tIns="0" bIns="0">
            <a:spAutoFit/>
          </a:bodyPr>
          <a:lstStyle/>
          <a:p>
            <a:pPr>
              <a:lnSpc>
                <a:spcPct val="112000"/>
              </a:lnSpc>
              <a:spcAft>
                <a:spcPts val="700"/>
              </a:spcAft>
              <a:defRPr sz="1900" b="0">
                <a:solidFill>
                  <a:srgbClr val="A6B4C9"/>
                </a:solidFill>
                <a:latin typeface="Arial"/>
              </a:defRPr>
            </a:pPr>
            <a:r>
              <a:t>Validate and replay</a:t>
            </a:r>
          </a:p>
        </p:txBody>
      </p:sp>
      <p:cxnSp>
        <p:nvCxnSpPr>
          <p:cNvPr id="10" name="Connector 9"/>
          <p:cNvCxnSpPr/>
          <p:nvPr/>
        </p:nvCxnSpPr>
        <p:spPr>
          <a:xfrm>
            <a:off x="3017520" y="3246120"/>
            <a:ext cx="320040" cy="0"/>
          </a:xfrm>
          <a:prstGeom prst="line">
            <a:avLst/>
          </a:prstGeom>
          <a:ln w="25400">
            <a:solidFill>
              <a:srgbClr val="B7A5FF"/>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474720" y="2743200"/>
            <a:ext cx="2286000" cy="731520"/>
          </a:xfrm>
          <a:prstGeom prst="rect">
            <a:avLst/>
          </a:prstGeom>
          <a:noFill/>
        </p:spPr>
        <p:txBody>
          <a:bodyPr wrap="square" lIns="0" rIns="0" tIns="0" bIns="0">
            <a:spAutoFit/>
          </a:bodyPr>
          <a:lstStyle/>
          <a:p>
            <a:pPr>
              <a:lnSpc>
                <a:spcPct val="112000"/>
              </a:lnSpc>
              <a:spcAft>
                <a:spcPts val="700"/>
              </a:spcAft>
              <a:defRPr sz="4200" b="1">
                <a:solidFill>
                  <a:srgbClr val="67E8F9"/>
                </a:solidFill>
                <a:latin typeface="Arial"/>
              </a:defRPr>
            </a:pPr>
            <a:r>
              <a:t>02</a:t>
            </a:r>
          </a:p>
        </p:txBody>
      </p:sp>
      <p:sp>
        <p:nvSpPr>
          <p:cNvPr id="12" name="TextBox 11"/>
          <p:cNvSpPr txBox="1"/>
          <p:nvPr/>
        </p:nvSpPr>
        <p:spPr>
          <a:xfrm>
            <a:off x="3474720" y="3657600"/>
            <a:ext cx="2286000" cy="548640"/>
          </a:xfrm>
          <a:prstGeom prst="rect">
            <a:avLst/>
          </a:prstGeom>
          <a:noFill/>
        </p:spPr>
        <p:txBody>
          <a:bodyPr wrap="square" lIns="0" rIns="0" tIns="0" bIns="0">
            <a:spAutoFit/>
          </a:bodyPr>
          <a:lstStyle/>
          <a:p>
            <a:pPr>
              <a:lnSpc>
                <a:spcPct val="112000"/>
              </a:lnSpc>
              <a:spcAft>
                <a:spcPts val="700"/>
              </a:spcAft>
              <a:defRPr sz="2700" b="1">
                <a:solidFill>
                  <a:srgbClr val="E8EDF5"/>
                </a:solidFill>
                <a:latin typeface="Arial"/>
              </a:defRPr>
            </a:pPr>
            <a:r>
              <a:t>Investigate</a:t>
            </a:r>
          </a:p>
        </p:txBody>
      </p:sp>
      <p:sp>
        <p:nvSpPr>
          <p:cNvPr id="13" name="TextBox 12"/>
          <p:cNvSpPr txBox="1"/>
          <p:nvPr/>
        </p:nvSpPr>
        <p:spPr>
          <a:xfrm>
            <a:off x="3474720" y="4434840"/>
            <a:ext cx="2286000" cy="1005840"/>
          </a:xfrm>
          <a:prstGeom prst="rect">
            <a:avLst/>
          </a:prstGeom>
          <a:noFill/>
        </p:spPr>
        <p:txBody>
          <a:bodyPr wrap="square" lIns="0" rIns="0" tIns="0" bIns="0">
            <a:spAutoFit/>
          </a:bodyPr>
          <a:lstStyle/>
          <a:p>
            <a:pPr>
              <a:lnSpc>
                <a:spcPct val="112000"/>
              </a:lnSpc>
              <a:spcAft>
                <a:spcPts val="700"/>
              </a:spcAft>
              <a:defRPr sz="1900" b="0">
                <a:solidFill>
                  <a:srgbClr val="A6B4C9"/>
                </a:solidFill>
                <a:latin typeface="Arial"/>
              </a:defRPr>
            </a:pPr>
            <a:r>
              <a:t>Compare and forecast</a:t>
            </a:r>
          </a:p>
        </p:txBody>
      </p:sp>
      <p:cxnSp>
        <p:nvCxnSpPr>
          <p:cNvPr id="14" name="Connector 13"/>
          <p:cNvCxnSpPr/>
          <p:nvPr/>
        </p:nvCxnSpPr>
        <p:spPr>
          <a:xfrm>
            <a:off x="5852160" y="3246120"/>
            <a:ext cx="320040" cy="0"/>
          </a:xfrm>
          <a:prstGeom prst="line">
            <a:avLst/>
          </a:prstGeom>
          <a:ln w="25400">
            <a:solidFill>
              <a:srgbClr val="B7A5FF"/>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309360" y="2743200"/>
            <a:ext cx="2286000" cy="731520"/>
          </a:xfrm>
          <a:prstGeom prst="rect">
            <a:avLst/>
          </a:prstGeom>
          <a:noFill/>
        </p:spPr>
        <p:txBody>
          <a:bodyPr wrap="square" lIns="0" rIns="0" tIns="0" bIns="0">
            <a:spAutoFit/>
          </a:bodyPr>
          <a:lstStyle/>
          <a:p>
            <a:pPr>
              <a:lnSpc>
                <a:spcPct val="112000"/>
              </a:lnSpc>
              <a:spcAft>
                <a:spcPts val="700"/>
              </a:spcAft>
              <a:defRPr sz="4200" b="1">
                <a:solidFill>
                  <a:srgbClr val="67E8F9"/>
                </a:solidFill>
                <a:latin typeface="Arial"/>
              </a:defRPr>
            </a:pPr>
            <a:r>
              <a:t>03</a:t>
            </a:r>
          </a:p>
        </p:txBody>
      </p:sp>
      <p:sp>
        <p:nvSpPr>
          <p:cNvPr id="16" name="TextBox 15"/>
          <p:cNvSpPr txBox="1"/>
          <p:nvPr/>
        </p:nvSpPr>
        <p:spPr>
          <a:xfrm>
            <a:off x="6309360" y="3657600"/>
            <a:ext cx="2286000" cy="548640"/>
          </a:xfrm>
          <a:prstGeom prst="rect">
            <a:avLst/>
          </a:prstGeom>
          <a:noFill/>
        </p:spPr>
        <p:txBody>
          <a:bodyPr wrap="square" lIns="0" rIns="0" tIns="0" bIns="0">
            <a:spAutoFit/>
          </a:bodyPr>
          <a:lstStyle/>
          <a:p>
            <a:pPr>
              <a:lnSpc>
                <a:spcPct val="112000"/>
              </a:lnSpc>
              <a:spcAft>
                <a:spcPts val="700"/>
              </a:spcAft>
              <a:defRPr sz="2700" b="1">
                <a:solidFill>
                  <a:srgbClr val="E8EDF5"/>
                </a:solidFill>
                <a:latin typeface="Arial"/>
              </a:defRPr>
            </a:pPr>
            <a:r>
              <a:t>Decide</a:t>
            </a:r>
          </a:p>
        </p:txBody>
      </p:sp>
      <p:sp>
        <p:nvSpPr>
          <p:cNvPr id="17" name="TextBox 16"/>
          <p:cNvSpPr txBox="1"/>
          <p:nvPr/>
        </p:nvSpPr>
        <p:spPr>
          <a:xfrm>
            <a:off x="6309360" y="4434840"/>
            <a:ext cx="2286000" cy="1005840"/>
          </a:xfrm>
          <a:prstGeom prst="rect">
            <a:avLst/>
          </a:prstGeom>
          <a:noFill/>
        </p:spPr>
        <p:txBody>
          <a:bodyPr wrap="square" lIns="0" rIns="0" tIns="0" bIns="0">
            <a:spAutoFit/>
          </a:bodyPr>
          <a:lstStyle/>
          <a:p>
            <a:pPr>
              <a:lnSpc>
                <a:spcPct val="112000"/>
              </a:lnSpc>
              <a:spcAft>
                <a:spcPts val="700"/>
              </a:spcAft>
              <a:defRPr sz="1900" b="0">
                <a:solidFill>
                  <a:srgbClr val="A6B4C9"/>
                </a:solidFill>
                <a:latin typeface="Arial"/>
              </a:defRPr>
            </a:pPr>
            <a:r>
              <a:t>Human-reviewed scenario</a:t>
            </a:r>
          </a:p>
        </p:txBody>
      </p:sp>
      <p:cxnSp>
        <p:nvCxnSpPr>
          <p:cNvPr id="18" name="Connector 17"/>
          <p:cNvCxnSpPr/>
          <p:nvPr/>
        </p:nvCxnSpPr>
        <p:spPr>
          <a:xfrm>
            <a:off x="8686800" y="3246120"/>
            <a:ext cx="320040" cy="0"/>
          </a:xfrm>
          <a:prstGeom prst="line">
            <a:avLst/>
          </a:prstGeom>
          <a:ln w="25400">
            <a:solidFill>
              <a:srgbClr val="B7A5FF"/>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9144000" y="2743200"/>
            <a:ext cx="2286000" cy="731520"/>
          </a:xfrm>
          <a:prstGeom prst="rect">
            <a:avLst/>
          </a:prstGeom>
          <a:noFill/>
        </p:spPr>
        <p:txBody>
          <a:bodyPr wrap="square" lIns="0" rIns="0" tIns="0" bIns="0">
            <a:spAutoFit/>
          </a:bodyPr>
          <a:lstStyle/>
          <a:p>
            <a:pPr>
              <a:lnSpc>
                <a:spcPct val="112000"/>
              </a:lnSpc>
              <a:spcAft>
                <a:spcPts val="700"/>
              </a:spcAft>
              <a:defRPr sz="4200" b="1">
                <a:solidFill>
                  <a:srgbClr val="67E8F9"/>
                </a:solidFill>
                <a:latin typeface="Arial"/>
              </a:defRPr>
            </a:pPr>
            <a:r>
              <a:t>04</a:t>
            </a:r>
          </a:p>
        </p:txBody>
      </p:sp>
      <p:sp>
        <p:nvSpPr>
          <p:cNvPr id="20" name="TextBox 19"/>
          <p:cNvSpPr txBox="1"/>
          <p:nvPr/>
        </p:nvSpPr>
        <p:spPr>
          <a:xfrm>
            <a:off x="9144000" y="3657600"/>
            <a:ext cx="2286000" cy="548640"/>
          </a:xfrm>
          <a:prstGeom prst="rect">
            <a:avLst/>
          </a:prstGeom>
          <a:noFill/>
        </p:spPr>
        <p:txBody>
          <a:bodyPr wrap="square" lIns="0" rIns="0" tIns="0" bIns="0">
            <a:spAutoFit/>
          </a:bodyPr>
          <a:lstStyle/>
          <a:p>
            <a:pPr>
              <a:lnSpc>
                <a:spcPct val="112000"/>
              </a:lnSpc>
              <a:spcAft>
                <a:spcPts val="700"/>
              </a:spcAft>
              <a:defRPr sz="2700" b="1">
                <a:solidFill>
                  <a:srgbClr val="E8EDF5"/>
                </a:solidFill>
                <a:latin typeface="Arial"/>
              </a:defRPr>
            </a:pPr>
            <a:r>
              <a:t>Preserve</a:t>
            </a:r>
          </a:p>
        </p:txBody>
      </p:sp>
      <p:sp>
        <p:nvSpPr>
          <p:cNvPr id="21" name="TextBox 20"/>
          <p:cNvSpPr txBox="1"/>
          <p:nvPr/>
        </p:nvSpPr>
        <p:spPr>
          <a:xfrm>
            <a:off x="9144000" y="4434840"/>
            <a:ext cx="2286000" cy="1005840"/>
          </a:xfrm>
          <a:prstGeom prst="rect">
            <a:avLst/>
          </a:prstGeom>
          <a:noFill/>
        </p:spPr>
        <p:txBody>
          <a:bodyPr wrap="square" lIns="0" rIns="0" tIns="0" bIns="0">
            <a:spAutoFit/>
          </a:bodyPr>
          <a:lstStyle/>
          <a:p>
            <a:pPr>
              <a:lnSpc>
                <a:spcPct val="112000"/>
              </a:lnSpc>
              <a:spcAft>
                <a:spcPts val="700"/>
              </a:spcAft>
              <a:defRPr sz="1900" b="0">
                <a:solidFill>
                  <a:srgbClr val="A6B4C9"/>
                </a:solidFill>
                <a:latin typeface="Arial"/>
              </a:defRPr>
            </a:pPr>
            <a:r>
              <a:t>Save, export, verify</a:t>
            </a:r>
          </a:p>
        </p:txBody>
      </p:sp>
      <p:sp>
        <p:nvSpPr>
          <p:cNvPr id="22" name="TextBox 21"/>
          <p:cNvSpPr txBox="1"/>
          <p:nvPr/>
        </p:nvSpPr>
        <p:spPr>
          <a:xfrm>
            <a:off x="640080" y="5669280"/>
            <a:ext cx="10698480" cy="457200"/>
          </a:xfrm>
          <a:prstGeom prst="rect">
            <a:avLst/>
          </a:prstGeom>
          <a:noFill/>
        </p:spPr>
        <p:txBody>
          <a:bodyPr wrap="square" lIns="0" rIns="0" tIns="0" bIns="0">
            <a:spAutoFit/>
          </a:bodyPr>
          <a:lstStyle/>
          <a:p>
            <a:pPr>
              <a:lnSpc>
                <a:spcPct val="112000"/>
              </a:lnSpc>
              <a:spcAft>
                <a:spcPts val="700"/>
              </a:spcAft>
              <a:defRPr sz="1800" b="0">
                <a:solidFill>
                  <a:srgbClr val="B7A5FF"/>
                </a:solidFill>
                <a:latin typeface="Arial"/>
              </a:defRPr>
            </a:pPr>
            <a:r>
              <a:t>Human review remains the decision boundary</a:t>
            </a:r>
          </a:p>
        </p:txBody>
      </p:sp>
    </p:spTree>
  </p:cSld>
  <p:clrMapOvr>
    <a:masterClrMapping/>
  </p:clrMapOvr>
  <p:transition spd="fast">
    <p:fade/>
  </p:transition>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Real results and key learnings</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29 / 33</a:t>
            </a:r>
          </a:p>
        </p:txBody>
      </p:sp>
      <p:graphicFrame>
        <p:nvGraphicFramePr>
          <p:cNvPr id="6" name="Chart 5"/>
          <p:cNvGraphicFramePr>
            <a:graphicFrameLocks noGrp="1"/>
          </p:cNvGraphicFramePr>
          <p:nvPr/>
        </p:nvGraphicFramePr>
        <p:xfrm>
          <a:off x="640080" y="1828800"/>
          <a:ext cx="7498079" cy="3931920"/>
        </p:xfrm>
        <a:graphic>
          <a:graphicData uri="http://schemas.openxmlformats.org/drawingml/2006/chart">
            <c:chart xmlns:c="http://schemas.openxmlformats.org/drawingml/2006/chart" r:id="rId3"/>
          </a:graphicData>
        </a:graphic>
      </p:graphicFrame>
      <p:sp>
        <p:nvSpPr>
          <p:cNvPr id="7" name="TextBox 6"/>
          <p:cNvSpPr txBox="1"/>
          <p:nvPr/>
        </p:nvSpPr>
        <p:spPr>
          <a:xfrm>
            <a:off x="8503920" y="2194560"/>
            <a:ext cx="2971800" cy="1463040"/>
          </a:xfrm>
          <a:prstGeom prst="rect">
            <a:avLst/>
          </a:prstGeom>
          <a:noFill/>
        </p:spPr>
        <p:txBody>
          <a:bodyPr wrap="square" lIns="0" rIns="0" tIns="0" bIns="0">
            <a:spAutoFit/>
          </a:bodyPr>
          <a:lstStyle/>
          <a:p>
            <a:pPr>
              <a:lnSpc>
                <a:spcPct val="112000"/>
              </a:lnSpc>
              <a:spcAft>
                <a:spcPts val="700"/>
              </a:spcAft>
              <a:defRPr sz="2900" b="1">
                <a:solidFill>
                  <a:srgbClr val="67E8F9"/>
                </a:solidFill>
                <a:latin typeface="Arial"/>
              </a:defRPr>
            </a:pPr>
            <a:r>
              <a:t>21 requests</a:t>
            </a:r>
          </a:p>
          <a:p>
            <a:pPr>
              <a:lnSpc>
                <a:spcPct val="112000"/>
              </a:lnSpc>
              <a:spcAft>
                <a:spcPts val="700"/>
              </a:spcAft>
              <a:defRPr sz="2900" b="1">
                <a:solidFill>
                  <a:srgbClr val="67E8F9"/>
                </a:solidFill>
                <a:latin typeface="Arial"/>
              </a:defRPr>
            </a:pPr>
            <a:r>
              <a:t>0% HTTP failures</a:t>
            </a:r>
          </a:p>
        </p:txBody>
      </p:sp>
      <p:sp>
        <p:nvSpPr>
          <p:cNvPr id="8" name="TextBox 7"/>
          <p:cNvSpPr txBox="1"/>
          <p:nvPr/>
        </p:nvSpPr>
        <p:spPr>
          <a:xfrm>
            <a:off x="8503920" y="3931920"/>
            <a:ext cx="2971800" cy="1371600"/>
          </a:xfrm>
          <a:prstGeom prst="rect">
            <a:avLst/>
          </a:prstGeom>
          <a:noFill/>
        </p:spPr>
        <p:txBody>
          <a:bodyPr wrap="square" lIns="0" rIns="0" tIns="0" bIns="0">
            <a:spAutoFit/>
          </a:bodyPr>
          <a:lstStyle/>
          <a:p>
            <a:pPr>
              <a:lnSpc>
                <a:spcPct val="112000"/>
              </a:lnSpc>
              <a:spcAft>
                <a:spcPts val="700"/>
              </a:spcAft>
              <a:defRPr sz="2000" b="0">
                <a:solidFill>
                  <a:srgbClr val="A6B4C9"/>
                </a:solidFill>
                <a:latin typeface="Arial"/>
              </a:defRPr>
            </a:pPr>
            <a:r>
              <a:t>20 seconds</a:t>
            </a:r>
          </a:p>
          <a:p>
            <a:pPr>
              <a:lnSpc>
                <a:spcPct val="112000"/>
              </a:lnSpc>
              <a:spcAft>
                <a:spcPts val="700"/>
              </a:spcAft>
              <a:defRPr sz="2000" b="0">
                <a:solidFill>
                  <a:srgbClr val="A6B4C9"/>
                </a:solidFill>
                <a:latin typeface="Arial"/>
              </a:defRPr>
            </a:pPr>
            <a:r>
              <a:t>1 arrival/second</a:t>
            </a:r>
          </a:p>
          <a:p>
            <a:pPr>
              <a:lnSpc>
                <a:spcPct val="112000"/>
              </a:lnSpc>
              <a:spcAft>
                <a:spcPts val="700"/>
              </a:spcAft>
              <a:defRPr sz="2000" b="0">
                <a:solidFill>
                  <a:srgbClr val="A6B4C9"/>
                </a:solidFill>
                <a:latin typeface="Arial"/>
              </a:defRPr>
            </a:pPr>
            <a:r>
              <a:t>Direct loopback AI</a:t>
            </a:r>
          </a:p>
        </p:txBody>
      </p:sp>
      <p:sp>
        <p:nvSpPr>
          <p:cNvPr id="9" name="TextBox 8"/>
          <p:cNvSpPr txBox="1"/>
          <p:nvPr/>
        </p:nvSpPr>
        <p:spPr>
          <a:xfrm>
            <a:off x="685800" y="5989320"/>
            <a:ext cx="10881360" cy="320040"/>
          </a:xfrm>
          <a:prstGeom prst="rect">
            <a:avLst/>
          </a:prstGeom>
          <a:noFill/>
        </p:spPr>
        <p:txBody>
          <a:bodyPr wrap="square" lIns="0" rIns="0" tIns="0" bIns="0">
            <a:spAutoFit/>
          </a:bodyPr>
          <a:lstStyle/>
          <a:p>
            <a:pPr>
              <a:lnSpc>
                <a:spcPct val="112000"/>
              </a:lnSpc>
              <a:spcAft>
                <a:spcPts val="700"/>
              </a:spcAft>
              <a:defRPr sz="1400" b="0">
                <a:solidFill>
                  <a:srgbClr val="A6B4C9"/>
                </a:solidFill>
                <a:latin typeface="Arial"/>
              </a:defRPr>
            </a:pPr>
            <a:r>
              <a:t>Synthetic smoke workload; excludes web/API/DB latency and is not production capacity evidence</a:t>
            </a:r>
          </a:p>
        </p:txBody>
      </p:sp>
    </p:spTree>
  </p:cSld>
  <p:clrMapOvr>
    <a:masterClrMapping/>
  </p:clrMapOvr>
  <p:transition spd="fast">
    <p:fade/>
  </p:transition>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Challenges, tradeoffs and limitations</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30 / 33</a:t>
            </a:r>
          </a:p>
        </p:txBody>
      </p:sp>
      <p:sp>
        <p:nvSpPr>
          <p:cNvPr id="6" name="TextBox 5"/>
          <p:cNvSpPr txBox="1"/>
          <p:nvPr/>
        </p:nvSpPr>
        <p:spPr>
          <a:xfrm>
            <a:off x="64008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417319" y="1828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Synthetic data and incomplete coverage limit conclusions</a:t>
            </a:r>
          </a:p>
        </p:txBody>
      </p:sp>
      <p:sp>
        <p:nvSpPr>
          <p:cNvPr id="8" name="TextBox 7"/>
          <p:cNvSpPr txBox="1"/>
          <p:nvPr/>
        </p:nvSpPr>
        <p:spPr>
          <a:xfrm>
            <a:off x="640080" y="2971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417319" y="2971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Local AI persistence limits distributed deployment</a:t>
            </a:r>
          </a:p>
        </p:txBody>
      </p:sp>
      <p:sp>
        <p:nvSpPr>
          <p:cNvPr id="10" name="TextBox 9"/>
          <p:cNvSpPr txBox="1"/>
          <p:nvPr/>
        </p:nvSpPr>
        <p:spPr>
          <a:xfrm>
            <a:off x="640080" y="4114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417319" y="4114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Licensing, identity, security review and DR need pilot evidence</a:t>
            </a:r>
          </a:p>
        </p:txBody>
      </p:sp>
    </p:spTree>
  </p:cSld>
  <p:clrMapOvr>
    <a:masterClrMapping/>
  </p:clrMapOvr>
  <p:transition spd="fast">
    <p:fade/>
  </p:transition>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Future roadmap</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31 / 33</a:t>
            </a:r>
          </a:p>
        </p:txBody>
      </p:sp>
      <p:sp>
        <p:nvSpPr>
          <p:cNvPr id="6" name="TextBox 5"/>
          <p:cNvSpPr txBox="1"/>
          <p:nvPr/>
        </p:nvSpPr>
        <p:spPr>
          <a:xfrm>
            <a:off x="64008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417319" y="1828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Licensed, assessed sources and real IdP acceptance</a:t>
            </a:r>
          </a:p>
        </p:txBody>
      </p:sp>
      <p:sp>
        <p:nvSpPr>
          <p:cNvPr id="8" name="TextBox 7"/>
          <p:cNvSpPr txBox="1"/>
          <p:nvPr/>
        </p:nvSpPr>
        <p:spPr>
          <a:xfrm>
            <a:off x="640080" y="2971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417319" y="2971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Durable job metadata, workers and artifact storage</a:t>
            </a:r>
          </a:p>
        </p:txBody>
      </p:sp>
      <p:sp>
        <p:nvSpPr>
          <p:cNvPr id="10" name="TextBox 9"/>
          <p:cNvSpPr txBox="1"/>
          <p:nvPr/>
        </p:nvSpPr>
        <p:spPr>
          <a:xfrm>
            <a:off x="640080" y="4114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417319" y="4114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Measured capacity, recovery drills and independent review</a:t>
            </a:r>
          </a:p>
        </p:txBody>
      </p:sp>
      <p:sp>
        <p:nvSpPr>
          <p:cNvPr id="12" name="TextBox 11"/>
          <p:cNvSpPr txBox="1"/>
          <p:nvPr/>
        </p:nvSpPr>
        <p:spPr>
          <a:xfrm>
            <a:off x="685800" y="5943600"/>
            <a:ext cx="10789920" cy="320040"/>
          </a:xfrm>
          <a:prstGeom prst="rect">
            <a:avLst/>
          </a:prstGeom>
          <a:noFill/>
        </p:spPr>
        <p:txBody>
          <a:bodyPr wrap="square" lIns="0" rIns="0" tIns="0" bIns="0">
            <a:spAutoFit/>
          </a:bodyPr>
          <a:lstStyle/>
          <a:p>
            <a:pPr>
              <a:lnSpc>
                <a:spcPct val="112000"/>
              </a:lnSpc>
              <a:spcAft>
                <a:spcPts val="700"/>
              </a:spcAft>
              <a:defRPr sz="1600" b="1">
                <a:solidFill>
                  <a:srgbClr val="B7A5FF"/>
                </a:solidFill>
                <a:latin typeface="Arial"/>
              </a:defRPr>
            </a:pPr>
            <a:r>
              <a:t>PLANNED / NOT DEPLOYED</a:t>
            </a:r>
          </a:p>
        </p:txBody>
      </p:sp>
    </p:spTree>
  </p:cSld>
  <p:clrMapOvr>
    <a:masterClrMapping/>
  </p:clrMapOvr>
  <p:transition spd="fast">
    <p:fade/>
  </p:transition>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Final summary</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32 / 33</a:t>
            </a:r>
          </a:p>
        </p:txBody>
      </p:sp>
      <p:sp>
        <p:nvSpPr>
          <p:cNvPr id="6" name="TextBox 5"/>
          <p:cNvSpPr txBox="1"/>
          <p:nvPr/>
        </p:nvSpPr>
        <p:spPr>
          <a:xfrm>
            <a:off x="640080" y="1828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01</a:t>
            </a:r>
          </a:p>
        </p:txBody>
      </p:sp>
      <p:sp>
        <p:nvSpPr>
          <p:cNvPr id="7" name="TextBox 6"/>
          <p:cNvSpPr txBox="1"/>
          <p:nvPr/>
        </p:nvSpPr>
        <p:spPr>
          <a:xfrm>
            <a:off x="1417319" y="1828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A working platform for reconstructable urban analysis</a:t>
            </a:r>
          </a:p>
        </p:txBody>
      </p:sp>
      <p:sp>
        <p:nvSpPr>
          <p:cNvPr id="8" name="TextBox 7"/>
          <p:cNvSpPr txBox="1"/>
          <p:nvPr/>
        </p:nvSpPr>
        <p:spPr>
          <a:xfrm>
            <a:off x="640080" y="2971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02</a:t>
            </a:r>
          </a:p>
        </p:txBody>
      </p:sp>
      <p:sp>
        <p:nvSpPr>
          <p:cNvPr id="9" name="TextBox 8"/>
          <p:cNvSpPr txBox="1"/>
          <p:nvPr/>
        </p:nvSpPr>
        <p:spPr>
          <a:xfrm>
            <a:off x="1417319" y="2971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Explicit evidence, uncertainty and policy constraints</a:t>
            </a:r>
          </a:p>
        </p:txBody>
      </p:sp>
      <p:sp>
        <p:nvSpPr>
          <p:cNvPr id="10" name="TextBox 9"/>
          <p:cNvSpPr txBox="1"/>
          <p:nvPr/>
        </p:nvSpPr>
        <p:spPr>
          <a:xfrm>
            <a:off x="640080" y="4114800"/>
            <a:ext cx="548640" cy="457200"/>
          </a:xfrm>
          <a:prstGeom prst="rect">
            <a:avLst/>
          </a:prstGeom>
          <a:noFill/>
        </p:spPr>
        <p:txBody>
          <a:bodyPr wrap="square" lIns="0" rIns="0" tIns="0" bIns="0">
            <a:spAutoFit/>
          </a:bodyPr>
          <a:lstStyle/>
          <a:p>
            <a:pPr>
              <a:lnSpc>
                <a:spcPct val="112000"/>
              </a:lnSpc>
              <a:spcAft>
                <a:spcPts val="700"/>
              </a:spcAft>
              <a:defRPr sz="1800" b="1">
                <a:solidFill>
                  <a:srgbClr val="67E8F9"/>
                </a:solidFill>
                <a:latin typeface="Arial"/>
              </a:defRPr>
            </a:pPr>
            <a:r>
              <a:t>03</a:t>
            </a:r>
          </a:p>
        </p:txBody>
      </p:sp>
      <p:sp>
        <p:nvSpPr>
          <p:cNvPr id="11" name="TextBox 10"/>
          <p:cNvSpPr txBox="1"/>
          <p:nvPr/>
        </p:nvSpPr>
        <p:spPr>
          <a:xfrm>
            <a:off x="1417319" y="4114800"/>
            <a:ext cx="10012680" cy="10058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The next milestone is a controlled real-data pilot</a:t>
            </a:r>
          </a:p>
        </p:txBody>
      </p:sp>
    </p:spTree>
  </p:cSld>
  <p:clrMapOvr>
    <a:masterClrMapping/>
  </p:clrMapOvr>
  <p:transition spd="fast">
    <p:fade/>
  </p:transition>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594360" y="438912"/>
            <a:ext cx="10972800" cy="914400"/>
          </a:xfrm>
          <a:prstGeom prst="rect">
            <a:avLst/>
          </a:prstGeom>
          <a:noFill/>
        </p:spPr>
        <p:txBody>
          <a:bodyPr wrap="square" lIns="0" rIns="0" tIns="0" bIns="0">
            <a:spAutoFit/>
          </a:bodyPr>
          <a:lstStyle/>
          <a:p>
            <a:pPr>
              <a:lnSpc>
                <a:spcPct val="112000"/>
              </a:lnSpc>
              <a:spcAft>
                <a:spcPts val="700"/>
              </a:spcAft>
              <a:defRPr sz="3300" b="1">
                <a:solidFill>
                  <a:srgbClr val="E8EDF5"/>
                </a:solidFill>
                <a:latin typeface="Arial"/>
              </a:defRPr>
            </a:pPr>
            <a:r>
              <a:t>Questions and discussion</a:t>
            </a:r>
          </a:p>
        </p:txBody>
      </p:sp>
      <p:cxnSp>
        <p:nvCxnSpPr>
          <p:cNvPr id="3" name="Connector 2"/>
          <p:cNvCxnSpPr/>
          <p:nvPr/>
        </p:nvCxnSpPr>
        <p:spPr>
          <a:xfrm>
            <a:off x="594360" y="1353312"/>
            <a:ext cx="11000232" cy="0"/>
          </a:xfrm>
          <a:prstGeom prst="line">
            <a:avLst/>
          </a:prstGeom>
          <a:ln w="13970">
            <a:solidFill>
              <a:srgbClr val="67E8F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94360" y="6446520"/>
            <a:ext cx="1033272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CITYPULSE  |  SYNTHETIC DEVELOPMENT / IMPLEMENTATION EVIDENCE</a:t>
            </a:r>
          </a:p>
        </p:txBody>
      </p:sp>
      <p:sp>
        <p:nvSpPr>
          <p:cNvPr id="5" name="TextBox 4"/>
          <p:cNvSpPr txBox="1"/>
          <p:nvPr/>
        </p:nvSpPr>
        <p:spPr>
          <a:xfrm>
            <a:off x="10771632" y="6446520"/>
            <a:ext cx="822960" cy="228600"/>
          </a:xfrm>
          <a:prstGeom prst="rect">
            <a:avLst/>
          </a:prstGeom>
          <a:noFill/>
        </p:spPr>
        <p:txBody>
          <a:bodyPr wrap="square" lIns="0" rIns="0" tIns="0" bIns="0">
            <a:spAutoFit/>
          </a:bodyPr>
          <a:lstStyle/>
          <a:p>
            <a:pPr>
              <a:lnSpc>
                <a:spcPct val="112000"/>
              </a:lnSpc>
              <a:spcAft>
                <a:spcPts val="700"/>
              </a:spcAft>
              <a:defRPr sz="1000" b="0">
                <a:solidFill>
                  <a:srgbClr val="A6B4C9"/>
                </a:solidFill>
                <a:latin typeface="Arial"/>
              </a:defRPr>
            </a:pPr>
            <a:r>
              <a:t>33 / 33</a:t>
            </a:r>
          </a:p>
        </p:txBody>
      </p:sp>
      <p:sp>
        <p:nvSpPr>
          <p:cNvPr id="6" name="TextBox 5"/>
          <p:cNvSpPr txBox="1"/>
          <p:nvPr/>
        </p:nvSpPr>
        <p:spPr>
          <a:xfrm>
            <a:off x="640080" y="2011680"/>
            <a:ext cx="7315200" cy="1097280"/>
          </a:xfrm>
          <a:prstGeom prst="rect">
            <a:avLst/>
          </a:prstGeom>
          <a:noFill/>
        </p:spPr>
        <p:txBody>
          <a:bodyPr wrap="square" lIns="0" rIns="0" tIns="0" bIns="0">
            <a:spAutoFit/>
          </a:bodyPr>
          <a:lstStyle/>
          <a:p>
            <a:pPr>
              <a:lnSpc>
                <a:spcPct val="112000"/>
              </a:lnSpc>
              <a:spcAft>
                <a:spcPts val="700"/>
              </a:spcAft>
              <a:defRPr sz="5400" b="1">
                <a:solidFill>
                  <a:srgbClr val="67E8F9"/>
                </a:solidFill>
                <a:latin typeface="Arial"/>
              </a:defRPr>
            </a:pPr>
            <a:r>
              <a:t>Questions?</a:t>
            </a:r>
          </a:p>
        </p:txBody>
      </p:sp>
      <p:sp>
        <p:nvSpPr>
          <p:cNvPr id="7" name="TextBox 6"/>
          <p:cNvSpPr txBox="1"/>
          <p:nvPr/>
        </p:nvSpPr>
        <p:spPr>
          <a:xfrm>
            <a:off x="685800" y="3429000"/>
            <a:ext cx="7406640" cy="548640"/>
          </a:xfrm>
          <a:prstGeom prst="rect">
            <a:avLst/>
          </a:prstGeom>
          <a:noFill/>
        </p:spPr>
        <p:txBody>
          <a:bodyPr wrap="square" lIns="0" rIns="0" tIns="0" bIns="0">
            <a:spAutoFit/>
          </a:bodyPr>
          <a:lstStyle/>
          <a:p>
            <a:pPr>
              <a:lnSpc>
                <a:spcPct val="112000"/>
              </a:lnSpc>
              <a:spcAft>
                <a:spcPts val="700"/>
              </a:spcAft>
              <a:defRPr sz="2500" b="0">
                <a:solidFill>
                  <a:srgbClr val="E8EDF5"/>
                </a:solidFill>
                <a:latin typeface="Arial"/>
              </a:defRPr>
            </a:pPr>
            <a:r>
              <a:t>Data • models • security • deployment</a:t>
            </a:r>
          </a:p>
        </p:txBody>
      </p:sp>
      <p:sp>
        <p:nvSpPr>
          <p:cNvPr id="8" name="TextBox 7"/>
          <p:cNvSpPr txBox="1"/>
          <p:nvPr/>
        </p:nvSpPr>
        <p:spPr>
          <a:xfrm>
            <a:off x="685800" y="4663440"/>
            <a:ext cx="7315200" cy="731520"/>
          </a:xfrm>
          <a:prstGeom prst="rect">
            <a:avLst/>
          </a:prstGeom>
          <a:noFill/>
        </p:spPr>
        <p:txBody>
          <a:bodyPr wrap="square" lIns="0" rIns="0" tIns="0" bIns="0">
            <a:spAutoFit/>
          </a:bodyPr>
          <a:lstStyle/>
          <a:p>
            <a:pPr>
              <a:lnSpc>
                <a:spcPct val="112000"/>
              </a:lnSpc>
              <a:spcAft>
                <a:spcPts val="700"/>
              </a:spcAft>
              <a:defRPr sz="2000" b="0">
                <a:solidFill>
                  <a:srgbClr val="B7A5FF"/>
                </a:solidFill>
                <a:latin typeface="Arial"/>
              </a:defRPr>
            </a:pPr>
            <a:r>
              <a:t>https://github.com/manikantbindass/CityPulse</a:t>
            </a:r>
          </a:p>
        </p:txBody>
      </p:sp>
      <p:pic>
        <p:nvPicPr>
          <p:cNvPr id="9" name="Picture 8" descr="repository-qr.png"/>
          <p:cNvPicPr>
            <a:picLocks noChangeAspect="1"/>
          </p:cNvPicPr>
          <p:nvPr/>
        </p:nvPicPr>
        <p:blipFill>
          <a:blip r:embed="rId3"/>
          <a:stretch>
            <a:fillRect/>
          </a:stretch>
        </p:blipFill>
        <p:spPr>
          <a:xfrm>
            <a:off x="8778240" y="1920240"/>
            <a:ext cx="2514600" cy="2514600"/>
          </a:xfrm>
          <a:prstGeom prst="rect">
            <a:avLst/>
          </a:prstGeom>
        </p:spPr>
      </p:pic>
      <p:sp>
        <p:nvSpPr>
          <p:cNvPr id="10" name="TextBox 9"/>
          <p:cNvSpPr txBox="1"/>
          <p:nvPr/>
        </p:nvSpPr>
        <p:spPr>
          <a:xfrm>
            <a:off x="8549640" y="4709160"/>
            <a:ext cx="3108960" cy="731520"/>
          </a:xfrm>
          <a:prstGeom prst="rect">
            <a:avLst/>
          </a:prstGeom>
          <a:noFill/>
        </p:spPr>
        <p:txBody>
          <a:bodyPr wrap="square" lIns="0" rIns="0" tIns="0" bIns="0">
            <a:spAutoFit/>
          </a:bodyPr>
          <a:lstStyle/>
          <a:p>
            <a:pPr>
              <a:lnSpc>
                <a:spcPct val="112000"/>
              </a:lnSpc>
              <a:spcAft>
                <a:spcPts val="700"/>
              </a:spcAft>
              <a:defRPr sz="1700" b="0">
                <a:solidFill>
                  <a:srgbClr val="A6B4C9"/>
                </a:solidFill>
                <a:latin typeface="Arial"/>
              </a:defRPr>
            </a:pPr>
            <a:r>
              <a:t>Repository and reproducible evidence</a:t>
            </a:r>
          </a:p>
        </p:txBody>
      </p:sp>
    </p:spTree>
  </p:cSld>
  <p:clrMapOvr>
    <a:masterClrMapping/>
  </p:clrMapOvr>
  <p:transition spd="fast">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CityPulse - AI-Powered Urban Intelligence &amp; Blockchain Analytics</dc:title>
  <dc:subject>Technical project presentation; synthetic demonstration</dc:subject>
  <dc:creator>CityPulse repository owner: manikantbindass</dc:creator>
  <cp:keywords>CityPulse; urban analytics; synthetic data; implementation evidence</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